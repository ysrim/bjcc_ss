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0" r:id="rId6"/>
    <p:sldId id="271" r:id="rId7"/>
    <p:sldId id="273" r:id="rId8"/>
    <p:sldId id="272" r:id="rId9"/>
    <p:sldId id="275" r:id="rId10"/>
    <p:sldId id="276" r:id="rId11"/>
    <p:sldId id="284" r:id="rId12"/>
    <p:sldId id="285" r:id="rId13"/>
    <p:sldId id="279" r:id="rId14"/>
    <p:sldId id="282" r:id="rId15"/>
    <p:sldId id="283" r:id="rId16"/>
    <p:sldId id="280" r:id="rId17"/>
    <p:sldId id="281" r:id="rId18"/>
    <p:sldId id="287" r:id="rId19"/>
    <p:sldId id="288" r:id="rId20"/>
    <p:sldId id="289" r:id="rId21"/>
    <p:sldId id="290" r:id="rId22"/>
    <p:sldId id="291" r:id="rId23"/>
    <p:sldId id="267" r:id="rId24"/>
    <p:sldId id="268" r:id="rId25"/>
  </p:sldIdLst>
  <p:sldSz cx="9144000" cy="5143500" type="screen16x9"/>
  <p:notesSz cx="6858000" cy="9144000"/>
  <p:embeddedFontLst>
    <p:embeddedFont>
      <p:font typeface="JASO Sans" panose="020B0600000101010101" charset="-127"/>
      <p:regular r:id="rId27"/>
    </p:embeddedFont>
    <p:embeddedFont>
      <p:font typeface="JASO Sans Bold" panose="020B0600000101010101" charset="-127"/>
      <p:regular r:id="rId28"/>
    </p:embeddedFont>
    <p:embeddedFont>
      <p:font typeface="맑은 고딕" panose="020B0503020000020004" pitchFamily="50" charset="-127"/>
      <p:regular r:id="rId29"/>
      <p:bold r:id="rId30"/>
    </p:embeddedFont>
    <p:embeddedFont>
      <p:font typeface="Poppins Semi-Bold" panose="020B0600000101010101" charset="0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01" d="100"/>
          <a:sy n="201" d="100"/>
        </p:scale>
        <p:origin x="616" y="116"/>
      </p:cViewPr>
      <p:guideLst>
        <p:guide orient="horz" pos="1080"/>
        <p:guide pos="1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0954E-8F6F-46B3-BFCE-F65C1EC7911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E677D-8954-400B-AE98-834573D62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3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E677D-8954-400B-AE98-834573D6229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19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svg"/><Relationship Id="rId7" Type="http://schemas.openxmlformats.org/officeDocument/2006/relationships/image" Target="../media/image2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svg"/><Relationship Id="rId7" Type="http://schemas.openxmlformats.org/officeDocument/2006/relationships/image" Target="../media/image2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sv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2.png"/><Relationship Id="rId7" Type="http://schemas.openxmlformats.org/officeDocument/2006/relationships/image" Target="../media/image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5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3920317"/>
            <a:ext cx="7962900" cy="0"/>
          </a:xfrm>
          <a:prstGeom prst="line">
            <a:avLst/>
          </a:prstGeom>
          <a:ln w="47625" cap="flat">
            <a:solidFill>
              <a:srgbClr val="0F4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j-ea"/>
              <a:ea typeface="+mj-e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57900" y="1333792"/>
            <a:ext cx="2291424" cy="1941461"/>
          </a:xfrm>
          <a:custGeom>
            <a:avLst/>
            <a:gdLst/>
            <a:ahLst/>
            <a:cxnLst/>
            <a:rect l="l" t="t" r="r" b="b"/>
            <a:pathLst>
              <a:path w="4582848" h="3882922">
                <a:moveTo>
                  <a:pt x="0" y="0"/>
                </a:moveTo>
                <a:lnTo>
                  <a:pt x="4582848" y="0"/>
                </a:lnTo>
                <a:lnTo>
                  <a:pt x="4582848" y="3882922"/>
                </a:lnTo>
                <a:lnTo>
                  <a:pt x="0" y="388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j-ea"/>
              <a:ea typeface="+mj-e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1525" y="1338492"/>
            <a:ext cx="4414285" cy="61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0"/>
              </a:lnSpc>
            </a:pPr>
            <a:r>
              <a:rPr lang="ko-KR" altLang="en-US" sz="4000" b="1" spc="-205" dirty="0">
                <a:solidFill>
                  <a:srgbClr val="333333"/>
                </a:solidFill>
                <a:latin typeface="+mj-ea"/>
                <a:ea typeface="+mj-ea"/>
                <a:cs typeface="JASO Sans"/>
                <a:sym typeface="JASO Sans"/>
              </a:rPr>
              <a:t>말씀으로 </a:t>
            </a:r>
            <a:r>
              <a:rPr lang="ko-KR" altLang="en-US" sz="4000" b="1" spc="-205" dirty="0" err="1">
                <a:solidFill>
                  <a:srgbClr val="333333"/>
                </a:solidFill>
                <a:latin typeface="+mj-ea"/>
                <a:ea typeface="+mj-ea"/>
                <a:cs typeface="JASO Sans"/>
                <a:sym typeface="JASO Sans"/>
              </a:rPr>
              <a:t>레벨업</a:t>
            </a:r>
            <a:endParaRPr lang="en-US" sz="5128" b="1" spc="-205" dirty="0">
              <a:solidFill>
                <a:srgbClr val="333333"/>
              </a:solidFill>
              <a:latin typeface="+mj-ea"/>
              <a:ea typeface="+mj-ea"/>
              <a:cs typeface="JASO Sans"/>
              <a:sym typeface="JAS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1525" y="1891441"/>
            <a:ext cx="6321701" cy="572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30"/>
              </a:lnSpc>
            </a:pPr>
            <a:r>
              <a:rPr lang="ko-KR" altLang="en-US" sz="2500" b="1" spc="-102" dirty="0">
                <a:solidFill>
                  <a:srgbClr val="0F409F"/>
                </a:solidFill>
                <a:latin typeface="+mj-ea"/>
                <a:ea typeface="+mj-ea"/>
                <a:cs typeface="JASO Sans Bold"/>
                <a:sym typeface="JASO Sans Bold"/>
              </a:rPr>
              <a:t>달란트가 팡팡 터지는 즐거운 신앙 모험</a:t>
            </a:r>
            <a:endParaRPr lang="en-US" sz="2500" b="1" spc="-102" dirty="0">
              <a:solidFill>
                <a:srgbClr val="0F409F"/>
              </a:solidFill>
              <a:latin typeface="+mj-ea"/>
              <a:ea typeface="+mj-ea"/>
              <a:cs typeface="JASO Sans Bold"/>
              <a:sym typeface="JASO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3400" y="3526466"/>
            <a:ext cx="5260436" cy="14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4"/>
              </a:lnSpc>
            </a:pPr>
            <a:r>
              <a:rPr lang="ko-KR" altLang="en-US" sz="840" b="1" spc="-8" dirty="0">
                <a:solidFill>
                  <a:schemeClr val="tx1">
                    <a:alpha val="45882"/>
                  </a:schemeClr>
                </a:solidFill>
                <a:latin typeface="+mj-ea"/>
                <a:ea typeface="+mj-ea"/>
                <a:cs typeface="JASO Sans"/>
                <a:sym typeface="JASO Sans"/>
              </a:rPr>
              <a:t>지루한 성경 공부가 흥미진진한 신앙 모험으로 변모합니다</a:t>
            </a:r>
            <a:r>
              <a:rPr lang="en-US" altLang="ko-KR" sz="840" b="1" spc="-8" dirty="0">
                <a:solidFill>
                  <a:schemeClr val="tx1">
                    <a:alpha val="45882"/>
                  </a:schemeClr>
                </a:solidFill>
                <a:latin typeface="+mj-ea"/>
                <a:ea typeface="+mj-ea"/>
                <a:cs typeface="JASO Sans"/>
                <a:sym typeface="JASO Sans"/>
              </a:rPr>
              <a:t>.</a:t>
            </a:r>
            <a:endParaRPr lang="en-US" sz="840" b="1" spc="-8" dirty="0">
              <a:solidFill>
                <a:schemeClr val="tx1">
                  <a:alpha val="45882"/>
                </a:schemeClr>
              </a:solidFill>
              <a:latin typeface="+mj-ea"/>
              <a:ea typeface="+mj-ea"/>
              <a:cs typeface="JASO Sans"/>
              <a:sym typeface="JAS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3400" y="3270056"/>
            <a:ext cx="3643990" cy="16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1"/>
              </a:lnSpc>
            </a:pPr>
            <a:r>
              <a:rPr lang="ko-KR" altLang="en-US" sz="1100" b="1" spc="-45" dirty="0" err="1">
                <a:solidFill>
                  <a:srgbClr val="333333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봉동중앙교회</a:t>
            </a:r>
            <a:r>
              <a:rPr lang="ko-KR" altLang="en-US" sz="1100" b="1" spc="-45" dirty="0">
                <a:solidFill>
                  <a:srgbClr val="333333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 초등부 신앙 성장 </a:t>
            </a:r>
            <a:r>
              <a:rPr lang="en-US" altLang="ko-KR" sz="1100" b="1" spc="-45" dirty="0">
                <a:solidFill>
                  <a:srgbClr val="333333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RPG </a:t>
            </a:r>
            <a:r>
              <a:rPr lang="ko-KR" altLang="en-US" sz="1100" b="1" spc="-45" dirty="0">
                <a:solidFill>
                  <a:srgbClr val="333333">
                    <a:alpha val="93725"/>
                  </a:srgbClr>
                </a:solidFill>
                <a:latin typeface="+mj-ea"/>
                <a:ea typeface="+mj-ea"/>
                <a:cs typeface="JASO Sans Bold"/>
                <a:sym typeface="JASO Sans Bold"/>
              </a:rPr>
              <a:t>프로젝트</a:t>
            </a:r>
            <a:endParaRPr lang="en-US" sz="1100" b="1" spc="-45" dirty="0">
              <a:solidFill>
                <a:srgbClr val="333333">
                  <a:alpha val="93725"/>
                </a:srgbClr>
              </a:solidFill>
              <a:latin typeface="+mj-ea"/>
              <a:ea typeface="+mj-ea"/>
              <a:cs typeface="JASO Sans Bold"/>
              <a:sym typeface="JAS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03879" y="4933950"/>
            <a:ext cx="5884645" cy="86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3"/>
              </a:lnSpc>
            </a:pPr>
            <a:r>
              <a:rPr lang="en-US" sz="1000" spc="12" dirty="0">
                <a:solidFill>
                  <a:srgbClr val="333333"/>
                </a:solidFill>
                <a:latin typeface="+mj-ea"/>
                <a:ea typeface="+mj-ea"/>
                <a:cs typeface="Poppins"/>
                <a:sym typeface="Poppins"/>
              </a:rPr>
              <a:t>Copyright © 2026 </a:t>
            </a:r>
            <a:r>
              <a:rPr lang="en-US" sz="1000" spc="12" dirty="0" err="1">
                <a:solidFill>
                  <a:srgbClr val="333333"/>
                </a:solidFill>
                <a:latin typeface="+mj-ea"/>
                <a:ea typeface="+mj-ea"/>
                <a:cs typeface="Poppins"/>
                <a:sym typeface="Poppins"/>
              </a:rPr>
              <a:t>Bongdong</a:t>
            </a:r>
            <a:r>
              <a:rPr lang="en-US" sz="1000" spc="12" dirty="0">
                <a:solidFill>
                  <a:srgbClr val="333333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1000" spc="12" dirty="0" err="1">
                <a:solidFill>
                  <a:srgbClr val="333333"/>
                </a:solidFill>
                <a:latin typeface="+mj-ea"/>
                <a:ea typeface="+mj-ea"/>
                <a:cs typeface="Poppins"/>
                <a:sym typeface="Poppins"/>
              </a:rPr>
              <a:t>Jungang</a:t>
            </a:r>
            <a:r>
              <a:rPr lang="en-US" sz="1000" spc="12" dirty="0">
                <a:solidFill>
                  <a:srgbClr val="333333"/>
                </a:solidFill>
                <a:latin typeface="+mj-ea"/>
                <a:ea typeface="+mj-ea"/>
                <a:cs typeface="Poppins"/>
                <a:sym typeface="Poppins"/>
              </a:rPr>
              <a:t> Church Elementary Dept. All rights reserved.</a:t>
            </a:r>
          </a:p>
        </p:txBody>
      </p:sp>
      <p:sp>
        <p:nvSpPr>
          <p:cNvPr id="11" name="Freeform 11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986766" y="854728"/>
            <a:ext cx="0" cy="3462900"/>
          </a:xfrm>
          <a:prstGeom prst="line">
            <a:avLst/>
          </a:prstGeom>
          <a:ln w="952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76023" y="737846"/>
            <a:ext cx="1493181" cy="996359"/>
          </a:xfrm>
          <a:custGeom>
            <a:avLst/>
            <a:gdLst/>
            <a:ahLst/>
            <a:cxnLst/>
            <a:rect l="l" t="t" r="r" b="b"/>
            <a:pathLst>
              <a:path w="2986362" h="1992718">
                <a:moveTo>
                  <a:pt x="0" y="0"/>
                </a:moveTo>
                <a:lnTo>
                  <a:pt x="2986362" y="0"/>
                </a:lnTo>
                <a:lnTo>
                  <a:pt x="2986362" y="1992718"/>
                </a:lnTo>
                <a:lnTo>
                  <a:pt x="0" y="1992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5" name="TextBox 5"/>
          <p:cNvSpPr txBox="1"/>
          <p:nvPr/>
        </p:nvSpPr>
        <p:spPr>
          <a:xfrm rot="-18144">
            <a:off x="1003534" y="1892187"/>
            <a:ext cx="236445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5"/>
              </a:lnSpc>
            </a:pPr>
            <a:r>
              <a:rPr lang="en-US" sz="2887" b="1" spc="-147" dirty="0" err="1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목차보기</a:t>
            </a:r>
            <a:endParaRPr lang="en-US" sz="2887" b="1" spc="-14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10000" y="849966"/>
            <a:ext cx="52141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10000" y="1810250"/>
            <a:ext cx="57273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10000" y="2767757"/>
            <a:ext cx="931490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10000" y="3724135"/>
            <a:ext cx="931490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6971" y="849966"/>
            <a:ext cx="44236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06971" y="1810250"/>
            <a:ext cx="44236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06971" y="2767757"/>
            <a:ext cx="44236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10000" y="1034358"/>
            <a:ext cx="217500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비전과 운영목적</a:t>
            </a:r>
            <a:endParaRPr lang="en-US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810000" y="1994643"/>
            <a:ext cx="217500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그리스도인의 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신앙교육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10000" y="2952150"/>
            <a:ext cx="217500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우리 아이들이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만나는 세상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810000" y="3908527"/>
            <a:ext cx="217500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전체 운영과 데이터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06971" y="1034358"/>
            <a:ext cx="216207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우리들의 진짜 고민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06971" y="1994643"/>
            <a:ext cx="2175007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왜 </a:t>
            </a:r>
            <a:r>
              <a:rPr lang="en-US" altLang="ko-KR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'</a:t>
            </a:r>
            <a:r>
              <a:rPr lang="ko-KR" altLang="en-US" sz="1683" b="1" spc="-77" dirty="0" err="1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게이미피케이션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  <a:p>
            <a:pPr>
              <a:lnSpc>
                <a:spcPts val="1902"/>
              </a:lnSpc>
            </a:pPr>
            <a:r>
              <a:rPr lang="en-US" altLang="ko-KR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(Gamification)'</a:t>
            </a: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인가</a:t>
            </a:r>
            <a:r>
              <a:rPr lang="en-US" altLang="ko-KR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6971" y="2952150"/>
            <a:ext cx="216207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선생님의 역할과 도구</a:t>
            </a:r>
            <a:endParaRPr lang="en-US" altLang="ko-KR" sz="1683" b="1" spc="-7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F9B9CA2C-A295-8B38-EA6C-329D493FA91A}"/>
              </a:ext>
            </a:extLst>
          </p:cNvPr>
          <p:cNvSpPr txBox="1"/>
          <p:nvPr/>
        </p:nvSpPr>
        <p:spPr>
          <a:xfrm>
            <a:off x="5985007" y="3724135"/>
            <a:ext cx="931490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8"/>
              </a:lnSpc>
            </a:pPr>
            <a:r>
              <a:rPr lang="en-US" sz="1007" spc="-10">
                <a:solidFill>
                  <a:srgbClr val="0F409F"/>
                </a:solidFill>
                <a:latin typeface="+mn-ea"/>
                <a:cs typeface="JASO Sans Light"/>
                <a:sym typeface="JASO Sans Light"/>
              </a:rPr>
              <a:t>07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07E61B9A-2975-9770-ED13-2C4C47B5D90A}"/>
              </a:ext>
            </a:extLst>
          </p:cNvPr>
          <p:cNvSpPr txBox="1"/>
          <p:nvPr/>
        </p:nvSpPr>
        <p:spPr>
          <a:xfrm>
            <a:off x="5985007" y="3908527"/>
            <a:ext cx="2175008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2"/>
              </a:lnSpc>
            </a:pPr>
            <a:r>
              <a:rPr lang="ko-KR" altLang="en-US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향후 일정 그리고 </a:t>
            </a:r>
            <a:r>
              <a:rPr lang="en-US" altLang="ko-KR" sz="1683" b="1" spc="-7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773261" y="1598203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3960889" y="3364004"/>
            <a:ext cx="4684939" cy="838200"/>
            <a:chOff x="0" y="0"/>
            <a:chExt cx="2189902" cy="5932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9902" cy="593296"/>
            </a:xfrm>
            <a:custGeom>
              <a:avLst/>
              <a:gdLst/>
              <a:ahLst/>
              <a:cxnLst/>
              <a:rect l="l" t="t" r="r" b="b"/>
              <a:pathLst>
                <a:path w="2189902" h="593296">
                  <a:moveTo>
                    <a:pt x="0" y="0"/>
                  </a:moveTo>
                  <a:lnTo>
                    <a:pt x="2189902" y="0"/>
                  </a:lnTo>
                  <a:lnTo>
                    <a:pt x="2189902" y="593296"/>
                  </a:lnTo>
                  <a:lnTo>
                    <a:pt x="0" y="593296"/>
                  </a:lnTo>
                  <a:close/>
                </a:path>
              </a:pathLst>
            </a:custGeom>
            <a:solidFill>
              <a:srgbClr val="E3E5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450">
                <a:latin typeface="+mn-ea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2189902" cy="56472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72"/>
                </a:lnSpc>
              </a:pPr>
              <a:endParaRPr sz="450">
                <a:latin typeface="+mn-ea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4028437" y="3516777"/>
            <a:ext cx="71120" cy="54229"/>
          </a:xfrm>
          <a:custGeom>
            <a:avLst/>
            <a:gdLst/>
            <a:ahLst/>
            <a:cxnLst/>
            <a:rect l="l" t="t" r="r" b="b"/>
            <a:pathLst>
              <a:path w="142240" h="108458">
                <a:moveTo>
                  <a:pt x="0" y="0"/>
                </a:moveTo>
                <a:lnTo>
                  <a:pt x="142240" y="0"/>
                </a:lnTo>
                <a:lnTo>
                  <a:pt x="142240" y="108458"/>
                </a:lnTo>
                <a:lnTo>
                  <a:pt x="0" y="10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028437" y="3777762"/>
            <a:ext cx="71120" cy="54229"/>
          </a:xfrm>
          <a:custGeom>
            <a:avLst/>
            <a:gdLst/>
            <a:ahLst/>
            <a:cxnLst/>
            <a:rect l="l" t="t" r="r" b="b"/>
            <a:pathLst>
              <a:path w="142240" h="108458">
                <a:moveTo>
                  <a:pt x="0" y="0"/>
                </a:moveTo>
                <a:lnTo>
                  <a:pt x="142240" y="0"/>
                </a:lnTo>
                <a:lnTo>
                  <a:pt x="142240" y="108458"/>
                </a:lnTo>
                <a:lnTo>
                  <a:pt x="0" y="10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4028437" y="4043510"/>
            <a:ext cx="71120" cy="54229"/>
          </a:xfrm>
          <a:custGeom>
            <a:avLst/>
            <a:gdLst/>
            <a:ahLst/>
            <a:cxnLst/>
            <a:rect l="l" t="t" r="r" b="b"/>
            <a:pathLst>
              <a:path w="142240" h="108458">
                <a:moveTo>
                  <a:pt x="0" y="0"/>
                </a:moveTo>
                <a:lnTo>
                  <a:pt x="142240" y="0"/>
                </a:lnTo>
                <a:lnTo>
                  <a:pt x="142240" y="108458"/>
                </a:lnTo>
                <a:lnTo>
                  <a:pt x="0" y="10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60889" y="1841834"/>
            <a:ext cx="4157392" cy="66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+mn-ea"/>
              </a:rPr>
              <a:t>단순한 재미를 넘어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신앙의 주인공을 세우는 디지털 아키텍처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+mn-ea"/>
              </a:rPr>
              <a:t>수동적 피교육자</a:t>
            </a:r>
            <a:r>
              <a:rPr lang="ko-KR" altLang="en-US" sz="1000" dirty="0">
                <a:latin typeface="+mn-ea"/>
              </a:rPr>
              <a:t> → </a:t>
            </a:r>
            <a:r>
              <a:rPr lang="ko-KR" altLang="en-US" sz="1000" b="1" dirty="0">
                <a:latin typeface="+mn-ea"/>
              </a:rPr>
              <a:t>능동적 신앙의 주인공</a:t>
            </a:r>
            <a:r>
              <a:rPr lang="en-US" altLang="ko-KR" sz="1000" b="1" dirty="0">
                <a:latin typeface="+mn-ea"/>
              </a:rPr>
              <a:t>(Adventurer)</a:t>
            </a:r>
            <a:br>
              <a:rPr lang="en-US" altLang="ko-KR" sz="1000" b="1" dirty="0">
                <a:latin typeface="+mn-ea"/>
              </a:rPr>
            </a:br>
            <a:r>
              <a:rPr lang="ko-KR" altLang="en-US" sz="1000" b="1" dirty="0" err="1">
                <a:latin typeface="+mn-ea"/>
              </a:rPr>
              <a:t>게이미피케이션</a:t>
            </a:r>
            <a:r>
              <a:rPr lang="en-US" altLang="ko-KR" sz="1000" b="1" dirty="0">
                <a:latin typeface="+mn-ea"/>
              </a:rPr>
              <a:t>(Gamification) </a:t>
            </a:r>
            <a:r>
              <a:rPr lang="ko-KR" altLang="en-US" sz="1000" b="1" dirty="0">
                <a:latin typeface="+mn-ea"/>
              </a:rPr>
              <a:t>기제를 활용한 신앙 생활의 </a:t>
            </a:r>
            <a:r>
              <a:rPr lang="en-US" altLang="ko-KR" sz="1000" b="1" dirty="0">
                <a:latin typeface="+mn-ea"/>
              </a:rPr>
              <a:t>'</a:t>
            </a:r>
            <a:r>
              <a:rPr lang="ko-KR" altLang="en-US" sz="1000" b="1" dirty="0">
                <a:latin typeface="+mn-ea"/>
              </a:rPr>
              <a:t>지속성</a:t>
            </a:r>
            <a:r>
              <a:rPr lang="en-US" altLang="ko-KR" sz="1000" b="1" dirty="0">
                <a:latin typeface="+mn-ea"/>
              </a:rPr>
              <a:t>' </a:t>
            </a:r>
            <a:r>
              <a:rPr lang="ko-KR" altLang="en-US" sz="1000" b="1" dirty="0">
                <a:latin typeface="+mn-ea"/>
              </a:rPr>
              <a:t>확보</a:t>
            </a:r>
            <a:endParaRPr lang="en-US" sz="1000" spc="-20" dirty="0">
              <a:solidFill>
                <a:srgbClr val="333333">
                  <a:alpha val="69804"/>
                </a:srgbClr>
              </a:solidFill>
              <a:latin typeface="+mn-ea"/>
              <a:cs typeface="JASO Sans"/>
              <a:sym typeface="JASO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142245" y="3434830"/>
            <a:ext cx="4157392" cy="17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7"/>
              </a:lnSpc>
            </a:pPr>
            <a:r>
              <a:rPr lang="ko-KR" altLang="en-US" b="1" dirty="0">
                <a:latin typeface="+mn-ea"/>
              </a:rPr>
              <a:t>시각화</a:t>
            </a:r>
            <a:r>
              <a:rPr lang="en-US" altLang="ko-KR" b="1" dirty="0">
                <a:latin typeface="+mn-ea"/>
              </a:rPr>
              <a:t>(Visualize):</a:t>
            </a:r>
            <a:r>
              <a:rPr lang="ko-KR" altLang="en-US" dirty="0">
                <a:latin typeface="+mn-ea"/>
              </a:rPr>
              <a:t> 추상적인 영적 성숙을 데이터로 인지하는 </a:t>
            </a:r>
            <a:r>
              <a:rPr lang="ko-KR" altLang="en-US" b="1" dirty="0">
                <a:latin typeface="+mn-ea"/>
              </a:rPr>
              <a:t>신앙 성장</a:t>
            </a:r>
            <a:endParaRPr lang="en-US" spc="-20" dirty="0">
              <a:solidFill>
                <a:srgbClr val="333333">
                  <a:alpha val="89804"/>
                </a:srgbClr>
              </a:solidFill>
              <a:latin typeface="+mn-ea"/>
              <a:cs typeface="JASO Sans"/>
              <a:sym typeface="JAS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42245" y="3700578"/>
            <a:ext cx="4684939" cy="170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37"/>
              </a:lnSpc>
            </a:pPr>
            <a:r>
              <a:rPr lang="ko-KR" altLang="en-US" b="1" dirty="0">
                <a:latin typeface="+mn-ea"/>
              </a:rPr>
              <a:t>친숙함</a:t>
            </a:r>
            <a:r>
              <a:rPr lang="en-US" altLang="ko-KR" b="1" dirty="0">
                <a:latin typeface="+mn-ea"/>
              </a:rPr>
              <a:t>(Familiar):</a:t>
            </a:r>
            <a:r>
              <a:rPr lang="ko-KR" altLang="en-US" dirty="0">
                <a:latin typeface="+mn-ea"/>
              </a:rPr>
              <a:t> 심리적 장벽을 낮춰 자발적으로 몰입하는 </a:t>
            </a:r>
            <a:r>
              <a:rPr lang="ko-KR" altLang="en-US" b="1" dirty="0">
                <a:latin typeface="+mn-ea"/>
              </a:rPr>
              <a:t>즐거운 모험</a:t>
            </a:r>
            <a:endParaRPr lang="en-US" spc="-20" dirty="0">
              <a:solidFill>
                <a:srgbClr val="333333">
                  <a:alpha val="89804"/>
                </a:srgbClr>
              </a:solidFill>
              <a:latin typeface="+mn-ea"/>
              <a:cs typeface="JASO Sans"/>
              <a:sym typeface="JAS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142245" y="3966325"/>
            <a:ext cx="4571131" cy="170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37"/>
              </a:lnSpc>
            </a:pPr>
            <a:r>
              <a:rPr lang="ko-KR" altLang="en-US" b="1" dirty="0">
                <a:latin typeface="+mn-ea"/>
              </a:rPr>
              <a:t>신뢰성</a:t>
            </a:r>
            <a:r>
              <a:rPr lang="en-US" altLang="ko-KR" b="1" dirty="0">
                <a:latin typeface="+mn-ea"/>
              </a:rPr>
              <a:t>(Reliable):</a:t>
            </a:r>
            <a:r>
              <a:rPr lang="ko-KR" altLang="en-US" dirty="0">
                <a:latin typeface="+mn-ea"/>
              </a:rPr>
              <a:t> 교사와 관리자 모두를 만족시키는 </a:t>
            </a:r>
            <a:r>
              <a:rPr lang="ko-KR" altLang="en-US" b="1" dirty="0">
                <a:latin typeface="+mn-ea"/>
              </a:rPr>
              <a:t>안정적 관리</a:t>
            </a:r>
            <a:endParaRPr lang="en-US" spc="-20" dirty="0">
              <a:solidFill>
                <a:srgbClr val="333333">
                  <a:alpha val="89804"/>
                </a:srgbClr>
              </a:solidFill>
              <a:latin typeface="+mn-ea"/>
              <a:cs typeface="JASO Sans"/>
              <a:sym typeface="JAS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960889" y="1575467"/>
            <a:ext cx="4754636" cy="204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7"/>
              </a:lnSpc>
            </a:pPr>
            <a:r>
              <a:rPr lang="en-US" altLang="ko-KR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"</a:t>
            </a:r>
            <a:r>
              <a:rPr lang="ko-KR" altLang="en-US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말씀으로 </a:t>
            </a:r>
            <a:r>
              <a:rPr lang="ko-KR" altLang="en-US" sz="1400" b="1" spc="-36" dirty="0" err="1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레벨업</a:t>
            </a:r>
            <a:r>
              <a:rPr lang="en-US" altLang="ko-KR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! </a:t>
            </a:r>
            <a:r>
              <a:rPr lang="ko-KR" altLang="en-US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달란트가 팡팡 터지는 즐거운 신앙 모험</a:t>
            </a:r>
            <a:r>
              <a:rPr lang="en-US" altLang="ko-KR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"</a:t>
            </a:r>
            <a:endParaRPr lang="en-US" sz="1400" b="1" spc="-36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 rot="-18144">
            <a:off x="926624" y="528614"/>
            <a:ext cx="7149277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22"/>
              </a:lnSpc>
            </a:pPr>
            <a:r>
              <a:rPr lang="en-US" altLang="ko-KR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1. </a:t>
            </a:r>
            <a:r>
              <a:rPr lang="ko-KR" altLang="en-US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초등부 신앙 성장 </a:t>
            </a:r>
            <a:r>
              <a:rPr lang="en-US" altLang="ko-KR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RPG</a:t>
            </a:r>
            <a:r>
              <a:rPr lang="ko-KR" altLang="en-US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비전과 운영목적</a:t>
            </a:r>
            <a:endParaRPr lang="en-US" sz="2865" b="1" spc="-5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28A06AEB-969A-A4E5-AD13-297286EAA9A8}"/>
              </a:ext>
            </a:extLst>
          </p:cNvPr>
          <p:cNvSpPr/>
          <p:nvPr/>
        </p:nvSpPr>
        <p:spPr>
          <a:xfrm>
            <a:off x="3773261" y="3119742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FAB74C-7D78-0BE7-11BB-4911BFE10A7B}"/>
              </a:ext>
            </a:extLst>
          </p:cNvPr>
          <p:cNvSpPr txBox="1"/>
          <p:nvPr/>
        </p:nvSpPr>
        <p:spPr>
          <a:xfrm>
            <a:off x="3960889" y="3097006"/>
            <a:ext cx="4754636" cy="204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7"/>
              </a:lnSpc>
            </a:pPr>
            <a:r>
              <a:rPr lang="en-US" altLang="ko-KR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3</a:t>
            </a:r>
            <a:r>
              <a:rPr lang="ko-KR" altLang="en-US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대 핵심 가치 </a:t>
            </a:r>
            <a:r>
              <a:rPr lang="en-US" altLang="ko-KR" sz="140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(Architecture)</a:t>
            </a:r>
            <a:endParaRPr lang="en-US" sz="1400" b="1" spc="-36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78991FB-F3E6-81E5-1713-47819950A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626086"/>
            <a:ext cx="3231832" cy="2489849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 rot="-18144">
            <a:off x="926629" y="530421"/>
            <a:ext cx="6464585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22"/>
              </a:lnSpc>
            </a:pPr>
            <a:r>
              <a:rPr lang="en-US" altLang="ko-KR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2. </a:t>
            </a:r>
            <a:r>
              <a:rPr lang="ko-KR" altLang="en-US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초등부를 향한 우리들의 진짜 고민</a:t>
            </a:r>
            <a:endParaRPr lang="en-US" sz="2865" b="1" spc="-57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10735" y="1352550"/>
            <a:ext cx="3297124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7"/>
              </a:lnSpc>
            </a:pPr>
            <a:r>
              <a:rPr lang="ko-KR" altLang="en-US" sz="181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문제 제기 </a:t>
            </a:r>
            <a:r>
              <a:rPr lang="en-US" altLang="ko-KR" sz="181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(3</a:t>
            </a:r>
            <a:r>
              <a:rPr lang="ko-KR" altLang="en-US" sz="181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가지 </a:t>
            </a:r>
            <a:r>
              <a:rPr lang="en-US" altLang="ko-KR" sz="181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Wall)</a:t>
            </a:r>
            <a:endParaRPr lang="en-US" sz="1810" b="1" spc="-36" dirty="0">
              <a:solidFill>
                <a:srgbClr val="333333"/>
              </a:solidFill>
              <a:latin typeface="+mn-ea"/>
              <a:cs typeface="JASO Sans Bold"/>
              <a:sym typeface="JASO Sans Bold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123107" y="1375286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6DBA29D7-4D2D-04F6-E36E-D58AFD5AAF12}"/>
              </a:ext>
            </a:extLst>
          </p:cNvPr>
          <p:cNvSpPr/>
          <p:nvPr/>
        </p:nvSpPr>
        <p:spPr>
          <a:xfrm>
            <a:off x="236422" y="2038350"/>
            <a:ext cx="953432" cy="878349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grpSp>
        <p:nvGrpSpPr>
          <p:cNvPr id="55" name="Group 4">
            <a:extLst>
              <a:ext uri="{FF2B5EF4-FFF2-40B4-BE49-F238E27FC236}">
                <a16:creationId xmlns:a16="http://schemas.microsoft.com/office/drawing/2014/main" id="{CC4B2985-E4BC-A170-C4DF-25397FBC5ACF}"/>
              </a:ext>
            </a:extLst>
          </p:cNvPr>
          <p:cNvGrpSpPr/>
          <p:nvPr/>
        </p:nvGrpSpPr>
        <p:grpSpPr>
          <a:xfrm>
            <a:off x="705316" y="2425504"/>
            <a:ext cx="7501219" cy="1683544"/>
            <a:chOff x="0" y="0"/>
            <a:chExt cx="3951259" cy="886805"/>
          </a:xfrm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6259D8DD-27E0-F9E7-447F-7463033B0586}"/>
                </a:ext>
              </a:extLst>
            </p:cNvPr>
            <p:cNvSpPr/>
            <p:nvPr/>
          </p:nvSpPr>
          <p:spPr>
            <a:xfrm>
              <a:off x="0" y="0"/>
              <a:ext cx="3951259" cy="886805"/>
            </a:xfrm>
            <a:custGeom>
              <a:avLst/>
              <a:gdLst/>
              <a:ahLst/>
              <a:cxnLst/>
              <a:rect l="l" t="t" r="r" b="b"/>
              <a:pathLst>
                <a:path w="3951259" h="886805">
                  <a:moveTo>
                    <a:pt x="17546" y="0"/>
                  </a:moveTo>
                  <a:lnTo>
                    <a:pt x="3933714" y="0"/>
                  </a:lnTo>
                  <a:cubicBezTo>
                    <a:pt x="3938367" y="0"/>
                    <a:pt x="3942830" y="1849"/>
                    <a:pt x="3946120" y="5139"/>
                  </a:cubicBezTo>
                  <a:cubicBezTo>
                    <a:pt x="3949411" y="8429"/>
                    <a:pt x="3951259" y="12892"/>
                    <a:pt x="3951259" y="17546"/>
                  </a:cubicBezTo>
                  <a:lnTo>
                    <a:pt x="3951259" y="869260"/>
                  </a:lnTo>
                  <a:cubicBezTo>
                    <a:pt x="3951259" y="873913"/>
                    <a:pt x="3949411" y="878376"/>
                    <a:pt x="3946120" y="881666"/>
                  </a:cubicBezTo>
                  <a:cubicBezTo>
                    <a:pt x="3942830" y="884957"/>
                    <a:pt x="3938367" y="886805"/>
                    <a:pt x="3933714" y="886805"/>
                  </a:cubicBezTo>
                  <a:lnTo>
                    <a:pt x="17546" y="886805"/>
                  </a:lnTo>
                  <a:cubicBezTo>
                    <a:pt x="7855" y="886805"/>
                    <a:pt x="0" y="878950"/>
                    <a:pt x="0" y="869260"/>
                  </a:cubicBezTo>
                  <a:lnTo>
                    <a:pt x="0" y="17546"/>
                  </a:lnTo>
                  <a:cubicBezTo>
                    <a:pt x="0" y="7855"/>
                    <a:pt x="7855" y="0"/>
                    <a:pt x="17546" y="0"/>
                  </a:cubicBezTo>
                  <a:close/>
                </a:path>
              </a:pathLst>
            </a:custGeom>
            <a:solidFill>
              <a:srgbClr val="F5F9FF"/>
            </a:solidFill>
            <a:ln w="9525" cap="rnd">
              <a:solidFill>
                <a:srgbClr val="3958BD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450">
                <a:latin typeface="+mn-ea"/>
              </a:endParaRPr>
            </a:p>
          </p:txBody>
        </p:sp>
        <p:sp>
          <p:nvSpPr>
            <p:cNvPr id="57" name="TextBox 6">
              <a:extLst>
                <a:ext uri="{FF2B5EF4-FFF2-40B4-BE49-F238E27FC236}">
                  <a16:creationId xmlns:a16="http://schemas.microsoft.com/office/drawing/2014/main" id="{A4CBC015-55CA-F632-061B-37E663123BDB}"/>
                </a:ext>
              </a:extLst>
            </p:cNvPr>
            <p:cNvSpPr txBox="1"/>
            <p:nvPr/>
          </p:nvSpPr>
          <p:spPr>
            <a:xfrm>
              <a:off x="0" y="-38100"/>
              <a:ext cx="3951259" cy="92490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450">
                <a:latin typeface="+mn-ea"/>
              </a:endParaRPr>
            </a:p>
          </p:txBody>
        </p:sp>
      </p:grpSp>
      <p:sp>
        <p:nvSpPr>
          <p:cNvPr id="58" name="AutoShape 7">
            <a:extLst>
              <a:ext uri="{FF2B5EF4-FFF2-40B4-BE49-F238E27FC236}">
                <a16:creationId xmlns:a16="http://schemas.microsoft.com/office/drawing/2014/main" id="{D165D68A-C2F8-5E6A-8421-55D9F5FF20F5}"/>
              </a:ext>
            </a:extLst>
          </p:cNvPr>
          <p:cNvSpPr/>
          <p:nvPr/>
        </p:nvSpPr>
        <p:spPr>
          <a:xfrm>
            <a:off x="3146776" y="2767800"/>
            <a:ext cx="0" cy="862378"/>
          </a:xfrm>
          <a:prstGeom prst="line">
            <a:avLst/>
          </a:prstGeom>
          <a:ln w="9525" cap="flat">
            <a:solidFill>
              <a:srgbClr val="3958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59" name="AutoShape 8">
            <a:extLst>
              <a:ext uri="{FF2B5EF4-FFF2-40B4-BE49-F238E27FC236}">
                <a16:creationId xmlns:a16="http://schemas.microsoft.com/office/drawing/2014/main" id="{BDC14731-1521-586D-95E2-460A2C8311DA}"/>
              </a:ext>
            </a:extLst>
          </p:cNvPr>
          <p:cNvSpPr/>
          <p:nvPr/>
        </p:nvSpPr>
        <p:spPr>
          <a:xfrm>
            <a:off x="5616732" y="2767800"/>
            <a:ext cx="0" cy="862378"/>
          </a:xfrm>
          <a:prstGeom prst="line">
            <a:avLst/>
          </a:prstGeom>
          <a:ln w="9525" cap="flat">
            <a:solidFill>
              <a:srgbClr val="3958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>
              <a:latin typeface="+mn-ea"/>
            </a:endParaRPr>
          </a:p>
        </p:txBody>
      </p:sp>
      <p:sp>
        <p:nvSpPr>
          <p:cNvPr id="60" name="TextBox 16">
            <a:extLst>
              <a:ext uri="{FF2B5EF4-FFF2-40B4-BE49-F238E27FC236}">
                <a16:creationId xmlns:a16="http://schemas.microsoft.com/office/drawing/2014/main" id="{9738403F-65AE-C508-5C64-ACA6D2F0F2E1}"/>
              </a:ext>
            </a:extLst>
          </p:cNvPr>
          <p:cNvSpPr txBox="1"/>
          <p:nvPr/>
        </p:nvSpPr>
        <p:spPr>
          <a:xfrm>
            <a:off x="1047214" y="2992828"/>
            <a:ext cx="1763806" cy="47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"</a:t>
            </a: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말씀은 지루한 공부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“</a:t>
            </a: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라는</a:t>
            </a:r>
            <a:endParaRPr lang="en-US" altLang="ko-KR" sz="1100" b="1" spc="-27" dirty="0">
              <a:solidFill>
                <a:srgbClr val="3958BD"/>
              </a:solidFill>
              <a:latin typeface="+mn-ea"/>
              <a:cs typeface="Tlab 돋움 레귤러"/>
              <a:sym typeface="Tlab 돋움 레귤러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 고정관념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.</a:t>
            </a: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0788DBA1-62C1-28D9-3846-BC1FCF615A01}"/>
              </a:ext>
            </a:extLst>
          </p:cNvPr>
          <p:cNvSpPr txBox="1"/>
          <p:nvPr/>
        </p:nvSpPr>
        <p:spPr>
          <a:xfrm>
            <a:off x="3475016" y="2992828"/>
            <a:ext cx="1761331" cy="47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아이들의 디지털 언어와 성경 용어 사이의 간극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.</a:t>
            </a:r>
          </a:p>
        </p:txBody>
      </p:sp>
      <p:sp>
        <p:nvSpPr>
          <p:cNvPr id="62" name="TextBox 18">
            <a:extLst>
              <a:ext uri="{FF2B5EF4-FFF2-40B4-BE49-F238E27FC236}">
                <a16:creationId xmlns:a16="http://schemas.microsoft.com/office/drawing/2014/main" id="{5BB84EFF-E0B3-D1FB-FE18-E0067D544D8F}"/>
              </a:ext>
            </a:extLst>
          </p:cNvPr>
          <p:cNvSpPr txBox="1"/>
          <p:nvPr/>
        </p:nvSpPr>
        <p:spPr>
          <a:xfrm>
            <a:off x="1045907" y="2704538"/>
            <a:ext cx="1431525" cy="210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01. </a:t>
            </a:r>
            <a:r>
              <a:rPr lang="ko-KR" alt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집중력의 벽</a:t>
            </a:r>
            <a:endParaRPr lang="en-US" sz="1300" b="1" spc="-42" dirty="0">
              <a:solidFill>
                <a:srgbClr val="3958BD"/>
              </a:solidFill>
              <a:latin typeface="+mn-ea"/>
              <a:cs typeface="Tlab 돋움 레귤러 Bold"/>
              <a:sym typeface="Tlab 돋움 레귤러 Bold"/>
            </a:endParaRPr>
          </a:p>
        </p:txBody>
      </p:sp>
      <p:sp>
        <p:nvSpPr>
          <p:cNvPr id="63" name="TextBox 19">
            <a:extLst>
              <a:ext uri="{FF2B5EF4-FFF2-40B4-BE49-F238E27FC236}">
                <a16:creationId xmlns:a16="http://schemas.microsoft.com/office/drawing/2014/main" id="{30114E88-D7D9-2F31-B93A-6F10F926FCEA}"/>
              </a:ext>
            </a:extLst>
          </p:cNvPr>
          <p:cNvSpPr txBox="1"/>
          <p:nvPr/>
        </p:nvSpPr>
        <p:spPr>
          <a:xfrm>
            <a:off x="3475015" y="2704538"/>
            <a:ext cx="1573699" cy="210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02. </a:t>
            </a:r>
            <a:r>
              <a:rPr lang="ko-KR" alt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소통의 벽</a:t>
            </a:r>
            <a:endParaRPr lang="en-US" sz="1300" b="1" spc="-42" dirty="0">
              <a:solidFill>
                <a:srgbClr val="3958BD"/>
              </a:solidFill>
              <a:latin typeface="+mn-ea"/>
              <a:cs typeface="Tlab 돋움 레귤러 Bold"/>
              <a:sym typeface="Tlab 돋움 레귤러 Bold"/>
            </a:endParaRPr>
          </a:p>
        </p:txBody>
      </p:sp>
      <p:sp>
        <p:nvSpPr>
          <p:cNvPr id="64" name="TextBox 20">
            <a:extLst>
              <a:ext uri="{FF2B5EF4-FFF2-40B4-BE49-F238E27FC236}">
                <a16:creationId xmlns:a16="http://schemas.microsoft.com/office/drawing/2014/main" id="{6D64CD3A-862F-4C02-421E-25C8FC809384}"/>
              </a:ext>
            </a:extLst>
          </p:cNvPr>
          <p:cNvSpPr txBox="1"/>
          <p:nvPr/>
        </p:nvSpPr>
        <p:spPr>
          <a:xfrm>
            <a:off x="5950443" y="2992828"/>
            <a:ext cx="1874328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spc="-27" dirty="0" err="1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썬데이크리스천</a:t>
            </a:r>
            <a:endParaRPr lang="en-US" altLang="ko-KR" sz="1100" b="1" spc="-27" dirty="0">
              <a:solidFill>
                <a:srgbClr val="3958BD"/>
              </a:solidFill>
              <a:latin typeface="+mn-ea"/>
              <a:cs typeface="Tlab 돋움 레귤러"/>
              <a:sym typeface="Tlab 돋움 레귤러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주일 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1</a:t>
            </a: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시간의 노력이 평일 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167</a:t>
            </a:r>
            <a:r>
              <a:rPr lang="ko-KR" altLang="en-US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시간에 묻히는 현실</a:t>
            </a:r>
            <a:r>
              <a:rPr lang="en-US" altLang="ko-KR" sz="1100" b="1" spc="-27" dirty="0">
                <a:solidFill>
                  <a:srgbClr val="3958BD"/>
                </a:solidFill>
                <a:latin typeface="+mn-ea"/>
                <a:cs typeface="Tlab 돋움 레귤러"/>
                <a:sym typeface="Tlab 돋움 레귤러"/>
              </a:rPr>
              <a:t>.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id="{71E36744-CF8C-9D62-0031-B0F5DCC18A1D}"/>
              </a:ext>
            </a:extLst>
          </p:cNvPr>
          <p:cNvSpPr txBox="1"/>
          <p:nvPr/>
        </p:nvSpPr>
        <p:spPr>
          <a:xfrm>
            <a:off x="5971707" y="2704538"/>
            <a:ext cx="1667809" cy="210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20"/>
              </a:lnSpc>
              <a:spcBef>
                <a:spcPct val="0"/>
              </a:spcBef>
            </a:pPr>
            <a:r>
              <a:rPr 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03. </a:t>
            </a:r>
            <a:r>
              <a:rPr lang="ko-KR" altLang="en-US" sz="1300" b="1" spc="-42" dirty="0">
                <a:solidFill>
                  <a:srgbClr val="3958BD"/>
                </a:solidFill>
                <a:latin typeface="+mn-ea"/>
                <a:cs typeface="Tlab 돋움 레귤러 Bold"/>
                <a:sym typeface="Tlab 돋움 레귤러 Bold"/>
              </a:rPr>
              <a:t>시간의 벽</a:t>
            </a:r>
            <a:endParaRPr lang="en-US" sz="1300" b="1" spc="-42" dirty="0">
              <a:solidFill>
                <a:srgbClr val="3958BD"/>
              </a:solidFill>
              <a:latin typeface="+mn-ea"/>
              <a:cs typeface="Tlab 돋움 레귤러 Bold"/>
              <a:sym typeface="Tlab 돋움 레귤러 Bold"/>
            </a:endParaRPr>
          </a:p>
        </p:txBody>
      </p:sp>
      <p:grpSp>
        <p:nvGrpSpPr>
          <p:cNvPr id="66" name="Group 22">
            <a:extLst>
              <a:ext uri="{FF2B5EF4-FFF2-40B4-BE49-F238E27FC236}">
                <a16:creationId xmlns:a16="http://schemas.microsoft.com/office/drawing/2014/main" id="{2C1C6805-E129-4596-671D-5925A7B9FCA5}"/>
              </a:ext>
            </a:extLst>
          </p:cNvPr>
          <p:cNvGrpSpPr/>
          <p:nvPr/>
        </p:nvGrpSpPr>
        <p:grpSpPr>
          <a:xfrm>
            <a:off x="2589362" y="3815258"/>
            <a:ext cx="3733126" cy="628570"/>
            <a:chOff x="0" y="-38100"/>
            <a:chExt cx="1966420" cy="331099"/>
          </a:xfrm>
        </p:grpSpPr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6B7474E8-F714-A05D-191A-9BB7152A8B68}"/>
                </a:ext>
              </a:extLst>
            </p:cNvPr>
            <p:cNvSpPr/>
            <p:nvPr/>
          </p:nvSpPr>
          <p:spPr>
            <a:xfrm>
              <a:off x="0" y="-36620"/>
              <a:ext cx="1966420" cy="292999"/>
            </a:xfrm>
            <a:custGeom>
              <a:avLst/>
              <a:gdLst/>
              <a:ahLst/>
              <a:cxnLst/>
              <a:rect l="l" t="t" r="r" b="b"/>
              <a:pathLst>
                <a:path w="1966420" h="292999">
                  <a:moveTo>
                    <a:pt x="103692" y="0"/>
                  </a:moveTo>
                  <a:lnTo>
                    <a:pt x="1862728" y="0"/>
                  </a:lnTo>
                  <a:cubicBezTo>
                    <a:pt x="1890229" y="0"/>
                    <a:pt x="1916603" y="10925"/>
                    <a:pt x="1936049" y="30371"/>
                  </a:cubicBezTo>
                  <a:cubicBezTo>
                    <a:pt x="1955495" y="49817"/>
                    <a:pt x="1966420" y="76191"/>
                    <a:pt x="1966420" y="103692"/>
                  </a:cubicBezTo>
                  <a:lnTo>
                    <a:pt x="1966420" y="189306"/>
                  </a:lnTo>
                  <a:cubicBezTo>
                    <a:pt x="1966420" y="246574"/>
                    <a:pt x="1919996" y="292999"/>
                    <a:pt x="1862728" y="292999"/>
                  </a:cubicBezTo>
                  <a:lnTo>
                    <a:pt x="103692" y="292999"/>
                  </a:lnTo>
                  <a:cubicBezTo>
                    <a:pt x="46425" y="292999"/>
                    <a:pt x="0" y="246574"/>
                    <a:pt x="0" y="189306"/>
                  </a:cubicBezTo>
                  <a:lnTo>
                    <a:pt x="0" y="103692"/>
                  </a:lnTo>
                  <a:cubicBezTo>
                    <a:pt x="0" y="46425"/>
                    <a:pt x="46425" y="0"/>
                    <a:pt x="103692" y="0"/>
                  </a:cubicBezTo>
                  <a:close/>
                </a:path>
              </a:pathLst>
            </a:custGeom>
            <a:solidFill>
              <a:srgbClr val="3958BD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sz="450">
                <a:latin typeface="+mn-ea"/>
              </a:endParaRPr>
            </a:p>
          </p:txBody>
        </p:sp>
        <p:sp>
          <p:nvSpPr>
            <p:cNvPr id="68" name="TextBox 24">
              <a:extLst>
                <a:ext uri="{FF2B5EF4-FFF2-40B4-BE49-F238E27FC236}">
                  <a16:creationId xmlns:a16="http://schemas.microsoft.com/office/drawing/2014/main" id="{510B8F3E-F99D-F96D-6372-216B3B6FE8EC}"/>
                </a:ext>
              </a:extLst>
            </p:cNvPr>
            <p:cNvSpPr txBox="1"/>
            <p:nvPr/>
          </p:nvSpPr>
          <p:spPr>
            <a:xfrm>
              <a:off x="0" y="-38100"/>
              <a:ext cx="1966420" cy="3310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ko-KR" altLang="en-US" sz="1800" b="1" spc="-38" dirty="0" err="1">
                  <a:solidFill>
                    <a:srgbClr val="FFFFFF"/>
                  </a:solidFill>
                  <a:latin typeface="+mn-ea"/>
                  <a:cs typeface="Tlab 돋움 레귤러 Bold"/>
                  <a:sym typeface="Tlab 돋움 레귤러 Bold"/>
                </a:rPr>
                <a:t>제경민</a:t>
              </a:r>
              <a:r>
                <a:rPr lang="ko-KR" altLang="en-US" sz="1800" b="1" spc="-38" dirty="0">
                  <a:solidFill>
                    <a:srgbClr val="FFFFFF"/>
                  </a:solidFill>
                  <a:latin typeface="+mn-ea"/>
                  <a:cs typeface="Tlab 돋움 레귤러 Bold"/>
                  <a:sym typeface="Tlab 돋움 레귤러 Bold"/>
                </a:rPr>
                <a:t> 목사님과 인터뷰</a:t>
              </a:r>
              <a:endParaRPr lang="en-US" sz="1800" b="1" spc="-38" dirty="0">
                <a:solidFill>
                  <a:srgbClr val="FFFFFF"/>
                </a:solidFill>
                <a:latin typeface="+mn-ea"/>
                <a:cs typeface="Tlab 돋움 레귤러 Bold"/>
                <a:sym typeface="Tlab 돋움 레귤러 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12765-7D0E-8211-E829-EB2024B2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E85AA-55D7-B3C0-CFFF-4204EA7F0C7F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A101F1-0074-2708-68A8-9B67EB3B60A7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A8AB0C0-FB77-6FE6-54DF-3B574410ECA8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85451A-4ADA-0688-4B3F-B53928F75437}"/>
              </a:ext>
            </a:extLst>
          </p:cNvPr>
          <p:cNvSpPr txBox="1"/>
          <p:nvPr/>
        </p:nvSpPr>
        <p:spPr>
          <a:xfrm rot="-18144">
            <a:off x="926645" y="536298"/>
            <a:ext cx="4237257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3. </a:t>
            </a:r>
            <a:r>
              <a:rPr lang="ko-KR" altLang="en-US" sz="2865" b="1" spc="-57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그리스도인의 신앙교육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B6CF75B-2A39-30CF-DCBB-8A255F25BFBE}"/>
              </a:ext>
            </a:extLst>
          </p:cNvPr>
          <p:cNvSpPr txBox="1"/>
          <p:nvPr/>
        </p:nvSpPr>
        <p:spPr>
          <a:xfrm>
            <a:off x="1310734" y="1352550"/>
            <a:ext cx="7071265" cy="780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핵심가치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: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신앙은 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＇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공부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＇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가 아니라</a:t>
            </a:r>
            <a:endParaRPr kumimoji="0" lang="en-US" altLang="ko-KR" sz="1810" b="1" i="0" u="none" strike="noStrike" kern="1200" cap="none" spc="-36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JASO Sans Bold"/>
              <a:sym typeface="JASO Sans Bold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0" b="1" spc="-36" dirty="0">
                <a:solidFill>
                  <a:srgbClr val="333333"/>
                </a:solidFill>
                <a:latin typeface="+mn-ea"/>
                <a:cs typeface="JASO Sans Bold"/>
                <a:sym typeface="JASO Sans Bold"/>
              </a:rPr>
              <a:t>                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하나님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,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그리고 공동체와의 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'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관계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'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입니다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.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ED7387B9-4228-5A4C-68C4-163DEA42E78F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F682A32E-D570-010B-B645-C1BAC6487922}"/>
              </a:ext>
            </a:extLst>
          </p:cNvPr>
          <p:cNvSpPr txBox="1"/>
          <p:nvPr/>
        </p:nvSpPr>
        <p:spPr>
          <a:xfrm>
            <a:off x="1676400" y="2385405"/>
            <a:ext cx="5418355" cy="37170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3378"/>
              </a:lnSpc>
              <a:spcBef>
                <a:spcPct val="0"/>
              </a:spcBef>
            </a:pPr>
            <a:r>
              <a:rPr lang="ko-KR" altLang="en-US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말씀과의 만남 </a:t>
            </a:r>
            <a:r>
              <a:rPr lang="en-US" altLang="ko-KR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: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텍스트를 넘어 삶에서 </a:t>
            </a:r>
            <a:r>
              <a:rPr lang="ko-KR" altLang="en-US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말씀으로 소통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하기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.</a:t>
            </a:r>
          </a:p>
        </p:txBody>
      </p:sp>
      <p:sp>
        <p:nvSpPr>
          <p:cNvPr id="27" name="Freeform 37">
            <a:extLst>
              <a:ext uri="{FF2B5EF4-FFF2-40B4-BE49-F238E27FC236}">
                <a16:creationId xmlns:a16="http://schemas.microsoft.com/office/drawing/2014/main" id="{3ECA6656-9B73-5F9B-A0E2-FC0CEF0CDE5B}"/>
              </a:ext>
            </a:extLst>
          </p:cNvPr>
          <p:cNvSpPr/>
          <p:nvPr/>
        </p:nvSpPr>
        <p:spPr>
          <a:xfrm>
            <a:off x="1403639" y="2544993"/>
            <a:ext cx="180772" cy="167127"/>
          </a:xfrm>
          <a:custGeom>
            <a:avLst/>
            <a:gdLst/>
            <a:ahLst/>
            <a:cxnLst/>
            <a:rect l="l" t="t" r="r" b="b"/>
            <a:pathLst>
              <a:path w="298482" h="227593">
                <a:moveTo>
                  <a:pt x="0" y="0"/>
                </a:moveTo>
                <a:lnTo>
                  <a:pt x="298482" y="0"/>
                </a:lnTo>
                <a:lnTo>
                  <a:pt x="298482" y="227592"/>
                </a:lnTo>
                <a:lnTo>
                  <a:pt x="0" y="227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32AD8DDC-342B-ADA0-EF5D-29219F376B2C}"/>
              </a:ext>
            </a:extLst>
          </p:cNvPr>
          <p:cNvSpPr txBox="1"/>
          <p:nvPr/>
        </p:nvSpPr>
        <p:spPr>
          <a:xfrm>
            <a:off x="1676400" y="3009430"/>
            <a:ext cx="7772400" cy="37170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3378"/>
              </a:lnSpc>
              <a:spcBef>
                <a:spcPct val="0"/>
              </a:spcBef>
            </a:pPr>
            <a:r>
              <a:rPr lang="ko-KR" altLang="en-US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공동체적 성장 </a:t>
            </a:r>
            <a:r>
              <a:rPr lang="en-US" altLang="ko-KR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: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길드</a:t>
            </a:r>
            <a:r>
              <a:rPr lang="ko-KR" altLang="en-US" sz="1600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를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통해 서로 격려하며 함께 성장하는 </a:t>
            </a:r>
            <a:r>
              <a:rPr lang="en-US" altLang="ko-KR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'</a:t>
            </a:r>
            <a:r>
              <a:rPr lang="ko-KR" altLang="en-US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그리스도의 몸</a:t>
            </a:r>
            <a:r>
              <a:rPr lang="en-US" altLang="ko-KR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'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경험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.</a:t>
            </a:r>
          </a:p>
        </p:txBody>
      </p:sp>
      <p:sp>
        <p:nvSpPr>
          <p:cNvPr id="36" name="Freeform 37">
            <a:extLst>
              <a:ext uri="{FF2B5EF4-FFF2-40B4-BE49-F238E27FC236}">
                <a16:creationId xmlns:a16="http://schemas.microsoft.com/office/drawing/2014/main" id="{3235A8FB-03E9-09B5-0282-39B2ED82336A}"/>
              </a:ext>
            </a:extLst>
          </p:cNvPr>
          <p:cNvSpPr/>
          <p:nvPr/>
        </p:nvSpPr>
        <p:spPr>
          <a:xfrm>
            <a:off x="1403639" y="3169018"/>
            <a:ext cx="180772" cy="167127"/>
          </a:xfrm>
          <a:custGeom>
            <a:avLst/>
            <a:gdLst/>
            <a:ahLst/>
            <a:cxnLst/>
            <a:rect l="l" t="t" r="r" b="b"/>
            <a:pathLst>
              <a:path w="298482" h="227593">
                <a:moveTo>
                  <a:pt x="0" y="0"/>
                </a:moveTo>
                <a:lnTo>
                  <a:pt x="298482" y="0"/>
                </a:lnTo>
                <a:lnTo>
                  <a:pt x="298482" y="227592"/>
                </a:lnTo>
                <a:lnTo>
                  <a:pt x="0" y="227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D4D8B571-6E94-2A46-8DF1-DA905C4A2AC0}"/>
              </a:ext>
            </a:extLst>
          </p:cNvPr>
          <p:cNvSpPr txBox="1"/>
          <p:nvPr/>
        </p:nvSpPr>
        <p:spPr>
          <a:xfrm>
            <a:off x="1676400" y="3633455"/>
            <a:ext cx="7391400" cy="37170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3378"/>
              </a:lnSpc>
              <a:spcBef>
                <a:spcPct val="0"/>
              </a:spcBef>
            </a:pPr>
            <a:r>
              <a:rPr lang="ko-KR" altLang="en-US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삶의 모험화 </a:t>
            </a:r>
            <a:r>
              <a:rPr lang="en-US" altLang="ko-KR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: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 "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모험 시작하기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"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버튼을 누르는 순간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,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일상은 거대한 </a:t>
            </a:r>
            <a:r>
              <a:rPr lang="ko-KR" altLang="en-US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신앙의 모험지</a:t>
            </a:r>
            <a:endParaRPr lang="en-US" altLang="ko-KR" sz="1600" b="1" u="none" strike="noStrike" spc="-70" dirty="0">
              <a:solidFill>
                <a:schemeClr val="tx2"/>
              </a:solidFill>
              <a:latin typeface="+mn-ea"/>
              <a:cs typeface="Nanum Square Ultra-Bold"/>
              <a:sym typeface="Nanum Square Ultra-Bold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0B651A9E-BF23-9E57-A73E-90DE695AACD0}"/>
              </a:ext>
            </a:extLst>
          </p:cNvPr>
          <p:cNvSpPr/>
          <p:nvPr/>
        </p:nvSpPr>
        <p:spPr>
          <a:xfrm>
            <a:off x="1403639" y="3793043"/>
            <a:ext cx="180772" cy="167127"/>
          </a:xfrm>
          <a:custGeom>
            <a:avLst/>
            <a:gdLst/>
            <a:ahLst/>
            <a:cxnLst/>
            <a:rect l="l" t="t" r="r" b="b"/>
            <a:pathLst>
              <a:path w="298482" h="227593">
                <a:moveTo>
                  <a:pt x="0" y="0"/>
                </a:moveTo>
                <a:lnTo>
                  <a:pt x="298482" y="0"/>
                </a:lnTo>
                <a:lnTo>
                  <a:pt x="298482" y="227592"/>
                </a:lnTo>
                <a:lnTo>
                  <a:pt x="0" y="227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BC6E13B1-F7C2-A017-0B22-B37E8BAE5CF4}"/>
              </a:ext>
            </a:extLst>
          </p:cNvPr>
          <p:cNvSpPr txBox="1"/>
          <p:nvPr/>
        </p:nvSpPr>
        <p:spPr>
          <a:xfrm>
            <a:off x="1676400" y="4257480"/>
            <a:ext cx="7620000" cy="37170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lnSpc>
                <a:spcPts val="3378"/>
              </a:lnSpc>
              <a:spcBef>
                <a:spcPct val="0"/>
              </a:spcBef>
            </a:pPr>
            <a:r>
              <a:rPr lang="ko-KR" altLang="en-US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거룩한 습관 </a:t>
            </a:r>
            <a:r>
              <a:rPr lang="en-US" altLang="ko-KR" sz="1600" b="1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: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 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일일 퀘스트를 통해 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365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일 </a:t>
            </a:r>
            <a:r>
              <a:rPr lang="ko-KR" altLang="en-US" sz="1600" b="1" u="none" strike="noStrike" spc="-70" dirty="0">
                <a:solidFill>
                  <a:schemeClr val="tx2"/>
                </a:solidFill>
                <a:latin typeface="+mn-ea"/>
                <a:cs typeface="Nanum Square Ultra-Bold"/>
                <a:sym typeface="Nanum Square Ultra-Bold"/>
              </a:rPr>
              <a:t>하나님과 동행</a:t>
            </a:r>
            <a:r>
              <a:rPr lang="ko-KR" altLang="en-US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하는 훈련</a:t>
            </a:r>
            <a:r>
              <a:rPr lang="en-US" altLang="ko-KR" sz="1600" u="none" strike="noStrike" spc="-70" dirty="0">
                <a:solidFill>
                  <a:srgbClr val="333333"/>
                </a:solidFill>
                <a:latin typeface="+mn-ea"/>
                <a:cs typeface="Nanum Square Ultra-Bold"/>
                <a:sym typeface="Nanum Square Ultra-Bold"/>
              </a:rPr>
              <a:t>.</a:t>
            </a:r>
          </a:p>
        </p:txBody>
      </p:sp>
      <p:sp>
        <p:nvSpPr>
          <p:cNvPr id="42" name="Freeform 37">
            <a:extLst>
              <a:ext uri="{FF2B5EF4-FFF2-40B4-BE49-F238E27FC236}">
                <a16:creationId xmlns:a16="http://schemas.microsoft.com/office/drawing/2014/main" id="{58C87194-C268-F323-6E90-EE5DD2C89032}"/>
              </a:ext>
            </a:extLst>
          </p:cNvPr>
          <p:cNvSpPr/>
          <p:nvPr/>
        </p:nvSpPr>
        <p:spPr>
          <a:xfrm>
            <a:off x="1403639" y="4417068"/>
            <a:ext cx="180772" cy="167127"/>
          </a:xfrm>
          <a:custGeom>
            <a:avLst/>
            <a:gdLst/>
            <a:ahLst/>
            <a:cxnLst/>
            <a:rect l="l" t="t" r="r" b="b"/>
            <a:pathLst>
              <a:path w="298482" h="227593">
                <a:moveTo>
                  <a:pt x="0" y="0"/>
                </a:moveTo>
                <a:lnTo>
                  <a:pt x="298482" y="0"/>
                </a:lnTo>
                <a:lnTo>
                  <a:pt x="298482" y="227592"/>
                </a:lnTo>
                <a:lnTo>
                  <a:pt x="0" y="227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105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840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43A3B-3E92-6B76-EB22-C13EB665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EBB56F-9EDA-8854-2600-105505964F60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754102-E6B7-5AFE-8122-B0AE41A52F92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5B8907-3879-1A33-15AD-70DD35F5D81F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069046-9933-4B2D-88F3-885FD027D2C3}"/>
              </a:ext>
            </a:extLst>
          </p:cNvPr>
          <p:cNvSpPr txBox="1"/>
          <p:nvPr/>
        </p:nvSpPr>
        <p:spPr>
          <a:xfrm rot="-18144">
            <a:off x="926621" y="526977"/>
            <a:ext cx="7684170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4.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왜 </a:t>
            </a: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'</a:t>
            </a:r>
            <a:r>
              <a:rPr kumimoji="0" lang="ko-KR" altLang="en-US" sz="2865" b="1" i="0" u="none" strike="noStrike" kern="1200" cap="none" spc="-57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게이미피케이션</a:t>
            </a: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(Gamification)'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인가</a:t>
            </a: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?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JASO Sans Bold"/>
              <a:sym typeface="JAS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15129C-4930-7D89-5116-B5EAF6903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352550"/>
            <a:ext cx="5856109" cy="3556799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24038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C376C-74B0-3615-66C5-76C5F97F7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EE72F1-058E-E38E-AEF7-506DA8FF7C48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DC8DC4-BFAB-AC65-FFB7-0F1E30E44980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D947FC6-C754-D340-FD7A-9F65FCDCC460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64C508D-9EFB-A7A0-AA69-A52B7137EA74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5.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565E488-DD3A-75B4-9C01-568A2934B74A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"</a:t>
            </a:r>
            <a:r>
              <a:rPr kumimoji="0" lang="ko-KR" altLang="en-US" sz="1810" b="1" i="0" u="none" strike="noStrike" kern="1200" cap="none" spc="-36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나는야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 믿음의 용사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!" (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캐릭터 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&amp;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성장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JASO Sans Bold"/>
                <a:sym typeface="JASO Sans Bold"/>
              </a:rPr>
              <a:t>)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BE0A89FC-F045-F9E3-37E5-260E37FE14FB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638448-5A46-0CB8-C1B9-7D53CD746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355" y="2039860"/>
            <a:ext cx="1483119" cy="26869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99E86E-B554-030A-9AC0-29749A2669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778153"/>
            <a:ext cx="1863090" cy="31051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17E4D3-30C0-7717-C4CD-8AC0490F9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6418" y="3181350"/>
            <a:ext cx="2051163" cy="1199960"/>
          </a:xfrm>
          <a:prstGeom prst="rect">
            <a:avLst/>
          </a:prstGeom>
        </p:spPr>
      </p:pic>
      <p:sp>
        <p:nvSpPr>
          <p:cNvPr id="12" name="TextBox 25">
            <a:extLst>
              <a:ext uri="{FF2B5EF4-FFF2-40B4-BE49-F238E27FC236}">
                <a16:creationId xmlns:a16="http://schemas.microsoft.com/office/drawing/2014/main" id="{A7DD6F04-4CC6-DED2-5FAF-4CE604E7ADBA}"/>
              </a:ext>
            </a:extLst>
          </p:cNvPr>
          <p:cNvSpPr txBox="1"/>
          <p:nvPr/>
        </p:nvSpPr>
        <p:spPr>
          <a:xfrm>
            <a:off x="3546417" y="4400789"/>
            <a:ext cx="2051163" cy="17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25" b="1" i="0" u="none" strike="noStrike" kern="1200" cap="none" spc="-20" normalizeH="0" baseline="0" noProof="0" dirty="0">
                <a:ln>
                  <a:noFill/>
                </a:ln>
                <a:solidFill>
                  <a:srgbClr val="333333">
                    <a:alpha val="69804"/>
                  </a:srgbClr>
                </a:solidFill>
                <a:effectLst/>
                <a:uLnTx/>
                <a:uFillTx/>
                <a:latin typeface="+mn-ea"/>
                <a:cs typeface="JASO Sans"/>
                <a:sym typeface="JASO Sans"/>
              </a:rPr>
              <a:t>믿음의 용사</a:t>
            </a:r>
            <a:r>
              <a:rPr kumimoji="0" lang="en-US" altLang="ko-KR" sz="1025" b="1" i="0" u="none" strike="noStrike" kern="1200" cap="none" spc="-20" normalizeH="0" baseline="0" noProof="0" dirty="0">
                <a:ln>
                  <a:noFill/>
                </a:ln>
                <a:solidFill>
                  <a:srgbClr val="333333">
                    <a:alpha val="69804"/>
                  </a:srgbClr>
                </a:solidFill>
                <a:effectLst/>
                <a:uLnTx/>
                <a:uFillTx/>
                <a:latin typeface="+mn-ea"/>
                <a:cs typeface="JASO Sans"/>
                <a:sym typeface="JASO Sans"/>
              </a:rPr>
              <a:t>, </a:t>
            </a:r>
            <a:r>
              <a:rPr kumimoji="0" lang="ko-KR" altLang="en-US" sz="1025" b="1" i="0" u="none" strike="noStrike" kern="1200" cap="none" spc="-20" normalizeH="0" baseline="0" noProof="0" dirty="0">
                <a:ln>
                  <a:noFill/>
                </a:ln>
                <a:solidFill>
                  <a:srgbClr val="333333">
                    <a:alpha val="69804"/>
                  </a:srgbClr>
                </a:solidFill>
                <a:effectLst/>
                <a:uLnTx/>
                <a:uFillTx/>
                <a:latin typeface="+mn-ea"/>
                <a:cs typeface="JASO Sans"/>
                <a:sym typeface="JASO Sans"/>
              </a:rPr>
              <a:t>실시간 성장과 달란트</a:t>
            </a:r>
            <a:endParaRPr kumimoji="0" lang="en-US" sz="1025" b="1" i="0" u="none" strike="noStrike" kern="1200" cap="none" spc="-20" normalizeH="0" baseline="0" noProof="0" dirty="0">
              <a:ln>
                <a:noFill/>
              </a:ln>
              <a:solidFill>
                <a:srgbClr val="333333">
                  <a:alpha val="69804"/>
                </a:srgbClr>
              </a:solidFill>
              <a:effectLst/>
              <a:uLnTx/>
              <a:uFillTx/>
              <a:latin typeface="+mn-ea"/>
              <a:cs typeface="JASO Sans"/>
              <a:sym typeface="JASO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25C82-30AD-3BDD-1067-54F15F3AF9D2}"/>
              </a:ext>
            </a:extLst>
          </p:cNvPr>
          <p:cNvSpPr txBox="1"/>
          <p:nvPr/>
        </p:nvSpPr>
        <p:spPr>
          <a:xfrm>
            <a:off x="3546417" y="2187029"/>
            <a:ext cx="20511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100" b="1" i="0" dirty="0">
                <a:solidFill>
                  <a:srgbClr val="111111"/>
                </a:solidFill>
                <a:effectLst/>
                <a:latin typeface="+mn-ea"/>
              </a:rPr>
              <a:t> 주요 기능</a:t>
            </a:r>
            <a:br>
              <a:rPr lang="en-US" altLang="ko-KR" sz="1100" b="1" i="0" dirty="0">
                <a:solidFill>
                  <a:srgbClr val="111111"/>
                </a:solidFill>
                <a:effectLst/>
                <a:latin typeface="+mn-ea"/>
              </a:rPr>
            </a:br>
            <a:r>
              <a:rPr lang="en-US" altLang="ko-KR" sz="1100" b="1" i="0" dirty="0">
                <a:solidFill>
                  <a:srgbClr val="111111"/>
                </a:solidFill>
                <a:effectLst/>
                <a:latin typeface="+mn-ea"/>
              </a:rPr>
              <a:t>  &gt; </a:t>
            </a:r>
            <a:r>
              <a:rPr lang="ko-KR" altLang="en-US" sz="1100" b="0" i="0" dirty="0">
                <a:solidFill>
                  <a:srgbClr val="111111"/>
                </a:solidFill>
                <a:effectLst/>
                <a:latin typeface="+mn-ea"/>
              </a:rPr>
              <a:t>닉네임 사용</a:t>
            </a:r>
            <a:br>
              <a:rPr lang="en-US" altLang="ko-KR" sz="1100" b="0" i="0" dirty="0">
                <a:solidFill>
                  <a:srgbClr val="111111"/>
                </a:solidFill>
                <a:effectLst/>
                <a:latin typeface="+mn-ea"/>
              </a:rPr>
            </a:br>
            <a:r>
              <a:rPr lang="en-US" altLang="ko-KR" sz="1100" b="0" i="0" dirty="0">
                <a:solidFill>
                  <a:srgbClr val="111111"/>
                </a:solidFill>
                <a:effectLst/>
                <a:latin typeface="+mn-ea"/>
              </a:rPr>
              <a:t>  &gt; </a:t>
            </a:r>
            <a:r>
              <a:rPr lang="ko-KR" altLang="en-US" sz="1100" b="0" i="0" dirty="0">
                <a:solidFill>
                  <a:srgbClr val="111111"/>
                </a:solidFill>
                <a:effectLst/>
                <a:latin typeface="+mn-ea"/>
              </a:rPr>
              <a:t>직업 선택</a:t>
            </a:r>
            <a:br>
              <a:rPr lang="en-US" altLang="ko-KR" sz="1100" b="0" i="0" dirty="0">
                <a:solidFill>
                  <a:srgbClr val="111111"/>
                </a:solidFill>
                <a:effectLst/>
                <a:latin typeface="+mn-ea"/>
              </a:rPr>
            </a:br>
            <a:r>
              <a:rPr lang="en-US" altLang="ko-KR" sz="1100" b="0" i="0" dirty="0">
                <a:solidFill>
                  <a:srgbClr val="111111"/>
                </a:solidFill>
                <a:effectLst/>
                <a:latin typeface="+mn-ea"/>
              </a:rPr>
              <a:t>  &gt; </a:t>
            </a:r>
            <a:r>
              <a:rPr lang="ko-KR" altLang="en-US" sz="1100" b="0" i="0" dirty="0">
                <a:solidFill>
                  <a:srgbClr val="111111"/>
                </a:solidFill>
                <a:effectLst/>
                <a:latin typeface="+mn-ea"/>
              </a:rPr>
              <a:t>실시간 경험치</a:t>
            </a:r>
            <a:r>
              <a:rPr lang="en-US" altLang="ko-KR" sz="1100" b="0" i="0" dirty="0">
                <a:solidFill>
                  <a:srgbClr val="111111"/>
                </a:solidFill>
                <a:effectLst/>
                <a:latin typeface="+mn-ea"/>
              </a:rPr>
              <a:t>(EXP)</a:t>
            </a:r>
          </a:p>
        </p:txBody>
      </p:sp>
    </p:spTree>
    <p:extLst>
      <p:ext uri="{BB962C8B-B14F-4D97-AF65-F5344CB8AC3E}">
        <p14:creationId xmlns:p14="http://schemas.microsoft.com/office/powerpoint/2010/main" val="225149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1E695-D5A0-5FB9-CC75-7641C2D9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D0BC03-90BE-F9DB-E97F-428575A4386E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97D437F-1579-D5DE-D1F2-A5F3E6F73700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E6E0FD-7B4C-D2A1-D4EE-AF27861726A7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27881E-766B-666F-C4AB-D9CA1A34FF4F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5. </a:t>
            </a:r>
            <a:r>
              <a:rPr lang="ko-KR" altLang="en-US" sz="2865" b="1" spc="-57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C30A4DE-9B50-463B-9702-034EA3CA76FC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"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매일매일 쑥쑥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!“ -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출석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+mn-lt"/>
              <a:ea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F23A150-F526-1E46-9ABB-4784223C2137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03734B0-2420-01F4-51D6-BB8DF8DE2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1819045"/>
            <a:ext cx="5867400" cy="31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08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C40CE-9DE2-DB2A-B453-3718D7F7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71955C-9BA9-8293-9013-722D97C887FD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C11CBBD-24C5-2C73-F8D6-49C4528B282B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7BA0451-64B0-04C0-A6ED-B409F67390A8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4205DF-9102-D65C-3436-E68F911365F8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5.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043C597-F840-65B6-326C-F7F736373AF3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"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매일매일 쑥쑥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!“ -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퀘스트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20D2210-DCF5-6924-1856-39AD7B3553D0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4F100A-4514-E5E8-6964-E8CAE2EEB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68" y="1809750"/>
            <a:ext cx="5327290" cy="310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2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53063-1B5C-EA98-3932-DE6FFCCB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521147-57A8-DE89-D373-D04E8CC915EF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CCD7B11-27F0-F15F-788A-038F46E8446D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0F02CB0-4104-0C08-EB05-BF4AA1B51FB8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6F6C2E-16BC-BF79-E785-763258DEB71D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5.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3E0EC66-A697-126D-EA5D-5459086E3472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"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우리는 하나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!"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반 커뮤니티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4379BB7B-A57A-1AC9-2F47-998821FC41A7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42B600-AFED-1D32-E7A7-320803E64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567" y="1809750"/>
            <a:ext cx="2741662" cy="31051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DEA409-10CB-5A6C-04D7-3EEA22185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604053"/>
            <a:ext cx="131984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DC77E-5851-B968-90C3-54A90FD6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FBF6C6-3761-5650-C213-E7BB4211F8BD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8F01516-CD06-8423-1D9E-647A3E20723C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ED92F4-1123-6CE1-4406-B50B21B29C2A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38B3431-F233-2261-F838-25B77C8ED46A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5.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0541302-31BB-713F-49FB-DF08DFEC21A2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sz="1810" b="1" spc="-36" dirty="0">
                <a:solidFill>
                  <a:srgbClr val="333333"/>
                </a:solidFill>
                <a:latin typeface="맑은 고딕" panose="020B0503020000020004" pitchFamily="50" charset="-127"/>
                <a:cs typeface="JASO Sans Bold"/>
                <a:sym typeface="JASO Sans Bold"/>
              </a:rPr>
              <a:t> UI Preview </a:t>
            </a:r>
            <a:endParaRPr lang="en-US" altLang="ko-KR" sz="1810" b="1" spc="-36" dirty="0">
              <a:solidFill>
                <a:srgbClr val="1F497D"/>
              </a:solidFill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93AACE48-7988-DBE2-2BF0-BBD2BC7D49BF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232AE8-CF9B-BC4C-4C28-B41ED5B22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970" y="1733550"/>
            <a:ext cx="1423432" cy="31535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F269E63-1D86-70B0-579E-DC7B30CAE1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371" y="1724960"/>
            <a:ext cx="1458914" cy="3162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1658959-32CD-4BB6-D6B3-D5C6CBC5ADF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171" y="1724960"/>
            <a:ext cx="809350" cy="3162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8677A09-636C-5EFF-5A52-F080266A4B9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370" y="1724960"/>
            <a:ext cx="1063102" cy="3162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AFADFD-6480-F9FC-D686-C111768199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37" y="1724960"/>
            <a:ext cx="1229392" cy="31621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8968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17B9E-E818-15F3-119C-E84C3E96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2DC723-EFC4-3D80-4264-310761CFCB10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6264030-106B-8E51-5C57-7C451E073E51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9FEDDA7-C619-E0FD-37D2-5F2E6C7276F9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F0347C-3EA6-F19E-13E2-6A0494797574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5.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우리 아이들이 만나는 세상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028521D-CF4E-35DA-1B55-DD0B034F112F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 UI Preview </a:t>
            </a:r>
            <a:endParaRPr kumimoji="0" lang="en-US" altLang="ko-KR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71CDAAA-62CA-A91E-F18C-BFD20A07AAB4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8F9DA1-D1BC-EF58-9D26-519F4CD11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88" y="1752144"/>
            <a:ext cx="1086693" cy="32499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568AE4-A180-6ED4-2DCA-B76D1447A9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23" y="1724960"/>
            <a:ext cx="1524000" cy="33031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44972E0-88A4-131C-5120-EEE6202F901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223" y="1724960"/>
            <a:ext cx="1524000" cy="33031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12A301B-1107-3E66-D2AC-70EF3A3C8E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865" y="1724960"/>
            <a:ext cx="1524000" cy="33031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7EBACAD-DF58-0E59-3A0D-890703B4BD6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507" y="1724960"/>
            <a:ext cx="1122821" cy="33031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62087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5987F-0941-D22E-B59F-4F587823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5BE4A1-DB87-5B60-EE4D-C2541F32B9B7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BBF3B02-F7BE-4200-14A3-68269E7E1387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1A003F8-5E1A-D79B-BD1E-B6418505F6E4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DC7BBE-7DF6-4181-CCD0-2E5736B8B8F8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65" b="1" spc="-57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6</a:t>
            </a: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선생님의 역할과 도구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DB4E5D7-F1EE-BB25-16FA-901A60D96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1412550"/>
            <a:ext cx="6934200" cy="3289249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697953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37A9C-2101-84BE-5C8C-FAD9C9DE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6EA6C-052A-2BEF-139A-A1AE5034A91B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9026F1E-B2DC-C347-2BD3-1DF912A725B3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CCD7FE1-4B7F-BC77-7CB5-AF011BD7B380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262F13-409D-59EA-7F9C-3B2F5441A381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6.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선생님의 역할과 도구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205A4E-8611-0856-7D95-245CB7778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137" y="1355174"/>
            <a:ext cx="5195725" cy="3565201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85437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C4621-4C41-3AC2-4D8D-4F37AABE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E3ED93-8B1F-0669-4F98-113D2484DB9D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7761B41-3D85-12A6-7244-4E733159E340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B73B26D-11BB-9320-2C6F-484AB29A4D58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3ADEAFB-7ADB-DDD2-916C-097F88F101F4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6.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선생님의 역할과 도구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924390-6BC9-1238-4E40-F89FEBEA1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745" y="1320927"/>
            <a:ext cx="5222509" cy="3707853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66368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2F69C-9DF8-04B2-6613-4C9E3B1A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193C9ABA-AEB0-447C-8C75-CF7031CEA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761" y="1809750"/>
            <a:ext cx="1250802" cy="32171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269BEA1-EBA8-DC9C-1871-C3111F81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476" y="1809750"/>
            <a:ext cx="1461871" cy="32147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31CDD74-8552-EE02-D3F0-2DEF46BD2D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813" y="1809750"/>
            <a:ext cx="1483186" cy="32147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88FF2C-1BED-49E3-0538-6A72DFC50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942" y="1809750"/>
            <a:ext cx="1463804" cy="321472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2670B421-5C21-ABC2-F4D5-40CE244EB1A5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3D34412-34FE-FFFF-47E7-83A82F435FDA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349CE48-3E67-7D08-18F5-76B826846E5A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5A37FA-DFE7-ECE4-FCAC-8D1323ED68DC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6.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선생님의 역할과 도구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D0ED61E-EE48-E10B-1A77-C17994464709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원터치 출석 승인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, 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퀘스트 인증샷 확인 및 달란트 즉시 지급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.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C7480917-194D-AC8E-CD93-C1B8C910D93F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5528EC-D9CD-1C94-FAA3-3CAE8958B85D}"/>
              </a:ext>
            </a:extLst>
          </p:cNvPr>
          <p:cNvSpPr/>
          <p:nvPr/>
        </p:nvSpPr>
        <p:spPr>
          <a:xfrm>
            <a:off x="1046907" y="2815575"/>
            <a:ext cx="1620093" cy="83878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1276D901-4A26-2BCB-67C4-6A7FC4F064D0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2667000" y="3234967"/>
            <a:ext cx="367073" cy="41497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02F4B7-FC4F-4278-B7BB-520D424BA05F}"/>
              </a:ext>
            </a:extLst>
          </p:cNvPr>
          <p:cNvSpPr/>
          <p:nvPr/>
        </p:nvSpPr>
        <p:spPr>
          <a:xfrm>
            <a:off x="4716608" y="2787875"/>
            <a:ext cx="1621605" cy="1688873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4877B6-6A36-B23C-D20D-4198EB7630F6}"/>
              </a:ext>
            </a:extLst>
          </p:cNvPr>
          <p:cNvSpPr/>
          <p:nvPr/>
        </p:nvSpPr>
        <p:spPr>
          <a:xfrm>
            <a:off x="6802679" y="2908760"/>
            <a:ext cx="1651395" cy="149179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FBC8B80-2BD9-1001-C231-BE9568DC2701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6338213" y="3632312"/>
            <a:ext cx="464466" cy="22343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E20198-63C0-30C0-B11A-1CBA2F026005}"/>
              </a:ext>
            </a:extLst>
          </p:cNvPr>
          <p:cNvSpPr/>
          <p:nvPr/>
        </p:nvSpPr>
        <p:spPr>
          <a:xfrm>
            <a:off x="3034073" y="2823124"/>
            <a:ext cx="1461871" cy="165362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04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677C2-BCC3-F3EA-9D13-09D38561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F0347B-02A3-5E8A-AE3A-DEC95ADE9082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43F14E5-F6D6-B247-A08B-A369B1A2C28A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448435E-7FC1-8376-6CF5-CA338844091A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421FCE-21DB-1324-6328-EF6732B59B26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6.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선생님의 역할과 도구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F7ED9AB-577F-8934-6D21-661DBF8CE255}"/>
              </a:ext>
            </a:extLst>
          </p:cNvPr>
          <p:cNvSpPr txBox="1"/>
          <p:nvPr/>
        </p:nvSpPr>
        <p:spPr>
          <a:xfrm>
            <a:off x="1310734" y="1352550"/>
            <a:ext cx="7071265" cy="37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 "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선생님은 든든한 조력자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!" (</a:t>
            </a:r>
            <a:r>
              <a:rPr kumimoji="0" lang="ko-KR" altLang="en-US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교사 기능</a:t>
            </a:r>
            <a:r>
              <a:rPr kumimoji="0" lang="en-US" altLang="ko-KR" sz="1810" b="1" i="0" u="none" strike="noStrike" kern="1200" cap="none" spc="-36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)</a:t>
            </a:r>
            <a:endParaRPr kumimoji="0" lang="en-US" sz="1810" b="1" i="0" u="none" strike="noStrike" kern="1200" cap="none" spc="-36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886C322-A781-28EB-C1C8-4C7D8FFB122A}"/>
              </a:ext>
            </a:extLst>
          </p:cNvPr>
          <p:cNvSpPr/>
          <p:nvPr/>
        </p:nvSpPr>
        <p:spPr>
          <a:xfrm>
            <a:off x="1123107" y="1504950"/>
            <a:ext cx="133495" cy="133495"/>
          </a:xfrm>
          <a:custGeom>
            <a:avLst/>
            <a:gdLst/>
            <a:ahLst/>
            <a:cxnLst/>
            <a:rect l="l" t="t" r="r" b="b"/>
            <a:pathLst>
              <a:path w="266990" h="266990">
                <a:moveTo>
                  <a:pt x="0" y="0"/>
                </a:moveTo>
                <a:lnTo>
                  <a:pt x="266990" y="0"/>
                </a:lnTo>
                <a:lnTo>
                  <a:pt x="266990" y="266989"/>
                </a:lnTo>
                <a:lnTo>
                  <a:pt x="0" y="26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D85920-12DF-3CB5-6B33-82B93FA4C1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10" y="1809750"/>
            <a:ext cx="1432634" cy="310515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C81428-0502-76BD-0F4D-F83E05193E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903" y="1809750"/>
            <a:ext cx="1063102" cy="3162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C72BAC-6ECE-5156-39A2-84B08A6D2DD1}"/>
              </a:ext>
            </a:extLst>
          </p:cNvPr>
          <p:cNvSpPr/>
          <p:nvPr/>
        </p:nvSpPr>
        <p:spPr>
          <a:xfrm>
            <a:off x="1046907" y="3181350"/>
            <a:ext cx="1620093" cy="83878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07B489-3581-84E7-1C63-B1606534E1C8}"/>
              </a:ext>
            </a:extLst>
          </p:cNvPr>
          <p:cNvSpPr/>
          <p:nvPr/>
        </p:nvSpPr>
        <p:spPr>
          <a:xfrm>
            <a:off x="2927006" y="4076116"/>
            <a:ext cx="1219200" cy="32443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6BCB6F4B-5DEF-6FAF-6283-DB1F04B4680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2667000" y="3600742"/>
            <a:ext cx="260006" cy="637591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D8CE483-A620-3B2E-AD6F-3EA082816E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809750"/>
            <a:ext cx="1432634" cy="310515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D3B8D04-FE35-39FF-474D-B3F6A8E6B0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809750"/>
            <a:ext cx="1086693" cy="32499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0D85B5-A1AB-124B-1716-01EDC49F5CE6}"/>
              </a:ext>
            </a:extLst>
          </p:cNvPr>
          <p:cNvSpPr/>
          <p:nvPr/>
        </p:nvSpPr>
        <p:spPr>
          <a:xfrm>
            <a:off x="4855395" y="4076116"/>
            <a:ext cx="1621605" cy="62923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FB90D86-EAF4-8CA9-DA2B-91966E4A89C6}"/>
              </a:ext>
            </a:extLst>
          </p:cNvPr>
          <p:cNvSpPr/>
          <p:nvPr/>
        </p:nvSpPr>
        <p:spPr>
          <a:xfrm>
            <a:off x="6944146" y="2952750"/>
            <a:ext cx="1219200" cy="106738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2B86450-655F-54DE-2191-406FE171D65F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477000" y="3486442"/>
            <a:ext cx="467146" cy="904291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65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069F7-EA11-F5CE-5AA1-A06FA197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7FA23B-129B-98D6-BFD2-57AB421F6323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38D7759-D83C-75D5-3461-7D1329F68FF2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11A63B-8ABF-960A-AD7D-9AB89899C8C1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127883-C98A-942A-2571-5298819A01AB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65" b="1" spc="-57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7</a:t>
            </a: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운영과 데이터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28A3AE-6060-4B50-29FF-9336DCCD2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64" y="1327134"/>
            <a:ext cx="6400800" cy="3436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9D1254-6C50-23BC-7531-1B3DB988E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473" y="1327134"/>
            <a:ext cx="1360063" cy="34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38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07C05-7CB9-F1BC-E2C5-F5640CD7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4F10CD-D557-0265-AA39-1C3E3B4B0878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AED02D7-D9E1-6F82-7772-A5792F32FA36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3CCC85-EDAC-7CC8-CC50-B34BAEFC2ADD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CCBB662-0B3D-EC3E-8B9F-81C1FCDC00F0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7.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운영과 데이터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851DDC-4E77-584F-E6BF-A75B40F50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315789"/>
            <a:ext cx="4077736" cy="364050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28A0F9-C6F9-F1F3-00A4-7272E12D2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475" y="1315789"/>
            <a:ext cx="4343400" cy="364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05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8B06C-067A-449A-B460-5BA8C800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F69DCE-149F-BB51-0A92-4EE3B9FF798F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06A1C5-9766-8F9C-7C63-BC03F6EEE586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86D6129-8C9C-0D79-6375-6A827673DBCC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CA6BA8-ECA4-0379-6067-05CD19C0FEC9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7.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운영과 데이터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D4BC83-4DCD-E563-F502-14670CBFE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80" y="1581150"/>
            <a:ext cx="4137858" cy="29013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70046D-E5B0-BF5F-C27D-3ADCD4FDF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88" y="1349181"/>
            <a:ext cx="3772936" cy="351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09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098A0-FB24-E104-9AAB-A3C8C095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E96060-72BF-3FA7-30A2-2FD3F709F321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C6E6F4-48ED-7899-BB2C-165AEB5C7493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1739599-395E-F4F8-E7BE-83E651EDF83B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054099-E469-F6DB-0DF6-FEEDB8E342D3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7.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운영과 데이터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D16BEE-686E-33FB-D328-400965492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38" y="1442428"/>
            <a:ext cx="3845124" cy="27295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7A8200E-98F7-A367-A169-7F1FC74CE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448384"/>
            <a:ext cx="4419046" cy="27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85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74116-6791-AF5D-E1DF-3C50500E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F51245-4BEE-6E73-2C8E-42FA01A883F2}"/>
              </a:ext>
            </a:extLst>
          </p:cNvPr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52C2442-5C85-380C-92EC-94C7E041CCB1}"/>
              </a:ext>
            </a:extLst>
          </p:cNvPr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E728C9C-68BC-3884-7FA5-AB836AAD07D2}"/>
              </a:ext>
            </a:extLst>
          </p:cNvPr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4593E3-7F9F-FCBE-529C-00C711E31A0E}"/>
              </a:ext>
            </a:extLst>
          </p:cNvPr>
          <p:cNvSpPr txBox="1"/>
          <p:nvPr/>
        </p:nvSpPr>
        <p:spPr>
          <a:xfrm rot="-18144">
            <a:off x="926632" y="530800"/>
            <a:ext cx="6235562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7. </a:t>
            </a:r>
            <a:r>
              <a:rPr kumimoji="0" lang="ko-KR" altLang="en-US" sz="2865" b="1" i="0" u="none" strike="noStrike" kern="1200" cap="none" spc="-57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ASO Sans Bold"/>
                <a:sym typeface="JASO Sans Bold"/>
              </a:rPr>
              <a:t>운영과 데이터</a:t>
            </a:r>
            <a:endParaRPr kumimoji="0" lang="en-US" sz="2865" b="1" i="0" u="none" strike="noStrike" kern="1200" cap="none" spc="-57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JASO Sans Bold"/>
              <a:sym typeface="JAS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700609-C03E-D001-8998-1012A6383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38" y="1442428"/>
            <a:ext cx="3845124" cy="27295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9574791-ADDF-E0DA-9B86-B677FE347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448384"/>
            <a:ext cx="4419046" cy="27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3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/>
          </a:p>
        </p:txBody>
      </p:sp>
      <p:sp>
        <p:nvSpPr>
          <p:cNvPr id="3" name="AutoShape 3"/>
          <p:cNvSpPr/>
          <p:nvPr/>
        </p:nvSpPr>
        <p:spPr>
          <a:xfrm>
            <a:off x="570464" y="1123366"/>
            <a:ext cx="8003072" cy="0"/>
          </a:xfrm>
          <a:prstGeom prst="line">
            <a:avLst/>
          </a:prstGeom>
          <a:ln w="9525" cap="rnd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/>
          </a:p>
        </p:txBody>
      </p:sp>
      <p:sp>
        <p:nvSpPr>
          <p:cNvPr id="4" name="Freeform 4"/>
          <p:cNvSpPr/>
          <p:nvPr/>
        </p:nvSpPr>
        <p:spPr>
          <a:xfrm>
            <a:off x="601225" y="608943"/>
            <a:ext cx="214752" cy="214752"/>
          </a:xfrm>
          <a:custGeom>
            <a:avLst/>
            <a:gdLst/>
            <a:ahLst/>
            <a:cxnLst/>
            <a:rect l="l" t="t" r="r" b="b"/>
            <a:pathLst>
              <a:path w="429504" h="429504">
                <a:moveTo>
                  <a:pt x="0" y="0"/>
                </a:moveTo>
                <a:lnTo>
                  <a:pt x="429504" y="0"/>
                </a:lnTo>
                <a:lnTo>
                  <a:pt x="429504" y="429504"/>
                </a:lnTo>
                <a:lnTo>
                  <a:pt x="0" y="429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/>
          </a:p>
        </p:txBody>
      </p:sp>
      <p:sp>
        <p:nvSpPr>
          <p:cNvPr id="6" name="TextBox 6"/>
          <p:cNvSpPr txBox="1"/>
          <p:nvPr/>
        </p:nvSpPr>
        <p:spPr>
          <a:xfrm rot="-18144">
            <a:off x="926656" y="540356"/>
            <a:ext cx="269951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2"/>
              </a:lnSpc>
            </a:pPr>
            <a:r>
              <a:rPr lang="en-US" sz="2865" b="1" spc="-5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질문과 답변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41120" y="2647950"/>
            <a:ext cx="4232416" cy="59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34"/>
              </a:lnSpc>
            </a:pPr>
            <a:r>
              <a:rPr lang="en-US" sz="1995" spc="-40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궁금하신</a:t>
            </a:r>
            <a:r>
              <a:rPr lang="en-US" sz="1995" spc="-40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995" spc="-40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점이</a:t>
            </a:r>
            <a:r>
              <a:rPr lang="en-US" sz="1995" spc="-40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995" spc="-40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있으신가요</a:t>
            </a:r>
            <a:r>
              <a:rPr lang="en-US" sz="1995" spc="-40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?</a:t>
            </a:r>
          </a:p>
          <a:p>
            <a:pPr>
              <a:lnSpc>
                <a:spcPts val="2434"/>
              </a:lnSpc>
            </a:pPr>
            <a:r>
              <a:rPr lang="en-US" sz="1995" b="1" spc="-40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자유롭게</a:t>
            </a:r>
            <a:r>
              <a:rPr lang="en-US" sz="1995" b="1" spc="-40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1995" b="1" spc="-40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질문해주세요</a:t>
            </a:r>
            <a:r>
              <a:rPr lang="en-US" sz="1995" b="1" spc="-40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.</a:t>
            </a:r>
          </a:p>
        </p:txBody>
      </p:sp>
      <p:sp>
        <p:nvSpPr>
          <p:cNvPr id="9" name="Freeform 9"/>
          <p:cNvSpPr/>
          <p:nvPr/>
        </p:nvSpPr>
        <p:spPr>
          <a:xfrm>
            <a:off x="1806846" y="2207162"/>
            <a:ext cx="1099654" cy="1099654"/>
          </a:xfrm>
          <a:custGeom>
            <a:avLst/>
            <a:gdLst/>
            <a:ahLst/>
            <a:cxnLst/>
            <a:rect l="l" t="t" r="r" b="b"/>
            <a:pathLst>
              <a:path w="2199308" h="2199308">
                <a:moveTo>
                  <a:pt x="0" y="0"/>
                </a:moveTo>
                <a:lnTo>
                  <a:pt x="2199309" y="0"/>
                </a:lnTo>
                <a:lnTo>
                  <a:pt x="2199309" y="2199308"/>
                </a:lnTo>
                <a:lnTo>
                  <a:pt x="0" y="2199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 sz="450"/>
          </a:p>
        </p:txBody>
      </p:sp>
      <p:sp>
        <p:nvSpPr>
          <p:cNvPr id="10" name="Freeform 10"/>
          <p:cNvSpPr/>
          <p:nvPr/>
        </p:nvSpPr>
        <p:spPr>
          <a:xfrm>
            <a:off x="2730322" y="2736212"/>
            <a:ext cx="1099654" cy="1099654"/>
          </a:xfrm>
          <a:custGeom>
            <a:avLst/>
            <a:gdLst/>
            <a:ahLst/>
            <a:cxnLst/>
            <a:rect l="l" t="t" r="r" b="b"/>
            <a:pathLst>
              <a:path w="2199308" h="2199308">
                <a:moveTo>
                  <a:pt x="0" y="0"/>
                </a:moveTo>
                <a:lnTo>
                  <a:pt x="2199308" y="0"/>
                </a:lnTo>
                <a:lnTo>
                  <a:pt x="2199308" y="2199308"/>
                </a:lnTo>
                <a:lnTo>
                  <a:pt x="0" y="2199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 sz="450"/>
          </a:p>
        </p:txBody>
      </p:sp>
      <p:sp>
        <p:nvSpPr>
          <p:cNvPr id="11" name="TextBox 11"/>
          <p:cNvSpPr txBox="1"/>
          <p:nvPr/>
        </p:nvSpPr>
        <p:spPr>
          <a:xfrm rot="-18144">
            <a:off x="2044658" y="2522197"/>
            <a:ext cx="624156" cy="49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3694" b="1" spc="-115">
                <a:solidFill>
                  <a:srgbClr val="EAEBF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Q</a:t>
            </a:r>
          </a:p>
        </p:txBody>
      </p:sp>
      <p:sp>
        <p:nvSpPr>
          <p:cNvPr id="12" name="TextBox 12"/>
          <p:cNvSpPr txBox="1"/>
          <p:nvPr/>
        </p:nvSpPr>
        <p:spPr>
          <a:xfrm rot="-18144">
            <a:off x="2968134" y="3065405"/>
            <a:ext cx="624156" cy="49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3694" b="1" spc="-115">
                <a:solidFill>
                  <a:srgbClr val="EAEBF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3661" y="3920317"/>
            <a:ext cx="6996679" cy="0"/>
          </a:xfrm>
          <a:prstGeom prst="line">
            <a:avLst/>
          </a:prstGeom>
          <a:ln w="47625" cap="flat">
            <a:solidFill>
              <a:srgbClr val="0F40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450"/>
          </a:p>
        </p:txBody>
      </p:sp>
      <p:sp>
        <p:nvSpPr>
          <p:cNvPr id="4" name="Freeform 4"/>
          <p:cNvSpPr/>
          <p:nvPr/>
        </p:nvSpPr>
        <p:spPr>
          <a:xfrm>
            <a:off x="5778916" y="1154003"/>
            <a:ext cx="2291424" cy="1941461"/>
          </a:xfrm>
          <a:custGeom>
            <a:avLst/>
            <a:gdLst/>
            <a:ahLst/>
            <a:cxnLst/>
            <a:rect l="l" t="t" r="r" b="b"/>
            <a:pathLst>
              <a:path w="4582848" h="3882922">
                <a:moveTo>
                  <a:pt x="0" y="0"/>
                </a:moveTo>
                <a:lnTo>
                  <a:pt x="4582848" y="0"/>
                </a:lnTo>
                <a:lnTo>
                  <a:pt x="4582848" y="3882922"/>
                </a:lnTo>
                <a:lnTo>
                  <a:pt x="0" y="3882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/>
          </a:p>
        </p:txBody>
      </p:sp>
      <p:sp>
        <p:nvSpPr>
          <p:cNvPr id="5" name="TextBox 5"/>
          <p:cNvSpPr txBox="1"/>
          <p:nvPr/>
        </p:nvSpPr>
        <p:spPr>
          <a:xfrm>
            <a:off x="1073661" y="1632490"/>
            <a:ext cx="4414285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0"/>
              </a:lnSpc>
            </a:pPr>
            <a:r>
              <a:rPr lang="en-US" sz="5128" spc="-205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경청해주셔서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661" y="2343150"/>
            <a:ext cx="354768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0"/>
              </a:lnSpc>
            </a:pPr>
            <a:r>
              <a:rPr lang="en-US" sz="5128" b="1" spc="-102">
                <a:solidFill>
                  <a:srgbClr val="0F409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감사합니다.</a:t>
            </a:r>
          </a:p>
        </p:txBody>
      </p:sp>
      <p:sp>
        <p:nvSpPr>
          <p:cNvPr id="11" name="Freeform 11"/>
          <p:cNvSpPr/>
          <p:nvPr/>
        </p:nvSpPr>
        <p:spPr>
          <a:xfrm rot="-5400000">
            <a:off x="8789285" y="164364"/>
            <a:ext cx="42829" cy="190351"/>
          </a:xfrm>
          <a:custGeom>
            <a:avLst/>
            <a:gdLst/>
            <a:ahLst/>
            <a:cxnLst/>
            <a:rect l="l" t="t" r="r" b="b"/>
            <a:pathLst>
              <a:path w="85658" h="380702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sz="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481</Words>
  <Application>Microsoft Office PowerPoint</Application>
  <PresentationFormat>화면 슬라이드 쇼(16:9)</PresentationFormat>
  <Paragraphs>86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Poppins Semi-Bold</vt:lpstr>
      <vt:lpstr>맑은 고딕</vt:lpstr>
      <vt:lpstr>JASO Sans Bold</vt:lpstr>
      <vt:lpstr>Arial</vt:lpstr>
      <vt:lpstr>JASO Sans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임영성</dc:creator>
  <cp:lastModifiedBy>5t170</cp:lastModifiedBy>
  <cp:revision>164</cp:revision>
  <dcterms:created xsi:type="dcterms:W3CDTF">2006-08-16T00:00:00Z</dcterms:created>
  <dcterms:modified xsi:type="dcterms:W3CDTF">2026-04-11T11:43:12Z</dcterms:modified>
  <dc:identifier>DAHCahJD6SM</dc:identifier>
</cp:coreProperties>
</file>