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JASO Sans Bold" charset="1" panose="020E0002060000000900"/>
      <p:regular r:id="rId19"/>
    </p:embeddedFont>
    <p:embeddedFont>
      <p:font typeface="JASO Sans" charset="1" panose="020E0002060000000900"/>
      <p:regular r:id="rId20"/>
    </p:embeddedFont>
    <p:embeddedFont>
      <p:font typeface="Poppins" charset="1" panose="00000500000000000000"/>
      <p:regular r:id="rId21"/>
    </p:embeddedFont>
    <p:embeddedFont>
      <p:font typeface="JASO Sans Light" charset="1" panose="020E0002060000000900"/>
      <p:regular r:id="rId22"/>
    </p:embeddedFont>
    <p:embeddedFont>
      <p:font typeface="Poppins Bold" charset="1" panose="00000800000000000000"/>
      <p:regular r:id="rId23"/>
    </p:embeddedFont>
    <p:embeddedFont>
      <p:font typeface="Poppins Medium" charset="1" panose="00000600000000000000"/>
      <p:regular r:id="rId24"/>
    </p:embeddedFont>
    <p:embeddedFont>
      <p:font typeface="Tlab 모던라이프 Bold" charset="1" panose="020B0803000000000000"/>
      <p:regular r:id="rId25"/>
    </p:embeddedFont>
    <p:embeddedFont>
      <p:font typeface="코어 고딕 E Semi-Bold" charset="1" panose="020B0703030302020204"/>
      <p:regular r:id="rId26"/>
    </p:embeddedFont>
    <p:embeddedFont>
      <p:font typeface="Poppins Semi-Bold" charset="1" panose="000007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3633686" y="2585595"/>
            <a:ext cx="11020627" cy="137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85"/>
              </a:lnSpc>
            </a:pPr>
            <a:r>
              <a:rPr lang="en-US" b="true" sz="10181" spc="-4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실무형</a:t>
            </a:r>
            <a:r>
              <a:rPr lang="en-US" b="true" sz="10181" spc="-4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비즈니스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62798" y="4051252"/>
            <a:ext cx="9962404" cy="137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85"/>
              </a:lnSpc>
            </a:pPr>
            <a:r>
              <a:rPr lang="en-US" b="true" sz="10181" spc="-407">
                <a:solidFill>
                  <a:srgbClr val="465ECA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레이아웃 템플릿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83564" y="6119319"/>
            <a:ext cx="10520872" cy="29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1679" spc="-16">
                <a:solidFill>
                  <a:srgbClr val="222222">
                    <a:alpha val="41961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실무에 바로 적용할 수 있는 슬라이드 구성법을 소개하며, 각 슬라이드는 실제 시각적 배치를 예시로 보여줍니다.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00010" y="5619840"/>
            <a:ext cx="7287980" cy="35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b="true" sz="2199" spc="-90">
                <a:solidFill>
                  <a:srgbClr val="222222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쉽게 따라 할 수 있는 다양한 레이아웃 가이드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977815" y="7498928"/>
            <a:ext cx="0" cy="207696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6795931" y="7475571"/>
            <a:ext cx="2043327" cy="2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63" spc="-3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라라나 마케팅 1팀 이수진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12177" y="7513671"/>
            <a:ext cx="2279892" cy="1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1400" spc="23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AutoShape 20" id="20"/>
          <p:cNvSpPr/>
          <p:nvPr/>
        </p:nvSpPr>
        <p:spPr>
          <a:xfrm>
            <a:off x="6795931" y="7256496"/>
            <a:ext cx="4696137" cy="0"/>
          </a:xfrm>
          <a:prstGeom prst="line">
            <a:avLst/>
          </a:prstGeom>
          <a:ln cap="flat" w="38100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6795931" y="7982393"/>
            <a:ext cx="4696137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3382580" y="3022921"/>
            <a:ext cx="11522840" cy="422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0"/>
              </a:lnSpc>
            </a:pPr>
            <a:r>
              <a:rPr lang="en-US" sz="7000" spc="-140">
                <a:solidFill>
                  <a:srgbClr val="222222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본격적인</a:t>
            </a:r>
            <a:r>
              <a:rPr lang="en-US" sz="7000" spc="-140">
                <a:solidFill>
                  <a:srgbClr val="222222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설명에 앞서,</a:t>
            </a:r>
          </a:p>
          <a:p>
            <a:pPr algn="ctr">
              <a:lnSpc>
                <a:spcPts val="8330"/>
              </a:lnSpc>
            </a:pPr>
            <a:r>
              <a:rPr lang="en-US" sz="7000" spc="-140">
                <a:solidFill>
                  <a:srgbClr val="222222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b="true" sz="7000" spc="-14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짧지만 인상적인 문장</a:t>
            </a:r>
            <a:r>
              <a:rPr lang="en-US" sz="7000" spc="-140">
                <a:solidFill>
                  <a:srgbClr val="222222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으로</a:t>
            </a:r>
          </a:p>
          <a:p>
            <a:pPr algn="ctr">
              <a:lnSpc>
                <a:spcPts val="8330"/>
              </a:lnSpc>
            </a:pPr>
            <a:r>
              <a:rPr lang="en-US" sz="7000" spc="-140">
                <a:solidFill>
                  <a:srgbClr val="222222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전</a:t>
            </a:r>
            <a:r>
              <a:rPr lang="en-US" sz="7000" spc="-140">
                <a:solidFill>
                  <a:srgbClr val="222222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하려는 핵심을</a:t>
            </a:r>
          </a:p>
          <a:p>
            <a:pPr algn="ctr" marL="0" indent="0" lvl="0">
              <a:lnSpc>
                <a:spcPts val="8330"/>
              </a:lnSpc>
            </a:pPr>
            <a:r>
              <a:rPr lang="en-US" sz="7000" spc="-140">
                <a:solidFill>
                  <a:srgbClr val="222222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자연스럽게 각인시켜 주세요.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37824" y="7528552"/>
            <a:ext cx="10815529" cy="34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sz="1899" spc="-32">
                <a:solidFill>
                  <a:srgbClr val="222222">
                    <a:alpha val="36863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비주얼보다는</a:t>
            </a:r>
            <a:r>
              <a:rPr lang="en-US" sz="1899" spc="-32">
                <a:solidFill>
                  <a:srgbClr val="222222">
                    <a:alpha val="36863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‘이야기’의 힘을 보여주는 형식이며, 차분한 발표에 적합한 페이지입니다.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784703" y="1992676"/>
            <a:ext cx="721772" cy="777143"/>
          </a:xfrm>
          <a:custGeom>
            <a:avLst/>
            <a:gdLst/>
            <a:ahLst/>
            <a:cxnLst/>
            <a:rect r="r" b="b" t="t" l="l"/>
            <a:pathLst>
              <a:path h="777143" w="721772">
                <a:moveTo>
                  <a:pt x="0" y="0"/>
                </a:moveTo>
                <a:lnTo>
                  <a:pt x="721772" y="0"/>
                </a:lnTo>
                <a:lnTo>
                  <a:pt x="721772" y="777144"/>
                </a:lnTo>
                <a:lnTo>
                  <a:pt x="0" y="777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-18144">
            <a:off x="2175255" y="1536026"/>
            <a:ext cx="3361357" cy="104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78"/>
              </a:lnSpc>
            </a:pPr>
            <a:r>
              <a:rPr lang="en-US" b="true" sz="7233" spc="-50">
                <a:solidFill>
                  <a:srgbClr val="465ECA"/>
                </a:solidFill>
                <a:latin typeface="Poppins Bold"/>
                <a:ea typeface="Poppins Bold"/>
                <a:cs typeface="Poppins Bold"/>
                <a:sym typeface="Poppins Bold"/>
              </a:rPr>
              <a:t>INDEX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0862" y="3036064"/>
            <a:ext cx="4131808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500" spc="-25">
                <a:solidFill>
                  <a:srgbClr val="222222">
                    <a:alpha val="35686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</a:t>
            </a:r>
            <a:r>
              <a:rPr lang="en-US" sz="1500" spc="-25">
                <a:solidFill>
                  <a:srgbClr val="222222">
                    <a:alpha val="35686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세부 설명을 입력해 주세요.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71337" y="2452632"/>
            <a:ext cx="3635308" cy="50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b="true" sz="3103" spc="-127">
                <a:solidFill>
                  <a:srgbClr val="222222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목차보기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4602" y="5365087"/>
            <a:ext cx="3827261" cy="4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99" spc="-142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텍스트 중심 레이아웃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84602" y="6458118"/>
            <a:ext cx="3827261" cy="4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99" spc="-142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리스트형 레이아웃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4602" y="7583423"/>
            <a:ext cx="3827261" cy="4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3099" spc="-142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원인과 결과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43106" y="5365087"/>
            <a:ext cx="3613407" cy="4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99" spc="-142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사진 중심 레이아웃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43106" y="6458118"/>
            <a:ext cx="3613407" cy="4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99" spc="-142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타임라인 구성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43106" y="7583423"/>
            <a:ext cx="3613407" cy="4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3099" spc="-142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카드형 정보요약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00707" y="5365087"/>
            <a:ext cx="3185700" cy="4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99" spc="-142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명확한 표 구성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00707" y="6458118"/>
            <a:ext cx="3185700" cy="45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b="true" sz="3099" spc="-142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비교형 레이아웃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180862" y="5345286"/>
            <a:ext cx="504651" cy="506179"/>
            <a:chOff x="0" y="0"/>
            <a:chExt cx="132912" cy="1333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2912" cy="133315"/>
            </a:xfrm>
            <a:custGeom>
              <a:avLst/>
              <a:gdLst/>
              <a:ahLst/>
              <a:cxnLst/>
              <a:rect r="r" b="b" t="t" l="l"/>
              <a:pathLst>
                <a:path h="133315" w="132912">
                  <a:moveTo>
                    <a:pt x="0" y="0"/>
                  </a:moveTo>
                  <a:lnTo>
                    <a:pt x="132912" y="0"/>
                  </a:lnTo>
                  <a:lnTo>
                    <a:pt x="132912" y="133315"/>
                  </a:lnTo>
                  <a:lnTo>
                    <a:pt x="0" y="133315"/>
                  </a:lnTo>
                  <a:close/>
                </a:path>
              </a:pathLst>
            </a:custGeom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80862" y="6438317"/>
            <a:ext cx="504651" cy="506179"/>
            <a:chOff x="0" y="0"/>
            <a:chExt cx="132912" cy="1333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912" cy="133315"/>
            </a:xfrm>
            <a:custGeom>
              <a:avLst/>
              <a:gdLst/>
              <a:ahLst/>
              <a:cxnLst/>
              <a:rect r="r" b="b" t="t" l="l"/>
              <a:pathLst>
                <a:path h="133315" w="132912">
                  <a:moveTo>
                    <a:pt x="0" y="0"/>
                  </a:moveTo>
                  <a:lnTo>
                    <a:pt x="132912" y="0"/>
                  </a:lnTo>
                  <a:lnTo>
                    <a:pt x="132912" y="133315"/>
                  </a:lnTo>
                  <a:lnTo>
                    <a:pt x="0" y="133315"/>
                  </a:lnTo>
                  <a:close/>
                </a:path>
              </a:pathLst>
            </a:custGeom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80862" y="7563621"/>
            <a:ext cx="504651" cy="506179"/>
            <a:chOff x="0" y="0"/>
            <a:chExt cx="132912" cy="1333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2912" cy="133315"/>
            </a:xfrm>
            <a:custGeom>
              <a:avLst/>
              <a:gdLst/>
              <a:ahLst/>
              <a:cxnLst/>
              <a:rect r="r" b="b" t="t" l="l"/>
              <a:pathLst>
                <a:path h="133315" w="132912">
                  <a:moveTo>
                    <a:pt x="0" y="0"/>
                  </a:moveTo>
                  <a:lnTo>
                    <a:pt x="132912" y="0"/>
                  </a:lnTo>
                  <a:lnTo>
                    <a:pt x="132912" y="133315"/>
                  </a:lnTo>
                  <a:lnTo>
                    <a:pt x="0" y="133315"/>
                  </a:lnTo>
                  <a:close/>
                </a:path>
              </a:pathLst>
            </a:custGeom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239367" y="5345286"/>
            <a:ext cx="504651" cy="506179"/>
            <a:chOff x="0" y="0"/>
            <a:chExt cx="132912" cy="1333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2912" cy="133315"/>
            </a:xfrm>
            <a:custGeom>
              <a:avLst/>
              <a:gdLst/>
              <a:ahLst/>
              <a:cxnLst/>
              <a:rect r="r" b="b" t="t" l="l"/>
              <a:pathLst>
                <a:path h="133315" w="132912">
                  <a:moveTo>
                    <a:pt x="0" y="0"/>
                  </a:moveTo>
                  <a:lnTo>
                    <a:pt x="132912" y="0"/>
                  </a:lnTo>
                  <a:lnTo>
                    <a:pt x="132912" y="133315"/>
                  </a:lnTo>
                  <a:lnTo>
                    <a:pt x="0" y="133315"/>
                  </a:lnTo>
                  <a:close/>
                </a:path>
              </a:pathLst>
            </a:custGeom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39367" y="6438317"/>
            <a:ext cx="504651" cy="506179"/>
            <a:chOff x="0" y="0"/>
            <a:chExt cx="132912" cy="1333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2912" cy="133315"/>
            </a:xfrm>
            <a:custGeom>
              <a:avLst/>
              <a:gdLst/>
              <a:ahLst/>
              <a:cxnLst/>
              <a:rect r="r" b="b" t="t" l="l"/>
              <a:pathLst>
                <a:path h="133315" w="132912">
                  <a:moveTo>
                    <a:pt x="0" y="0"/>
                  </a:moveTo>
                  <a:lnTo>
                    <a:pt x="132912" y="0"/>
                  </a:lnTo>
                  <a:lnTo>
                    <a:pt x="132912" y="133315"/>
                  </a:lnTo>
                  <a:lnTo>
                    <a:pt x="0" y="133315"/>
                  </a:lnTo>
                  <a:close/>
                </a:path>
              </a:pathLst>
            </a:custGeom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239367" y="7563621"/>
            <a:ext cx="504651" cy="506179"/>
            <a:chOff x="0" y="0"/>
            <a:chExt cx="132912" cy="13331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2912" cy="133315"/>
            </a:xfrm>
            <a:custGeom>
              <a:avLst/>
              <a:gdLst/>
              <a:ahLst/>
              <a:cxnLst/>
              <a:rect r="r" b="b" t="t" l="l"/>
              <a:pathLst>
                <a:path h="133315" w="132912">
                  <a:moveTo>
                    <a:pt x="0" y="0"/>
                  </a:moveTo>
                  <a:lnTo>
                    <a:pt x="132912" y="0"/>
                  </a:lnTo>
                  <a:lnTo>
                    <a:pt x="132912" y="133315"/>
                  </a:lnTo>
                  <a:lnTo>
                    <a:pt x="0" y="133315"/>
                  </a:lnTo>
                  <a:close/>
                </a:path>
              </a:pathLst>
            </a:custGeom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96968" y="5345286"/>
            <a:ext cx="504651" cy="506179"/>
            <a:chOff x="0" y="0"/>
            <a:chExt cx="132912" cy="13331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2912" cy="133315"/>
            </a:xfrm>
            <a:custGeom>
              <a:avLst/>
              <a:gdLst/>
              <a:ahLst/>
              <a:cxnLst/>
              <a:rect r="r" b="b" t="t" l="l"/>
              <a:pathLst>
                <a:path h="133315" w="132912">
                  <a:moveTo>
                    <a:pt x="0" y="0"/>
                  </a:moveTo>
                  <a:lnTo>
                    <a:pt x="132912" y="0"/>
                  </a:lnTo>
                  <a:lnTo>
                    <a:pt x="132912" y="133315"/>
                  </a:lnTo>
                  <a:lnTo>
                    <a:pt x="0" y="133315"/>
                  </a:lnTo>
                  <a:close/>
                </a:path>
              </a:pathLst>
            </a:custGeom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96968" y="6438317"/>
            <a:ext cx="504651" cy="506179"/>
            <a:chOff x="0" y="0"/>
            <a:chExt cx="132912" cy="13331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2912" cy="133315"/>
            </a:xfrm>
            <a:custGeom>
              <a:avLst/>
              <a:gdLst/>
              <a:ahLst/>
              <a:cxnLst/>
              <a:rect r="r" b="b" t="t" l="l"/>
              <a:pathLst>
                <a:path h="133315" w="132912">
                  <a:moveTo>
                    <a:pt x="0" y="0"/>
                  </a:moveTo>
                  <a:lnTo>
                    <a:pt x="132912" y="0"/>
                  </a:lnTo>
                  <a:lnTo>
                    <a:pt x="132912" y="133315"/>
                  </a:lnTo>
                  <a:lnTo>
                    <a:pt x="0" y="133315"/>
                  </a:lnTo>
                  <a:close/>
                </a:path>
              </a:pathLst>
            </a:custGeom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180862" y="5450727"/>
            <a:ext cx="485601" cy="2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b="true" sz="1713" spc="-44">
                <a:solidFill>
                  <a:srgbClr val="465EC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180862" y="6543758"/>
            <a:ext cx="485601" cy="2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b="true" sz="1713" spc="-44">
                <a:solidFill>
                  <a:srgbClr val="465EC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180862" y="7669062"/>
            <a:ext cx="485601" cy="2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b="true" sz="1713" spc="-44">
                <a:solidFill>
                  <a:srgbClr val="465EC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239367" y="5450727"/>
            <a:ext cx="485601" cy="2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b="true" sz="1713" spc="-44">
                <a:solidFill>
                  <a:srgbClr val="465EC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239367" y="6543758"/>
            <a:ext cx="485601" cy="2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b="true" sz="1713" spc="-44">
                <a:solidFill>
                  <a:srgbClr val="465EC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239367" y="7669062"/>
            <a:ext cx="485601" cy="2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b="true" sz="1713" spc="-44">
                <a:solidFill>
                  <a:srgbClr val="465EC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8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96968" y="5450727"/>
            <a:ext cx="485601" cy="2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b="true" sz="1713" spc="-44">
                <a:solidFill>
                  <a:srgbClr val="465EC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296968" y="6543758"/>
            <a:ext cx="485601" cy="28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b="true" sz="1713" spc="-44">
                <a:solidFill>
                  <a:srgbClr val="465EC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</a:p>
        </p:txBody>
      </p:sp>
      <p:sp>
        <p:nvSpPr>
          <p:cNvPr name="AutoShape 56" id="56"/>
          <p:cNvSpPr/>
          <p:nvPr/>
        </p:nvSpPr>
        <p:spPr>
          <a:xfrm flipV="true">
            <a:off x="1339698" y="4047619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202041" y="3204177"/>
            <a:ext cx="5352391" cy="3943160"/>
            <a:chOff x="0" y="0"/>
            <a:chExt cx="759811" cy="5597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9811" cy="559761"/>
            </a:xfrm>
            <a:custGeom>
              <a:avLst/>
              <a:gdLst/>
              <a:ahLst/>
              <a:cxnLst/>
              <a:rect r="r" b="b" t="t" l="l"/>
              <a:pathLst>
                <a:path h="559761" w="759811">
                  <a:moveTo>
                    <a:pt x="0" y="0"/>
                  </a:moveTo>
                  <a:lnTo>
                    <a:pt x="759811" y="0"/>
                  </a:lnTo>
                  <a:lnTo>
                    <a:pt x="759811" y="559761"/>
                  </a:lnTo>
                  <a:lnTo>
                    <a:pt x="0" y="559761"/>
                  </a:lnTo>
                  <a:close/>
                </a:path>
              </a:pathLst>
            </a:custGeom>
            <a:blipFill>
              <a:blip r:embed="rId2"/>
              <a:stretch>
                <a:fillRect l="-53886" t="-21693" r="-9420" b="-2622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202041" y="7704353"/>
            <a:ext cx="5352391" cy="973015"/>
            <a:chOff x="0" y="0"/>
            <a:chExt cx="1409683" cy="2562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09683" cy="256267"/>
            </a:xfrm>
            <a:custGeom>
              <a:avLst/>
              <a:gdLst/>
              <a:ahLst/>
              <a:cxnLst/>
              <a:rect r="r" b="b" t="t" l="l"/>
              <a:pathLst>
                <a:path h="256267" w="1409683">
                  <a:moveTo>
                    <a:pt x="128134" y="0"/>
                  </a:moveTo>
                  <a:lnTo>
                    <a:pt x="1281550" y="0"/>
                  </a:lnTo>
                  <a:cubicBezTo>
                    <a:pt x="1352316" y="0"/>
                    <a:pt x="1409683" y="57367"/>
                    <a:pt x="1409683" y="128134"/>
                  </a:cubicBezTo>
                  <a:lnTo>
                    <a:pt x="1409683" y="128134"/>
                  </a:lnTo>
                  <a:cubicBezTo>
                    <a:pt x="1409683" y="198900"/>
                    <a:pt x="1352316" y="256267"/>
                    <a:pt x="1281550" y="256267"/>
                  </a:cubicBezTo>
                  <a:lnTo>
                    <a:pt x="128134" y="256267"/>
                  </a:lnTo>
                  <a:cubicBezTo>
                    <a:pt x="57367" y="256267"/>
                    <a:pt x="0" y="198900"/>
                    <a:pt x="0" y="128134"/>
                  </a:cubicBezTo>
                  <a:lnTo>
                    <a:pt x="0" y="128134"/>
                  </a:lnTo>
                  <a:cubicBezTo>
                    <a:pt x="0" y="57367"/>
                    <a:pt x="57367" y="0"/>
                    <a:pt x="128134" y="0"/>
                  </a:cubicBezTo>
                  <a:close/>
                </a:path>
              </a:pathLst>
            </a:custGeom>
            <a:solidFill>
              <a:srgbClr val="F3F3F3"/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409683" cy="313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452487" y="7480611"/>
            <a:ext cx="641038" cy="502413"/>
          </a:xfrm>
          <a:custGeom>
            <a:avLst/>
            <a:gdLst/>
            <a:ahLst/>
            <a:cxnLst/>
            <a:rect r="r" b="b" t="t" l="l"/>
            <a:pathLst>
              <a:path h="502413" w="641038">
                <a:moveTo>
                  <a:pt x="0" y="0"/>
                </a:moveTo>
                <a:lnTo>
                  <a:pt x="641038" y="0"/>
                </a:lnTo>
                <a:lnTo>
                  <a:pt x="641038" y="502414"/>
                </a:lnTo>
                <a:lnTo>
                  <a:pt x="0" y="502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35629" y="3398321"/>
            <a:ext cx="330202" cy="330202"/>
          </a:xfrm>
          <a:custGeom>
            <a:avLst/>
            <a:gdLst/>
            <a:ahLst/>
            <a:cxnLst/>
            <a:rect r="r" b="b" t="t" l="l"/>
            <a:pathLst>
              <a:path h="330202" w="330202">
                <a:moveTo>
                  <a:pt x="0" y="0"/>
                </a:moveTo>
                <a:lnTo>
                  <a:pt x="330203" y="0"/>
                </a:lnTo>
                <a:lnTo>
                  <a:pt x="330203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65340" y="1251957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설명 중심의 구성 페이지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3741" y="4219702"/>
            <a:ext cx="8666728" cy="490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텍스트 중심 레이아웃은 시각적 장식보다 글 자체가 메시지의 중심이 되는 구성으로, </a:t>
            </a:r>
            <a:r>
              <a:rPr lang="en-US" b="true" sz="2199" spc="-76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독자가 내용의 핵심에 온전히 집중할 수 있도록 설계된 형태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입니다. 특히 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전략 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제안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서, 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경영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보고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자료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조직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의 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방향성과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가치를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전달하는 문서처럼 문장의 설득력이 중요한 경우에 높은 효과를 발휘합니다.</a:t>
            </a:r>
          </a:p>
          <a:p>
            <a:pPr algn="l">
              <a:lnSpc>
                <a:spcPts val="3541"/>
              </a:lnSpc>
            </a:pPr>
          </a:p>
          <a:p>
            <a:pPr algn="l">
              <a:lnSpc>
                <a:spcPts val="3541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디자인 요소는 과도하게 개입하지 않고 절제된 수준으로 유지하며, 배경 역시 차분하고 정돈된 톤을 사용합니다. 전체 구조는 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‘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 타이틀–보조 타이틀–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본문’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으로 명확하게 구분해 정보의 위계를 분명히 하고, 흐름에 따라 내용을 자연스럽게 이해할 수 있도록 구성하는 것이 핵심입니다. </a:t>
            </a:r>
            <a:r>
              <a:rPr lang="en-US" b="true" sz="2199" spc="-76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가독성과 집중도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를 동시에 높이는 것이 이 레이아웃의 중요한 특징입니다.</a:t>
            </a:r>
          </a:p>
          <a:p>
            <a:pPr algn="l">
              <a:lnSpc>
                <a:spcPts val="354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216247" y="3335006"/>
            <a:ext cx="8664840" cy="561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5"/>
              </a:lnSpc>
              <a:spcBef>
                <a:spcPct val="0"/>
              </a:spcBef>
            </a:pPr>
            <a:r>
              <a:rPr lang="en-US" b="true" sz="4152" spc="-83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텍스트로 </a:t>
            </a:r>
            <a:r>
              <a:rPr lang="en-US" b="true" sz="4152" spc="-83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요지를</a:t>
            </a:r>
            <a:r>
              <a:rPr lang="en-US" b="true" sz="4152" spc="-83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전달하기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05080" y="7601635"/>
            <a:ext cx="769512" cy="19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2"/>
              </a:lnSpc>
            </a:pPr>
            <a:r>
              <a:rPr lang="en-US" b="true" sz="1375">
                <a:solidFill>
                  <a:srgbClr val="FFFFFF"/>
                </a:solidFill>
                <a:latin typeface="Tlab 모던라이프 Bold"/>
                <a:ea typeface="Tlab 모던라이프 Bold"/>
                <a:cs typeface="Tlab 모던라이프 Bold"/>
                <a:sym typeface="Tlab 모던라이프 Bold"/>
              </a:rPr>
              <a:t>TIP!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06362" y="8062262"/>
            <a:ext cx="4543751" cy="25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b="true" sz="1699" spc="-33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핵심</a:t>
            </a:r>
            <a:r>
              <a:rPr lang="en-US" b="true" sz="1699" spc="-33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 되는 내용을 요약하여 입력하세요.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5340" y="1251957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아이콘 활용 레이아웃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49127" y="4021135"/>
            <a:ext cx="4394873" cy="179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타겟 소비자층 내에서 브랜드 인지도를 </a:t>
            </a:r>
          </a:p>
          <a:p>
            <a:pPr algn="l" marL="0" indent="0" lvl="0">
              <a:lnSpc>
                <a:spcPts val="2910"/>
              </a:lnSpc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높이는 것입니다. 소비자들의 구매 의사</a:t>
            </a:r>
          </a:p>
          <a:p>
            <a:pPr algn="l" marL="0" indent="0" lvl="0">
              <a:lnSpc>
                <a:spcPts val="2910"/>
              </a:lnSpc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결정 과정에서  더 자주 고려되도록 하는</a:t>
            </a:r>
          </a:p>
          <a:p>
            <a:pPr algn="l" marL="0" indent="0" lvl="0">
              <a:lnSpc>
                <a:spcPts val="2910"/>
              </a:lnSpc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것을 목표로 합니다.</a:t>
            </a:r>
          </a:p>
          <a:p>
            <a:pPr algn="l" marL="0" indent="0" lvl="0">
              <a:lnSpc>
                <a:spcPts val="291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749127" y="6985323"/>
            <a:ext cx="4394873" cy="179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고객들과의 상호작용을 활성화하여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브랜드에 대한 긍정적인 경험을 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제공하고, 고객 충성도를 높이는 것을 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목표로 합니다. 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388444" y="4021135"/>
            <a:ext cx="4159204" cy="14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마케팅 활동을 통해 직접적인 매출 증대를 목표로 합니다. 프로모션, 할인 이벤트, 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그리고 충성 고객 프로그램 등을 통해 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 목표를 실현할 수 있습니다.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8444" y="6985323"/>
            <a:ext cx="4159204" cy="179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 데이터를 분석하여 더 정교한 시장 세분화를 수행하고, 각 세분 시장에 맞춘 맞춤형 마케팅 전략을 개발하는 것을 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sz="2049" spc="-71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목표로 합니다. 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749127" y="3275194"/>
            <a:ext cx="4298523" cy="62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2"/>
              </a:lnSpc>
              <a:spcBef>
                <a:spcPct val="0"/>
              </a:spcBef>
            </a:pPr>
            <a:r>
              <a:rPr lang="en-US" b="true" sz="3299" spc="-115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브랜드 인지도 향상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49127" y="6239382"/>
            <a:ext cx="4298523" cy="62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2"/>
              </a:lnSpc>
              <a:spcBef>
                <a:spcPct val="0"/>
              </a:spcBef>
            </a:pPr>
            <a:r>
              <a:rPr lang="en-US" b="true" sz="3299" spc="-115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고객 참여 증대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8444" y="3275194"/>
            <a:ext cx="4298523" cy="62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2"/>
              </a:lnSpc>
              <a:spcBef>
                <a:spcPct val="0"/>
              </a:spcBef>
            </a:pPr>
            <a:r>
              <a:rPr lang="en-US" b="true" sz="3299" spc="-115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매출 증대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88444" y="6239382"/>
            <a:ext cx="4298523" cy="62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2"/>
              </a:lnSpc>
              <a:spcBef>
                <a:spcPct val="0"/>
              </a:spcBef>
            </a:pPr>
            <a:r>
              <a:rPr lang="en-US" b="true" sz="3299" spc="-115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시장 타겟팅 강화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40352" y="3204177"/>
            <a:ext cx="2521711" cy="2518275"/>
            <a:chOff x="0" y="0"/>
            <a:chExt cx="664154" cy="6632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4154" cy="663249"/>
            </a:xfrm>
            <a:custGeom>
              <a:avLst/>
              <a:gdLst/>
              <a:ahLst/>
              <a:cxnLst/>
              <a:rect r="r" b="b" t="t" l="l"/>
              <a:pathLst>
                <a:path h="663249" w="664154">
                  <a:moveTo>
                    <a:pt x="0" y="0"/>
                  </a:moveTo>
                  <a:lnTo>
                    <a:pt x="664154" y="0"/>
                  </a:lnTo>
                  <a:lnTo>
                    <a:pt x="664154" y="663249"/>
                  </a:lnTo>
                  <a:lnTo>
                    <a:pt x="0" y="663249"/>
                  </a:lnTo>
                  <a:close/>
                </a:path>
              </a:pathLst>
            </a:custGeom>
            <a:solidFill>
              <a:srgbClr val="F3F3F3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64154" cy="72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40352" y="6168365"/>
            <a:ext cx="2521711" cy="2518275"/>
            <a:chOff x="0" y="0"/>
            <a:chExt cx="664154" cy="6632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4154" cy="663249"/>
            </a:xfrm>
            <a:custGeom>
              <a:avLst/>
              <a:gdLst/>
              <a:ahLst/>
              <a:cxnLst/>
              <a:rect r="r" b="b" t="t" l="l"/>
              <a:pathLst>
                <a:path h="663249" w="664154">
                  <a:moveTo>
                    <a:pt x="0" y="0"/>
                  </a:moveTo>
                  <a:lnTo>
                    <a:pt x="664154" y="0"/>
                  </a:lnTo>
                  <a:lnTo>
                    <a:pt x="664154" y="663249"/>
                  </a:lnTo>
                  <a:lnTo>
                    <a:pt x="0" y="663249"/>
                  </a:lnTo>
                  <a:close/>
                </a:path>
              </a:pathLst>
            </a:custGeom>
            <a:solidFill>
              <a:srgbClr val="EFF1F8"/>
            </a:solidFill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64154" cy="71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79668" y="3204177"/>
            <a:ext cx="2521711" cy="2518275"/>
            <a:chOff x="0" y="0"/>
            <a:chExt cx="664154" cy="66324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4154" cy="663249"/>
            </a:xfrm>
            <a:custGeom>
              <a:avLst/>
              <a:gdLst/>
              <a:ahLst/>
              <a:cxnLst/>
              <a:rect r="r" b="b" t="t" l="l"/>
              <a:pathLst>
                <a:path h="663249" w="664154">
                  <a:moveTo>
                    <a:pt x="0" y="0"/>
                  </a:moveTo>
                  <a:lnTo>
                    <a:pt x="664154" y="0"/>
                  </a:lnTo>
                  <a:lnTo>
                    <a:pt x="664154" y="663249"/>
                  </a:lnTo>
                  <a:lnTo>
                    <a:pt x="0" y="663249"/>
                  </a:lnTo>
                  <a:close/>
                </a:path>
              </a:pathLst>
            </a:custGeom>
            <a:solidFill>
              <a:srgbClr val="EFF1F8"/>
            </a:solidFill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64154" cy="71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79668" y="6168365"/>
            <a:ext cx="2521711" cy="2518275"/>
            <a:chOff x="0" y="0"/>
            <a:chExt cx="664154" cy="6632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4154" cy="663249"/>
            </a:xfrm>
            <a:custGeom>
              <a:avLst/>
              <a:gdLst/>
              <a:ahLst/>
              <a:cxnLst/>
              <a:rect r="r" b="b" t="t" l="l"/>
              <a:pathLst>
                <a:path h="663249" w="664154">
                  <a:moveTo>
                    <a:pt x="0" y="0"/>
                  </a:moveTo>
                  <a:lnTo>
                    <a:pt x="664154" y="0"/>
                  </a:lnTo>
                  <a:lnTo>
                    <a:pt x="664154" y="663249"/>
                  </a:lnTo>
                  <a:lnTo>
                    <a:pt x="0" y="663249"/>
                  </a:lnTo>
                  <a:close/>
                </a:path>
              </a:pathLst>
            </a:custGeom>
            <a:solidFill>
              <a:srgbClr val="F3F3F3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664154" cy="72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0151406" y="3998040"/>
            <a:ext cx="978237" cy="930548"/>
          </a:xfrm>
          <a:custGeom>
            <a:avLst/>
            <a:gdLst/>
            <a:ahLst/>
            <a:cxnLst/>
            <a:rect r="r" b="b" t="t" l="l"/>
            <a:pathLst>
              <a:path h="930548" w="978237">
                <a:moveTo>
                  <a:pt x="0" y="0"/>
                </a:moveTo>
                <a:lnTo>
                  <a:pt x="978236" y="0"/>
                </a:lnTo>
                <a:lnTo>
                  <a:pt x="978236" y="930548"/>
                </a:lnTo>
                <a:lnTo>
                  <a:pt x="0" y="930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151406" y="6914994"/>
            <a:ext cx="1025017" cy="1025017"/>
          </a:xfrm>
          <a:custGeom>
            <a:avLst/>
            <a:gdLst/>
            <a:ahLst/>
            <a:cxnLst/>
            <a:rect r="r" b="b" t="t" l="l"/>
            <a:pathLst>
              <a:path h="1025017" w="1025017">
                <a:moveTo>
                  <a:pt x="0" y="0"/>
                </a:moveTo>
                <a:lnTo>
                  <a:pt x="1025017" y="0"/>
                </a:lnTo>
                <a:lnTo>
                  <a:pt x="1025017" y="1025017"/>
                </a:lnTo>
                <a:lnTo>
                  <a:pt x="0" y="1025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461307" y="3954009"/>
            <a:ext cx="1025017" cy="1018611"/>
          </a:xfrm>
          <a:custGeom>
            <a:avLst/>
            <a:gdLst/>
            <a:ahLst/>
            <a:cxnLst/>
            <a:rect r="r" b="b" t="t" l="l"/>
            <a:pathLst>
              <a:path h="1018611" w="1025017">
                <a:moveTo>
                  <a:pt x="0" y="0"/>
                </a:moveTo>
                <a:lnTo>
                  <a:pt x="1025017" y="0"/>
                </a:lnTo>
                <a:lnTo>
                  <a:pt x="1025017" y="1018611"/>
                </a:lnTo>
                <a:lnTo>
                  <a:pt x="0" y="1018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2520245" y="6898220"/>
            <a:ext cx="907140" cy="1025017"/>
          </a:xfrm>
          <a:custGeom>
            <a:avLst/>
            <a:gdLst/>
            <a:ahLst/>
            <a:cxnLst/>
            <a:rect r="r" b="b" t="t" l="l"/>
            <a:pathLst>
              <a:path h="1025017" w="907140">
                <a:moveTo>
                  <a:pt x="0" y="0"/>
                </a:moveTo>
                <a:lnTo>
                  <a:pt x="907140" y="0"/>
                </a:lnTo>
                <a:lnTo>
                  <a:pt x="907140" y="1025017"/>
                </a:lnTo>
                <a:lnTo>
                  <a:pt x="0" y="1025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5340" y="1251957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목록형 콘텐츠 정리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33741" y="3108927"/>
            <a:ext cx="14820692" cy="8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리</a:t>
            </a: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스트형 콘텐츠 정리 레이아웃은 내용을 체계적으로 배열해 정보의 흐름을 한눈에 파악할 수 있도록 돕는 구성입니다.</a:t>
            </a:r>
          </a:p>
          <a:p>
            <a:pPr algn="ctr">
              <a:lnSpc>
                <a:spcPts val="3541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여러 요소가 포함된 내용을 핵심 위주로 정리할 때 효과적이며, 전달 과정에서 이해도와 전달력을 동시에 높여줍니다.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50441" y="4647446"/>
            <a:ext cx="14803992" cy="1208595"/>
            <a:chOff x="0" y="0"/>
            <a:chExt cx="3898994" cy="3183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98994" cy="318313"/>
            </a:xfrm>
            <a:custGeom>
              <a:avLst/>
              <a:gdLst/>
              <a:ahLst/>
              <a:cxnLst/>
              <a:rect r="r" b="b" t="t" l="l"/>
              <a:pathLst>
                <a:path h="318313" w="3898994">
                  <a:moveTo>
                    <a:pt x="52296" y="0"/>
                  </a:moveTo>
                  <a:lnTo>
                    <a:pt x="3846698" y="0"/>
                  </a:lnTo>
                  <a:cubicBezTo>
                    <a:pt x="3875580" y="0"/>
                    <a:pt x="3898994" y="23414"/>
                    <a:pt x="3898994" y="52296"/>
                  </a:cubicBezTo>
                  <a:lnTo>
                    <a:pt x="3898994" y="266017"/>
                  </a:lnTo>
                  <a:cubicBezTo>
                    <a:pt x="3898994" y="279887"/>
                    <a:pt x="3893484" y="293189"/>
                    <a:pt x="3883677" y="302996"/>
                  </a:cubicBezTo>
                  <a:cubicBezTo>
                    <a:pt x="3873869" y="312803"/>
                    <a:pt x="3860567" y="318313"/>
                    <a:pt x="3846698" y="318313"/>
                  </a:cubicBezTo>
                  <a:lnTo>
                    <a:pt x="52296" y="318313"/>
                  </a:lnTo>
                  <a:cubicBezTo>
                    <a:pt x="38426" y="318313"/>
                    <a:pt x="25125" y="312803"/>
                    <a:pt x="15317" y="302996"/>
                  </a:cubicBezTo>
                  <a:cubicBezTo>
                    <a:pt x="5510" y="293189"/>
                    <a:pt x="0" y="279887"/>
                    <a:pt x="0" y="266017"/>
                  </a:cubicBezTo>
                  <a:lnTo>
                    <a:pt x="0" y="52296"/>
                  </a:lnTo>
                  <a:cubicBezTo>
                    <a:pt x="0" y="38426"/>
                    <a:pt x="5510" y="25125"/>
                    <a:pt x="15317" y="15317"/>
                  </a:cubicBezTo>
                  <a:cubicBezTo>
                    <a:pt x="25125" y="5510"/>
                    <a:pt x="38426" y="0"/>
                    <a:pt x="52296" y="0"/>
                  </a:cubicBezTo>
                  <a:close/>
                </a:path>
              </a:pathLst>
            </a:custGeom>
            <a:solidFill>
              <a:srgbClr val="F3F3F3"/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50441" y="6070754"/>
            <a:ext cx="14803992" cy="1208595"/>
            <a:chOff x="0" y="0"/>
            <a:chExt cx="3898994" cy="3183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98994" cy="318313"/>
            </a:xfrm>
            <a:custGeom>
              <a:avLst/>
              <a:gdLst/>
              <a:ahLst/>
              <a:cxnLst/>
              <a:rect r="r" b="b" t="t" l="l"/>
              <a:pathLst>
                <a:path h="318313" w="3898994">
                  <a:moveTo>
                    <a:pt x="52296" y="0"/>
                  </a:moveTo>
                  <a:lnTo>
                    <a:pt x="3846698" y="0"/>
                  </a:lnTo>
                  <a:cubicBezTo>
                    <a:pt x="3875580" y="0"/>
                    <a:pt x="3898994" y="23414"/>
                    <a:pt x="3898994" y="52296"/>
                  </a:cubicBezTo>
                  <a:lnTo>
                    <a:pt x="3898994" y="266017"/>
                  </a:lnTo>
                  <a:cubicBezTo>
                    <a:pt x="3898994" y="279887"/>
                    <a:pt x="3893484" y="293189"/>
                    <a:pt x="3883677" y="302996"/>
                  </a:cubicBezTo>
                  <a:cubicBezTo>
                    <a:pt x="3873869" y="312803"/>
                    <a:pt x="3860567" y="318313"/>
                    <a:pt x="3846698" y="318313"/>
                  </a:cubicBezTo>
                  <a:lnTo>
                    <a:pt x="52296" y="318313"/>
                  </a:lnTo>
                  <a:cubicBezTo>
                    <a:pt x="38426" y="318313"/>
                    <a:pt x="25125" y="312803"/>
                    <a:pt x="15317" y="302996"/>
                  </a:cubicBezTo>
                  <a:cubicBezTo>
                    <a:pt x="5510" y="293189"/>
                    <a:pt x="0" y="279887"/>
                    <a:pt x="0" y="266017"/>
                  </a:cubicBezTo>
                  <a:lnTo>
                    <a:pt x="0" y="52296"/>
                  </a:lnTo>
                  <a:cubicBezTo>
                    <a:pt x="0" y="38426"/>
                    <a:pt x="5510" y="25125"/>
                    <a:pt x="15317" y="15317"/>
                  </a:cubicBezTo>
                  <a:cubicBezTo>
                    <a:pt x="25125" y="5510"/>
                    <a:pt x="38426" y="0"/>
                    <a:pt x="52296" y="0"/>
                  </a:cubicBezTo>
                  <a:close/>
                </a:path>
              </a:pathLst>
            </a:custGeom>
            <a:solidFill>
              <a:srgbClr val="F3F3F3"/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50441" y="7498424"/>
            <a:ext cx="14803992" cy="1208595"/>
            <a:chOff x="0" y="0"/>
            <a:chExt cx="3898994" cy="3183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98994" cy="318313"/>
            </a:xfrm>
            <a:custGeom>
              <a:avLst/>
              <a:gdLst/>
              <a:ahLst/>
              <a:cxnLst/>
              <a:rect r="r" b="b" t="t" l="l"/>
              <a:pathLst>
                <a:path h="318313" w="3898994">
                  <a:moveTo>
                    <a:pt x="52296" y="0"/>
                  </a:moveTo>
                  <a:lnTo>
                    <a:pt x="3846698" y="0"/>
                  </a:lnTo>
                  <a:cubicBezTo>
                    <a:pt x="3875580" y="0"/>
                    <a:pt x="3898994" y="23414"/>
                    <a:pt x="3898994" y="52296"/>
                  </a:cubicBezTo>
                  <a:lnTo>
                    <a:pt x="3898994" y="266017"/>
                  </a:lnTo>
                  <a:cubicBezTo>
                    <a:pt x="3898994" y="279887"/>
                    <a:pt x="3893484" y="293189"/>
                    <a:pt x="3883677" y="302996"/>
                  </a:cubicBezTo>
                  <a:cubicBezTo>
                    <a:pt x="3873869" y="312803"/>
                    <a:pt x="3860567" y="318313"/>
                    <a:pt x="3846698" y="318313"/>
                  </a:cubicBezTo>
                  <a:lnTo>
                    <a:pt x="52296" y="318313"/>
                  </a:lnTo>
                  <a:cubicBezTo>
                    <a:pt x="38426" y="318313"/>
                    <a:pt x="25125" y="312803"/>
                    <a:pt x="15317" y="302996"/>
                  </a:cubicBezTo>
                  <a:cubicBezTo>
                    <a:pt x="5510" y="293189"/>
                    <a:pt x="0" y="279887"/>
                    <a:pt x="0" y="266017"/>
                  </a:cubicBezTo>
                  <a:lnTo>
                    <a:pt x="0" y="52296"/>
                  </a:lnTo>
                  <a:cubicBezTo>
                    <a:pt x="0" y="38426"/>
                    <a:pt x="5510" y="25125"/>
                    <a:pt x="15317" y="15317"/>
                  </a:cubicBezTo>
                  <a:cubicBezTo>
                    <a:pt x="25125" y="5510"/>
                    <a:pt x="38426" y="0"/>
                    <a:pt x="52296" y="0"/>
                  </a:cubicBezTo>
                  <a:close/>
                </a:path>
              </a:pathLst>
            </a:custGeom>
            <a:solidFill>
              <a:srgbClr val="F3F3F3"/>
            </a:solidFill>
            <a:ln w="9525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643836" y="4909639"/>
            <a:ext cx="11935017" cy="54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각 항목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마다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하나의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핵심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만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담아,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정보를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나누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어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명확하게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전달합니다.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43836" y="6315578"/>
            <a:ext cx="13052398" cy="54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아이콘,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넘버링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,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방향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표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요소를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활용해 내용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의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구조와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흐름을 시각적으로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드러냅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니다.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43836" y="7726680"/>
            <a:ext cx="11935017" cy="54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항목 간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간격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을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맞추고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정렬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을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정돈해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안정감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 레이아웃을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완성합</a:t>
            </a:r>
            <a:r>
              <a:rPr lang="en-US" b="true" sz="2799" spc="-97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니다.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2292170" y="5161874"/>
            <a:ext cx="170988" cy="130378"/>
          </a:xfrm>
          <a:custGeom>
            <a:avLst/>
            <a:gdLst/>
            <a:ahLst/>
            <a:cxnLst/>
            <a:rect r="r" b="b" t="t" l="l"/>
            <a:pathLst>
              <a:path h="130378" w="170988">
                <a:moveTo>
                  <a:pt x="0" y="0"/>
                </a:moveTo>
                <a:lnTo>
                  <a:pt x="170988" y="0"/>
                </a:lnTo>
                <a:lnTo>
                  <a:pt x="170988" y="130378"/>
                </a:lnTo>
                <a:lnTo>
                  <a:pt x="0" y="13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292170" y="6544673"/>
            <a:ext cx="170988" cy="130378"/>
          </a:xfrm>
          <a:custGeom>
            <a:avLst/>
            <a:gdLst/>
            <a:ahLst/>
            <a:cxnLst/>
            <a:rect r="r" b="b" t="t" l="l"/>
            <a:pathLst>
              <a:path h="130378" w="170988">
                <a:moveTo>
                  <a:pt x="0" y="0"/>
                </a:moveTo>
                <a:lnTo>
                  <a:pt x="170988" y="0"/>
                </a:lnTo>
                <a:lnTo>
                  <a:pt x="170988" y="130379"/>
                </a:lnTo>
                <a:lnTo>
                  <a:pt x="0" y="130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292170" y="7972343"/>
            <a:ext cx="170988" cy="130378"/>
          </a:xfrm>
          <a:custGeom>
            <a:avLst/>
            <a:gdLst/>
            <a:ahLst/>
            <a:cxnLst/>
            <a:rect r="r" b="b" t="t" l="l"/>
            <a:pathLst>
              <a:path h="130378" w="170988">
                <a:moveTo>
                  <a:pt x="0" y="0"/>
                </a:moveTo>
                <a:lnTo>
                  <a:pt x="170988" y="0"/>
                </a:lnTo>
                <a:lnTo>
                  <a:pt x="170988" y="130379"/>
                </a:lnTo>
                <a:lnTo>
                  <a:pt x="0" y="130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727405" y="3204177"/>
            <a:ext cx="4616418" cy="3622570"/>
            <a:chOff x="0" y="0"/>
            <a:chExt cx="721710" cy="5663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1710" cy="566336"/>
            </a:xfrm>
            <a:custGeom>
              <a:avLst/>
              <a:gdLst/>
              <a:ahLst/>
              <a:cxnLst/>
              <a:rect r="r" b="b" t="t" l="l"/>
              <a:pathLst>
                <a:path h="566336" w="721710">
                  <a:moveTo>
                    <a:pt x="0" y="0"/>
                  </a:moveTo>
                  <a:lnTo>
                    <a:pt x="721710" y="0"/>
                  </a:lnTo>
                  <a:lnTo>
                    <a:pt x="721710" y="566336"/>
                  </a:lnTo>
                  <a:lnTo>
                    <a:pt x="0" y="566336"/>
                  </a:lnTo>
                  <a:close/>
                </a:path>
              </a:pathLst>
            </a:custGeom>
            <a:blipFill>
              <a:blip r:embed="rId2"/>
              <a:stretch>
                <a:fillRect l="-18786" t="-16398" r="-34793" b="-14196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31055" y="3204177"/>
            <a:ext cx="4616418" cy="3622570"/>
            <a:chOff x="0" y="0"/>
            <a:chExt cx="721710" cy="566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1710" cy="566336"/>
            </a:xfrm>
            <a:custGeom>
              <a:avLst/>
              <a:gdLst/>
              <a:ahLst/>
              <a:cxnLst/>
              <a:rect r="r" b="b" t="t" l="l"/>
              <a:pathLst>
                <a:path h="566336" w="721710">
                  <a:moveTo>
                    <a:pt x="0" y="0"/>
                  </a:moveTo>
                  <a:lnTo>
                    <a:pt x="721710" y="0"/>
                  </a:lnTo>
                  <a:lnTo>
                    <a:pt x="721710" y="566336"/>
                  </a:lnTo>
                  <a:lnTo>
                    <a:pt x="0" y="566336"/>
                  </a:lnTo>
                  <a:close/>
                </a:path>
              </a:pathLst>
            </a:custGeom>
            <a:blipFill>
              <a:blip r:embed="rId3"/>
              <a:stretch>
                <a:fillRect l="-28736" t="-12462" r="-31076" b="-209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938015" y="3204177"/>
            <a:ext cx="4616418" cy="3622570"/>
            <a:chOff x="0" y="0"/>
            <a:chExt cx="721710" cy="566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1710" cy="566336"/>
            </a:xfrm>
            <a:custGeom>
              <a:avLst/>
              <a:gdLst/>
              <a:ahLst/>
              <a:cxnLst/>
              <a:rect r="r" b="b" t="t" l="l"/>
              <a:pathLst>
                <a:path h="566336" w="721710">
                  <a:moveTo>
                    <a:pt x="0" y="0"/>
                  </a:moveTo>
                  <a:lnTo>
                    <a:pt x="721710" y="0"/>
                  </a:lnTo>
                  <a:lnTo>
                    <a:pt x="721710" y="566336"/>
                  </a:lnTo>
                  <a:lnTo>
                    <a:pt x="0" y="566336"/>
                  </a:lnTo>
                  <a:close/>
                </a:path>
              </a:pathLst>
            </a:custGeom>
            <a:blipFill>
              <a:blip r:embed="rId4"/>
              <a:stretch>
                <a:fillRect l="-8960" t="0" r="-896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65340" y="1251957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사진 중심 앨범형 레이아웃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95006" y="7100239"/>
            <a:ext cx="4619183" cy="57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29"/>
              </a:lnSpc>
              <a:spcBef>
                <a:spcPct val="0"/>
              </a:spcBef>
            </a:pPr>
            <a:r>
              <a:rPr lang="en-US" b="true" sz="2999" spc="-104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이미지 강조형 정보 배열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62276" y="7100239"/>
            <a:ext cx="4619183" cy="571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29"/>
              </a:lnSpc>
              <a:spcBef>
                <a:spcPct val="0"/>
              </a:spcBef>
            </a:pPr>
            <a:r>
              <a:rPr lang="en-US" b="true" sz="2999" spc="-104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병렬 구조 정보 나열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29546" y="7100239"/>
            <a:ext cx="4619183" cy="571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29"/>
              </a:lnSpc>
              <a:spcBef>
                <a:spcPct val="0"/>
              </a:spcBef>
            </a:pPr>
            <a:r>
              <a:rPr lang="en-US" b="true" sz="2999" spc="-104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설명 중심 캡션 구성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55421" y="7875407"/>
            <a:ext cx="4588402" cy="78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하나의 슬라이드에 여러 이미지를 나열하여 다양한 정보를 한눈에 보여줍니다.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70876" y="7875407"/>
            <a:ext cx="4588402" cy="78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세 개의 박스가 좌우로 균등하게 배치되어 있어, 연속된 흐름 설명에 적합합니다.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44937" y="7875407"/>
            <a:ext cx="4588402" cy="78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사진 아래에 제목과 함께 짧은 설명을 추가해, 텍스트 정보를 조화롭게 전달합니다.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5340" y="1251957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카드형 콘텐츠 구성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47177" y="3204177"/>
            <a:ext cx="4767698" cy="5473192"/>
            <a:chOff x="0" y="0"/>
            <a:chExt cx="1362005" cy="15635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2005" cy="1563546"/>
            </a:xfrm>
            <a:custGeom>
              <a:avLst/>
              <a:gdLst/>
              <a:ahLst/>
              <a:cxnLst/>
              <a:rect r="r" b="b" t="t" l="l"/>
              <a:pathLst>
                <a:path h="1563546" w="1362005">
                  <a:moveTo>
                    <a:pt x="0" y="0"/>
                  </a:moveTo>
                  <a:lnTo>
                    <a:pt x="1362005" y="0"/>
                  </a:lnTo>
                  <a:lnTo>
                    <a:pt x="1362005" y="1563546"/>
                  </a:lnTo>
                  <a:lnTo>
                    <a:pt x="0" y="1563546"/>
                  </a:lnTo>
                  <a:close/>
                </a:path>
              </a:pathLst>
            </a:custGeom>
            <a:solidFill>
              <a:srgbClr val="EFF1F8"/>
            </a:solidFill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62005" cy="1611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78429" y="3204177"/>
            <a:ext cx="4767698" cy="5473192"/>
            <a:chOff x="0" y="0"/>
            <a:chExt cx="1362005" cy="15635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2005" cy="1563546"/>
            </a:xfrm>
            <a:custGeom>
              <a:avLst/>
              <a:gdLst/>
              <a:ahLst/>
              <a:cxnLst/>
              <a:rect r="r" b="b" t="t" l="l"/>
              <a:pathLst>
                <a:path h="1563546" w="1362005">
                  <a:moveTo>
                    <a:pt x="0" y="0"/>
                  </a:moveTo>
                  <a:lnTo>
                    <a:pt x="1362005" y="0"/>
                  </a:lnTo>
                  <a:lnTo>
                    <a:pt x="1362005" y="1563546"/>
                  </a:lnTo>
                  <a:lnTo>
                    <a:pt x="0" y="1563546"/>
                  </a:lnTo>
                  <a:close/>
                </a:path>
              </a:pathLst>
            </a:custGeom>
            <a:solidFill>
              <a:srgbClr val="F3F3F3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362005" cy="1620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9681" y="3204177"/>
            <a:ext cx="4767698" cy="5473192"/>
            <a:chOff x="0" y="0"/>
            <a:chExt cx="1362005" cy="15635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2005" cy="1563546"/>
            </a:xfrm>
            <a:custGeom>
              <a:avLst/>
              <a:gdLst/>
              <a:ahLst/>
              <a:cxnLst/>
              <a:rect r="r" b="b" t="t" l="l"/>
              <a:pathLst>
                <a:path h="1563546" w="1362005">
                  <a:moveTo>
                    <a:pt x="0" y="0"/>
                  </a:moveTo>
                  <a:lnTo>
                    <a:pt x="1362005" y="0"/>
                  </a:lnTo>
                  <a:lnTo>
                    <a:pt x="1362005" y="1563546"/>
                  </a:lnTo>
                  <a:lnTo>
                    <a:pt x="0" y="1563546"/>
                  </a:lnTo>
                  <a:close/>
                </a:path>
              </a:pathLst>
            </a:custGeom>
            <a:solidFill>
              <a:srgbClr val="EFF1F8"/>
            </a:solidFill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362005" cy="1611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401632" y="5786683"/>
            <a:ext cx="3458788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레이아웃은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브랜드나 조직을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처음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으로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소개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하는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장면에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활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용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되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는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구성으로,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로고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와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핵심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가치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설립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배경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브랜드의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방향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성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과 이미지를 직관적으로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전달할 수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도록 돕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습니다.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0985" y="5786683"/>
            <a:ext cx="3458788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기업이 제공하는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핵심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서비스나 제품을 간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단하게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전달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기에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적합한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입니다.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카드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한 장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마다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하나의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항목에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집중해 담고,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시각 요소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를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더해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내용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을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쉽고 빠르게 이해할 수 있도록 합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니다.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64136" y="5786683"/>
            <a:ext cx="3458788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정보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성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콘텐츠나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학습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자료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에서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중요한 내용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만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선별해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정리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하는 카드 구성입니다. 주제를 간단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히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구조화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하고, 핵심 문장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이나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주요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키워드를 강조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해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한눈에 요지를 파악할 수 있도록 </a:t>
            </a:r>
            <a:r>
              <a:rPr lang="en-US" sz="2000" spc="-70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합니다.</a:t>
            </a:r>
          </a:p>
        </p:txBody>
      </p:sp>
      <p:sp>
        <p:nvSpPr>
          <p:cNvPr name="TextBox 28" id="28"/>
          <p:cNvSpPr txBox="true"/>
          <p:nvPr/>
        </p:nvSpPr>
        <p:spPr>
          <a:xfrm rot="-18144">
            <a:off x="2404420" y="4639246"/>
            <a:ext cx="3452773" cy="102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</a:pPr>
            <a:r>
              <a:rPr lang="en-US" b="true" sz="3499" spc="-122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브랜드 설명용</a:t>
            </a:r>
          </a:p>
          <a:p>
            <a:pPr algn="l" marL="0" indent="0" lvl="0">
              <a:lnSpc>
                <a:spcPts val="4059"/>
              </a:lnSpc>
            </a:pPr>
            <a:r>
              <a:rPr lang="en-US" b="true" sz="3499" spc="-122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슬라이드</a:t>
            </a:r>
          </a:p>
        </p:txBody>
      </p:sp>
      <p:sp>
        <p:nvSpPr>
          <p:cNvPr name="TextBox 29" id="29"/>
          <p:cNvSpPr txBox="true"/>
          <p:nvPr/>
        </p:nvSpPr>
        <p:spPr>
          <a:xfrm rot="-18144">
            <a:off x="7423773" y="4639246"/>
            <a:ext cx="3452773" cy="10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9"/>
              </a:lnSpc>
              <a:spcBef>
                <a:spcPct val="0"/>
              </a:spcBef>
            </a:pPr>
            <a:r>
              <a:rPr lang="en-US" b="true" sz="3507" spc="-122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주요</a:t>
            </a:r>
            <a:r>
              <a:rPr lang="en-US" b="true" sz="3507" spc="-122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서비스</a:t>
            </a:r>
          </a:p>
          <a:p>
            <a:pPr algn="l" marL="0" indent="0" lvl="0">
              <a:lnSpc>
                <a:spcPts val="4069"/>
              </a:lnSpc>
              <a:spcBef>
                <a:spcPct val="0"/>
              </a:spcBef>
            </a:pPr>
            <a:r>
              <a:rPr lang="en-US" b="true" sz="3507" spc="-122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소개</a:t>
            </a:r>
            <a:r>
              <a:rPr lang="en-US" b="true" sz="3507" spc="-122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카</a:t>
            </a:r>
            <a:r>
              <a:rPr lang="en-US" b="true" sz="3507" spc="-122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드</a:t>
            </a:r>
          </a:p>
        </p:txBody>
      </p:sp>
      <p:sp>
        <p:nvSpPr>
          <p:cNvPr name="TextBox 30" id="30"/>
          <p:cNvSpPr txBox="true"/>
          <p:nvPr/>
        </p:nvSpPr>
        <p:spPr>
          <a:xfrm rot="-18144">
            <a:off x="12466924" y="4639246"/>
            <a:ext cx="3452773" cy="10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3507" spc="-122" b="tru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핵심 강조</a:t>
            </a:r>
          </a:p>
          <a:p>
            <a:pPr algn="l" marL="0" indent="0" lvl="0">
              <a:lnSpc>
                <a:spcPts val="4069"/>
              </a:lnSpc>
              <a:spcBef>
                <a:spcPct val="0"/>
              </a:spcBef>
            </a:pPr>
            <a:r>
              <a:rPr lang="en-US" b="true" sz="3507" spc="-122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정보 콘텐츠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401632" y="3826872"/>
            <a:ext cx="500690" cy="594291"/>
          </a:xfrm>
          <a:custGeom>
            <a:avLst/>
            <a:gdLst/>
            <a:ahLst/>
            <a:cxnLst/>
            <a:rect r="r" b="b" t="t" l="l"/>
            <a:pathLst>
              <a:path h="594291" w="500690">
                <a:moveTo>
                  <a:pt x="0" y="0"/>
                </a:moveTo>
                <a:lnTo>
                  <a:pt x="500690" y="0"/>
                </a:lnTo>
                <a:lnTo>
                  <a:pt x="500690" y="594290"/>
                </a:lnTo>
                <a:lnTo>
                  <a:pt x="0" y="594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464136" y="3826872"/>
            <a:ext cx="645092" cy="594291"/>
          </a:xfrm>
          <a:custGeom>
            <a:avLst/>
            <a:gdLst/>
            <a:ahLst/>
            <a:cxnLst/>
            <a:rect r="r" b="b" t="t" l="l"/>
            <a:pathLst>
              <a:path h="594291" w="645092">
                <a:moveTo>
                  <a:pt x="0" y="0"/>
                </a:moveTo>
                <a:lnTo>
                  <a:pt x="645092" y="0"/>
                </a:lnTo>
                <a:lnTo>
                  <a:pt x="645092" y="594290"/>
                </a:lnTo>
                <a:lnTo>
                  <a:pt x="0" y="594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420985" y="3826872"/>
            <a:ext cx="796370" cy="594291"/>
          </a:xfrm>
          <a:custGeom>
            <a:avLst/>
            <a:gdLst/>
            <a:ahLst/>
            <a:cxnLst/>
            <a:rect r="r" b="b" t="t" l="l"/>
            <a:pathLst>
              <a:path h="594291" w="796370">
                <a:moveTo>
                  <a:pt x="0" y="0"/>
                </a:moveTo>
                <a:lnTo>
                  <a:pt x="796369" y="0"/>
                </a:lnTo>
                <a:lnTo>
                  <a:pt x="796369" y="594290"/>
                </a:lnTo>
                <a:lnTo>
                  <a:pt x="0" y="5942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5340" y="1251957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원인과 결과가 있는 페이지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50441" y="3204177"/>
            <a:ext cx="7393559" cy="5473192"/>
            <a:chOff x="0" y="0"/>
            <a:chExt cx="1924217" cy="14244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4217" cy="1424430"/>
            </a:xfrm>
            <a:custGeom>
              <a:avLst/>
              <a:gdLst/>
              <a:ahLst/>
              <a:cxnLst/>
              <a:rect r="r" b="b" t="t" l="l"/>
              <a:pathLst>
                <a:path h="1424430" w="1924217">
                  <a:moveTo>
                    <a:pt x="0" y="0"/>
                  </a:moveTo>
                  <a:lnTo>
                    <a:pt x="1924217" y="0"/>
                  </a:lnTo>
                  <a:lnTo>
                    <a:pt x="1924217" y="1424430"/>
                  </a:lnTo>
                  <a:lnTo>
                    <a:pt x="0" y="1424430"/>
                  </a:lnTo>
                  <a:close/>
                </a:path>
              </a:pathLst>
            </a:custGeom>
            <a:solidFill>
              <a:srgbClr val="F3F3F3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26816" y="3204177"/>
            <a:ext cx="6127617" cy="5473192"/>
            <a:chOff x="0" y="0"/>
            <a:chExt cx="1526452" cy="13634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6452" cy="1363436"/>
            </a:xfrm>
            <a:custGeom>
              <a:avLst/>
              <a:gdLst/>
              <a:ahLst/>
              <a:cxnLst/>
              <a:rect r="r" b="b" t="t" l="l"/>
              <a:pathLst>
                <a:path h="1363436" w="1526452">
                  <a:moveTo>
                    <a:pt x="1526452" y="0"/>
                  </a:moveTo>
                  <a:lnTo>
                    <a:pt x="1526452" y="1363436"/>
                  </a:lnTo>
                  <a:lnTo>
                    <a:pt x="0" y="1363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1F8"/>
            </a:solidFill>
            <a:ln w="9525" cap="sq">
              <a:solidFill>
                <a:srgbClr val="465EC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26452" cy="1411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553575" y="5777253"/>
            <a:ext cx="539609" cy="491719"/>
          </a:xfrm>
          <a:custGeom>
            <a:avLst/>
            <a:gdLst/>
            <a:ahLst/>
            <a:cxnLst/>
            <a:rect r="r" b="b" t="t" l="l"/>
            <a:pathLst>
              <a:path h="491719" w="539609">
                <a:moveTo>
                  <a:pt x="0" y="0"/>
                </a:moveTo>
                <a:lnTo>
                  <a:pt x="539609" y="0"/>
                </a:lnTo>
                <a:lnTo>
                  <a:pt x="539609" y="491719"/>
                </a:lnTo>
                <a:lnTo>
                  <a:pt x="0" y="491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070421" y="3644687"/>
            <a:ext cx="4524838" cy="8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문제가 발생한 배경 중 외부 환경이나 제도적 요인을 설명하는 카드입니다.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70421" y="5455102"/>
            <a:ext cx="4524838" cy="8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내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부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시스템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이나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조직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구조에서 비롯된 원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인을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정리합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니다.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70421" y="7230796"/>
            <a:ext cx="4524838" cy="87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개인 또는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팀의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행동,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선택,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역량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등으로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발생한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원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인을 설명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합</a:t>
            </a: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니다.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264046" y="3783861"/>
            <a:ext cx="1392300" cy="674696"/>
            <a:chOff x="0" y="0"/>
            <a:chExt cx="346873" cy="168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6873" cy="168092"/>
            </a:xfrm>
            <a:custGeom>
              <a:avLst/>
              <a:gdLst/>
              <a:ahLst/>
              <a:cxnLst/>
              <a:rect r="r" b="b" t="t" l="l"/>
              <a:pathLst>
                <a:path h="168092" w="346873">
                  <a:moveTo>
                    <a:pt x="0" y="0"/>
                  </a:moveTo>
                  <a:lnTo>
                    <a:pt x="346873" y="0"/>
                  </a:lnTo>
                  <a:lnTo>
                    <a:pt x="346873" y="168092"/>
                  </a:lnTo>
                  <a:lnTo>
                    <a:pt x="0" y="168092"/>
                  </a:lnTo>
                  <a:close/>
                </a:path>
              </a:pathLst>
            </a:custGeom>
            <a:solidFill>
              <a:srgbClr val="939393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264046" y="5594276"/>
            <a:ext cx="1392300" cy="674696"/>
            <a:chOff x="0" y="0"/>
            <a:chExt cx="346873" cy="1680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6873" cy="168092"/>
            </a:xfrm>
            <a:custGeom>
              <a:avLst/>
              <a:gdLst/>
              <a:ahLst/>
              <a:cxnLst/>
              <a:rect r="r" b="b" t="t" l="l"/>
              <a:pathLst>
                <a:path h="168092" w="346873">
                  <a:moveTo>
                    <a:pt x="0" y="0"/>
                  </a:moveTo>
                  <a:lnTo>
                    <a:pt x="346873" y="0"/>
                  </a:lnTo>
                  <a:lnTo>
                    <a:pt x="346873" y="168092"/>
                  </a:lnTo>
                  <a:lnTo>
                    <a:pt x="0" y="168092"/>
                  </a:lnTo>
                  <a:close/>
                </a:path>
              </a:pathLst>
            </a:custGeom>
            <a:solidFill>
              <a:srgbClr val="939393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264046" y="7369970"/>
            <a:ext cx="1392300" cy="674696"/>
            <a:chOff x="0" y="0"/>
            <a:chExt cx="346873" cy="168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6873" cy="168092"/>
            </a:xfrm>
            <a:custGeom>
              <a:avLst/>
              <a:gdLst/>
              <a:ahLst/>
              <a:cxnLst/>
              <a:rect r="r" b="b" t="t" l="l"/>
              <a:pathLst>
                <a:path h="168092" w="346873">
                  <a:moveTo>
                    <a:pt x="0" y="0"/>
                  </a:moveTo>
                  <a:lnTo>
                    <a:pt x="346873" y="0"/>
                  </a:lnTo>
                  <a:lnTo>
                    <a:pt x="346873" y="168092"/>
                  </a:lnTo>
                  <a:lnTo>
                    <a:pt x="0" y="168092"/>
                  </a:lnTo>
                  <a:close/>
                </a:path>
              </a:pathLst>
            </a:custGeom>
            <a:solidFill>
              <a:srgbClr val="939393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44575" y="3430996"/>
            <a:ext cx="5692099" cy="1030319"/>
            <a:chOff x="0" y="0"/>
            <a:chExt cx="1417977" cy="25666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17977" cy="256666"/>
            </a:xfrm>
            <a:custGeom>
              <a:avLst/>
              <a:gdLst/>
              <a:ahLst/>
              <a:cxnLst/>
              <a:rect r="r" b="b" t="t" l="l"/>
              <a:pathLst>
                <a:path h="256666" w="1417977">
                  <a:moveTo>
                    <a:pt x="0" y="0"/>
                  </a:moveTo>
                  <a:lnTo>
                    <a:pt x="1417977" y="0"/>
                  </a:lnTo>
                  <a:lnTo>
                    <a:pt x="1417977" y="256666"/>
                  </a:lnTo>
                  <a:lnTo>
                    <a:pt x="0" y="256666"/>
                  </a:lnTo>
                  <a:close/>
                </a:path>
              </a:pathLst>
            </a:custGeom>
            <a:solidFill>
              <a:srgbClr val="465ECA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417977" cy="313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-18144">
            <a:off x="2397359" y="3836592"/>
            <a:ext cx="1125105" cy="44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3"/>
              </a:lnSpc>
              <a:spcBef>
                <a:spcPct val="0"/>
              </a:spcBef>
            </a:pPr>
            <a:r>
              <a:rPr lang="en-US" b="true" sz="2300" spc="-80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 1</a:t>
            </a:r>
          </a:p>
        </p:txBody>
      </p:sp>
      <p:sp>
        <p:nvSpPr>
          <p:cNvPr name="TextBox 39" id="39"/>
          <p:cNvSpPr txBox="true"/>
          <p:nvPr/>
        </p:nvSpPr>
        <p:spPr>
          <a:xfrm rot="-18144">
            <a:off x="2397359" y="5647007"/>
            <a:ext cx="1125105" cy="44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3"/>
              </a:lnSpc>
              <a:spcBef>
                <a:spcPct val="0"/>
              </a:spcBef>
            </a:pPr>
            <a:r>
              <a:rPr lang="en-US" b="true" sz="2300" spc="-80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 2</a:t>
            </a:r>
          </a:p>
        </p:txBody>
      </p:sp>
      <p:sp>
        <p:nvSpPr>
          <p:cNvPr name="TextBox 40" id="40"/>
          <p:cNvSpPr txBox="true"/>
          <p:nvPr/>
        </p:nvSpPr>
        <p:spPr>
          <a:xfrm rot="-18144">
            <a:off x="2397359" y="7422701"/>
            <a:ext cx="1125105" cy="44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3"/>
              </a:lnSpc>
              <a:spcBef>
                <a:spcPct val="0"/>
              </a:spcBef>
            </a:pPr>
            <a:r>
              <a:rPr lang="en-US" b="true" sz="2300" spc="-80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 3</a:t>
            </a:r>
          </a:p>
        </p:txBody>
      </p:sp>
      <p:sp>
        <p:nvSpPr>
          <p:cNvPr name="TextBox 41" id="41"/>
          <p:cNvSpPr txBox="true"/>
          <p:nvPr/>
        </p:nvSpPr>
        <p:spPr>
          <a:xfrm rot="-18144">
            <a:off x="12483693" y="3611248"/>
            <a:ext cx="1828986" cy="54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87321" y="4936499"/>
            <a:ext cx="4806608" cy="31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여러 원인이 모여 하나의 결과를 만들어내는 흐름을 보여주는 레이아웃입니다.</a:t>
            </a:r>
          </a:p>
          <a:p>
            <a:pPr algn="ctr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세 가지 원인이 종합적으로 작용해 나타난</a:t>
            </a:r>
          </a:p>
          <a:p>
            <a:pPr algn="ctr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하나의 결과를 제시하는 카드입니다.</a:t>
            </a:r>
          </a:p>
          <a:p>
            <a:pPr algn="ctr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이 결과는 앞선 원인들과 시각적으로 연결되어 인과관계를 쉽게 이해할 수 있도록</a:t>
            </a:r>
          </a:p>
          <a:p>
            <a:pPr algn="ctr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199" spc="-76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설계합니다.</a:t>
            </a:r>
          </a:p>
        </p:txBody>
      </p:sp>
      <p:sp>
        <p:nvSpPr>
          <p:cNvPr name="AutoShape 43" id="43"/>
          <p:cNvSpPr/>
          <p:nvPr/>
        </p:nvSpPr>
        <p:spPr>
          <a:xfrm flipV="true">
            <a:off x="2130626" y="5031749"/>
            <a:ext cx="6633190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V="true">
            <a:off x="2130626" y="6849796"/>
            <a:ext cx="6633190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5340" y="1251957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시간의 흐름 구성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724293" y="6016925"/>
            <a:ext cx="14853086" cy="0"/>
          </a:xfrm>
          <a:prstGeom prst="line">
            <a:avLst/>
          </a:prstGeom>
          <a:ln cap="rnd" w="19050">
            <a:solidFill>
              <a:srgbClr val="A6A6A6">
                <a:alpha val="3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224571" y="6375796"/>
            <a:ext cx="3032617" cy="11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프로젝트의 전반적인 계획과 준비 작업을 수행하는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단계입니다.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3443" y="4497739"/>
            <a:ext cx="4298523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3"/>
              </a:lnSpc>
              <a:spcBef>
                <a:spcPct val="0"/>
              </a:spcBef>
            </a:pPr>
            <a:r>
              <a:rPr lang="en-US" b="true" sz="3399" spc="-118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</a:t>
            </a:r>
          </a:p>
          <a:p>
            <a:pPr algn="ctr" marL="0" indent="0" lvl="0">
              <a:lnSpc>
                <a:spcPts val="3943"/>
              </a:lnSpc>
              <a:spcBef>
                <a:spcPct val="0"/>
              </a:spcBef>
            </a:pPr>
            <a:r>
              <a:rPr lang="en-US" b="true" sz="3399" spc="-118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계획 및 준비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502024" y="5905705"/>
            <a:ext cx="222441" cy="22244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65EC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92252" y="7878841"/>
            <a:ext cx="3841985" cy="2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b="true" sz="2180">
                <a:solidFill>
                  <a:srgbClr val="9A9A9A"/>
                </a:solidFill>
                <a:latin typeface="코어 고딕 E Semi-Bold"/>
                <a:ea typeface="코어 고딕 E Semi-Bold"/>
                <a:cs typeface="코어 고딕 E Semi-Bold"/>
                <a:sym typeface="코어 고딕 E Semi-Bold"/>
              </a:rPr>
              <a:t>06.01 - 06.15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305486" y="3422989"/>
            <a:ext cx="665859" cy="790337"/>
          </a:xfrm>
          <a:custGeom>
            <a:avLst/>
            <a:gdLst/>
            <a:ahLst/>
            <a:cxnLst/>
            <a:rect r="r" b="b" t="t" l="l"/>
            <a:pathLst>
              <a:path h="790337" w="665859">
                <a:moveTo>
                  <a:pt x="0" y="0"/>
                </a:moveTo>
                <a:lnTo>
                  <a:pt x="665859" y="0"/>
                </a:lnTo>
                <a:lnTo>
                  <a:pt x="665859" y="790336"/>
                </a:lnTo>
                <a:lnTo>
                  <a:pt x="0" y="790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979005" y="6375796"/>
            <a:ext cx="3032617" cy="11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광고 카피 작성, 그래픽 디자인, 동영상 제작, 웹사이트 및 랜딩 페이지 개발 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97877" y="4497739"/>
            <a:ext cx="4298523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3"/>
              </a:lnSpc>
              <a:spcBef>
                <a:spcPct val="0"/>
              </a:spcBef>
            </a:pPr>
            <a:r>
              <a:rPr lang="en-US" b="true" sz="3399" spc="-118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콘텐츠 개발 및</a:t>
            </a:r>
          </a:p>
          <a:p>
            <a:pPr algn="ctr" marL="0" indent="0" lvl="0">
              <a:lnSpc>
                <a:spcPts val="3943"/>
              </a:lnSpc>
              <a:spcBef>
                <a:spcPct val="0"/>
              </a:spcBef>
            </a:pPr>
            <a:r>
              <a:rPr lang="en-US" b="true" sz="3399" spc="-118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디자인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256458" y="5905705"/>
            <a:ext cx="222441" cy="22244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65EC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446686" y="7878841"/>
            <a:ext cx="3841985" cy="2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b="true" sz="2180">
                <a:solidFill>
                  <a:srgbClr val="9A9A9A"/>
                </a:solidFill>
                <a:latin typeface="코어 고딕 E Semi-Bold"/>
                <a:ea typeface="코어 고딕 E Semi-Bold"/>
                <a:cs typeface="코어 고딕 E Semi-Bold"/>
                <a:sym typeface="코어 고딕 E Semi-Bold"/>
              </a:rPr>
              <a:t>06.20 - 07.02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33439" y="6375796"/>
            <a:ext cx="3032617" cy="11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실시간으로 성과를 모니터링하고 필요할 경우 즉각적인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수정 작업을 진행합니다.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52312" y="4497739"/>
            <a:ext cx="4298523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3"/>
              </a:lnSpc>
              <a:spcBef>
                <a:spcPct val="0"/>
              </a:spcBef>
            </a:pPr>
            <a:r>
              <a:rPr lang="en-US" b="true" sz="3399" spc="-118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실행 및</a:t>
            </a:r>
          </a:p>
          <a:p>
            <a:pPr algn="ctr" marL="0" indent="0" lvl="0">
              <a:lnSpc>
                <a:spcPts val="3943"/>
              </a:lnSpc>
              <a:spcBef>
                <a:spcPct val="0"/>
              </a:spcBef>
            </a:pPr>
            <a:r>
              <a:rPr lang="en-US" b="true" sz="3399" spc="-118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배포작업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10892" y="5905705"/>
            <a:ext cx="222441" cy="22244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65EC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201120" y="7878841"/>
            <a:ext cx="3841985" cy="2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b="true" sz="2180">
                <a:solidFill>
                  <a:srgbClr val="9A9A9A"/>
                </a:solidFill>
                <a:latin typeface="코어 고딕 E Semi-Bold"/>
                <a:ea typeface="코어 고딕 E Semi-Bold"/>
                <a:cs typeface="코어 고딕 E Semi-Bold"/>
                <a:sym typeface="코어 고딕 E Semi-Bold"/>
              </a:rPr>
              <a:t>07.10 - 07.20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87874" y="6375796"/>
            <a:ext cx="3032617" cy="11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KPI(핵심 성과 지표)를 분석하고, 캠페인의 성공 여부를</a:t>
            </a:r>
          </a:p>
          <a:p>
            <a:pPr algn="ctr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pc="-73" strike="noStrike" u="none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판단합니다.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06746" y="4497739"/>
            <a:ext cx="4298523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3"/>
              </a:lnSpc>
              <a:spcBef>
                <a:spcPct val="0"/>
              </a:spcBef>
            </a:pPr>
            <a:r>
              <a:rPr lang="en-US" b="true" sz="3399" spc="-118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최종평가 및</a:t>
            </a:r>
          </a:p>
          <a:p>
            <a:pPr algn="ctr" marL="0" indent="0" lvl="0">
              <a:lnSpc>
                <a:spcPts val="3943"/>
              </a:lnSpc>
              <a:spcBef>
                <a:spcPct val="0"/>
              </a:spcBef>
            </a:pPr>
            <a:r>
              <a:rPr lang="en-US" b="true" sz="3399" spc="-118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피드백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765327" y="5905705"/>
            <a:ext cx="222441" cy="22244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65ECA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955554" y="7878841"/>
            <a:ext cx="3841985" cy="28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b="true" sz="2180">
                <a:solidFill>
                  <a:srgbClr val="9A9A9A"/>
                </a:solidFill>
                <a:latin typeface="코어 고딕 E Semi-Bold"/>
                <a:ea typeface="코어 고딕 E Semi-Bold"/>
                <a:cs typeface="코어 고딕 E Semi-Bold"/>
                <a:sym typeface="코어 고딕 E Semi-Bold"/>
              </a:rPr>
              <a:t>07.25 - 08.01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938731" y="3422989"/>
            <a:ext cx="857896" cy="790337"/>
          </a:xfrm>
          <a:custGeom>
            <a:avLst/>
            <a:gdLst/>
            <a:ahLst/>
            <a:cxnLst/>
            <a:rect r="r" b="b" t="t" l="l"/>
            <a:pathLst>
              <a:path h="790337" w="857896">
                <a:moveTo>
                  <a:pt x="0" y="0"/>
                </a:moveTo>
                <a:lnTo>
                  <a:pt x="857895" y="0"/>
                </a:lnTo>
                <a:lnTo>
                  <a:pt x="857895" y="790336"/>
                </a:lnTo>
                <a:lnTo>
                  <a:pt x="0" y="7903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4520315" y="3422989"/>
            <a:ext cx="683641" cy="790337"/>
          </a:xfrm>
          <a:custGeom>
            <a:avLst/>
            <a:gdLst/>
            <a:ahLst/>
            <a:cxnLst/>
            <a:rect r="r" b="b" t="t" l="l"/>
            <a:pathLst>
              <a:path h="790337" w="683641">
                <a:moveTo>
                  <a:pt x="0" y="0"/>
                </a:moveTo>
                <a:lnTo>
                  <a:pt x="683641" y="0"/>
                </a:lnTo>
                <a:lnTo>
                  <a:pt x="683641" y="790336"/>
                </a:lnTo>
                <a:lnTo>
                  <a:pt x="0" y="790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10592574" y="3422989"/>
            <a:ext cx="1059077" cy="790337"/>
          </a:xfrm>
          <a:custGeom>
            <a:avLst/>
            <a:gdLst/>
            <a:ahLst/>
            <a:cxnLst/>
            <a:rect r="r" b="b" t="t" l="l"/>
            <a:pathLst>
              <a:path h="790337" w="1059077">
                <a:moveTo>
                  <a:pt x="0" y="0"/>
                </a:moveTo>
                <a:lnTo>
                  <a:pt x="1059077" y="0"/>
                </a:lnTo>
                <a:lnTo>
                  <a:pt x="1059077" y="790336"/>
                </a:lnTo>
                <a:lnTo>
                  <a:pt x="0" y="7903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20872" y="1261482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정돈된 정보전달 표 구성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740690" y="3204177"/>
          <a:ext cx="14813743" cy="5473192"/>
        </p:xfrm>
        <a:graphic>
          <a:graphicData uri="http://schemas.openxmlformats.org/drawingml/2006/table">
            <a:tbl>
              <a:tblPr/>
              <a:tblGrid>
                <a:gridCol w="2554431"/>
                <a:gridCol w="3597646"/>
                <a:gridCol w="4029996"/>
                <a:gridCol w="4631669"/>
              </a:tblGrid>
              <a:tr h="912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15"/>
                        </a:lnSpc>
                        <a:defRPr/>
                      </a:pPr>
                      <a:r>
                        <a:rPr lang="en-US" b="true" sz="2431" spc="-121">
                          <a:solidFill>
                            <a:srgbClr val="465ECA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고객군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15"/>
                        </a:lnSpc>
                        <a:defRPr/>
                      </a:pPr>
                      <a:r>
                        <a:rPr lang="en-US" b="true" sz="2431" spc="-121">
                          <a:solidFill>
                            <a:srgbClr val="465ECA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주요특징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15"/>
                        </a:lnSpc>
                        <a:defRPr/>
                      </a:pPr>
                      <a:r>
                        <a:rPr lang="en-US" b="true" sz="2431" spc="-121">
                          <a:solidFill>
                            <a:srgbClr val="465ECA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핵심니즈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15"/>
                        </a:lnSpc>
                        <a:defRPr/>
                      </a:pPr>
                      <a:r>
                        <a:rPr lang="en-US" b="true" sz="2431" spc="-121">
                          <a:solidFill>
                            <a:srgbClr val="465ECA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전략적 접근법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</a:tr>
              <a:tr h="912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true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 A 타깃군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20-30대 디지털 네이티브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빠른 정보 습득, 소셜 미디어 활동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SNS 중심의 빠르고 트렌디한 정보 제공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2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true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B 타깃군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30-40대 직장인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신뢰도, 효율적 의사결정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전문 콘텐츠, 객관적 정보 제공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2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true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C 타깃군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40-50대 안정추구형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브랜드 충성도, 가격 대비 가치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충성 고객 프로그램 확대, 맞춤형 혜택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2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true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D 타깃군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50-60대 중장년층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간편함, 명확한 정보 전달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접근성 높고 사용 편의성 강조한 서비스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2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true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E 타깃군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10대 후반~20대 초반 청년층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최신 트렌드, 창의적 경험 추구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참여형 이벤트, 체험 중심 콘텐츠 제공</a:t>
                      </a:r>
                      <a:endParaRPr lang="en-US" sz="1100"/>
                    </a:p>
                  </a:txBody>
                  <a:tcPr marL="193111" marR="193111" marT="193111" marB="193111" anchor="ctr">
                    <a:lnL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656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 flipV="true">
            <a:off x="1339698" y="2403036"/>
            <a:ext cx="15608605" cy="0"/>
          </a:xfrm>
          <a:prstGeom prst="line">
            <a:avLst/>
          </a:prstGeom>
          <a:ln cap="flat" w="19050">
            <a:solidFill>
              <a:srgbClr val="333333">
                <a:alpha val="1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13952" y="1474305"/>
            <a:ext cx="2819734" cy="18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"/>
              </a:lnSpc>
            </a:pPr>
            <a:r>
              <a:rPr lang="en-US" sz="1500" spc="54" b="true">
                <a:solidFill>
                  <a:srgbClr val="FCFC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CHAPTER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20872" y="1261482"/>
            <a:ext cx="12560497" cy="71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5352" spc="-10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카드형 정보요약 구성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50441" y="3204177"/>
            <a:ext cx="7353346" cy="2691392"/>
            <a:chOff x="0" y="0"/>
            <a:chExt cx="533001" cy="1950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001" cy="195083"/>
            </a:xfrm>
            <a:custGeom>
              <a:avLst/>
              <a:gdLst/>
              <a:ahLst/>
              <a:cxnLst/>
              <a:rect r="r" b="b" t="t" l="l"/>
              <a:pathLst>
                <a:path h="195083" w="533001">
                  <a:moveTo>
                    <a:pt x="0" y="0"/>
                  </a:moveTo>
                  <a:lnTo>
                    <a:pt x="533001" y="0"/>
                  </a:lnTo>
                  <a:lnTo>
                    <a:pt x="533001" y="195083"/>
                  </a:lnTo>
                  <a:lnTo>
                    <a:pt x="0" y="195083"/>
                  </a:lnTo>
                  <a:close/>
                </a:path>
              </a:pathLst>
            </a:custGeom>
            <a:solidFill>
              <a:srgbClr val="F3F3F3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anchor="ctr" rtlCol="false" tIns="37850" lIns="37850" bIns="37850" rIns="3785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50441" y="5985976"/>
            <a:ext cx="7353346" cy="2691392"/>
            <a:chOff x="0" y="0"/>
            <a:chExt cx="533001" cy="1950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001" cy="195083"/>
            </a:xfrm>
            <a:custGeom>
              <a:avLst/>
              <a:gdLst/>
              <a:ahLst/>
              <a:cxnLst/>
              <a:rect r="r" b="b" t="t" l="l"/>
              <a:pathLst>
                <a:path h="195083" w="533001">
                  <a:moveTo>
                    <a:pt x="0" y="0"/>
                  </a:moveTo>
                  <a:lnTo>
                    <a:pt x="533001" y="0"/>
                  </a:lnTo>
                  <a:lnTo>
                    <a:pt x="533001" y="195083"/>
                  </a:lnTo>
                  <a:lnTo>
                    <a:pt x="0" y="195083"/>
                  </a:lnTo>
                  <a:close/>
                </a:path>
              </a:pathLst>
            </a:custGeom>
            <a:solidFill>
              <a:srgbClr val="F3F3F3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anchor="ctr" rtlCol="false" tIns="37850" lIns="37850" bIns="37850" rIns="3785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11573" y="3204177"/>
            <a:ext cx="7353346" cy="2691392"/>
            <a:chOff x="0" y="0"/>
            <a:chExt cx="533001" cy="1950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001" cy="195083"/>
            </a:xfrm>
            <a:custGeom>
              <a:avLst/>
              <a:gdLst/>
              <a:ahLst/>
              <a:cxnLst/>
              <a:rect r="r" b="b" t="t" l="l"/>
              <a:pathLst>
                <a:path h="195083" w="533001">
                  <a:moveTo>
                    <a:pt x="0" y="0"/>
                  </a:moveTo>
                  <a:lnTo>
                    <a:pt x="533001" y="0"/>
                  </a:lnTo>
                  <a:lnTo>
                    <a:pt x="533001" y="195083"/>
                  </a:lnTo>
                  <a:lnTo>
                    <a:pt x="0" y="195083"/>
                  </a:lnTo>
                  <a:close/>
                </a:path>
              </a:pathLst>
            </a:custGeom>
            <a:solidFill>
              <a:srgbClr val="F3F3F3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anchor="ctr" rtlCol="false" tIns="37850" lIns="37850" bIns="37850" rIns="3785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11573" y="5985976"/>
            <a:ext cx="7353346" cy="2691392"/>
            <a:chOff x="0" y="0"/>
            <a:chExt cx="533001" cy="1950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3001" cy="195083"/>
            </a:xfrm>
            <a:custGeom>
              <a:avLst/>
              <a:gdLst/>
              <a:ahLst/>
              <a:cxnLst/>
              <a:rect r="r" b="b" t="t" l="l"/>
              <a:pathLst>
                <a:path h="195083" w="533001">
                  <a:moveTo>
                    <a:pt x="0" y="0"/>
                  </a:moveTo>
                  <a:lnTo>
                    <a:pt x="533001" y="0"/>
                  </a:lnTo>
                  <a:lnTo>
                    <a:pt x="533001" y="195083"/>
                  </a:lnTo>
                  <a:lnTo>
                    <a:pt x="0" y="195083"/>
                  </a:lnTo>
                  <a:close/>
                </a:path>
              </a:pathLst>
            </a:custGeom>
            <a:solidFill>
              <a:srgbClr val="F3F3F3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anchor="ctr" rtlCol="false" tIns="37850" lIns="37850" bIns="37850" rIns="3785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870437" y="3585930"/>
            <a:ext cx="4045246" cy="49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7"/>
              </a:lnSpc>
              <a:spcBef>
                <a:spcPct val="0"/>
              </a:spcBef>
            </a:pPr>
            <a:r>
              <a:rPr lang="en-US" b="true" sz="3299" spc="-115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및 목표 정의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70437" y="6367730"/>
            <a:ext cx="4045246" cy="49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7"/>
              </a:lnSpc>
              <a:spcBef>
                <a:spcPct val="0"/>
              </a:spcBef>
            </a:pPr>
            <a:r>
              <a:rPr lang="en-US" b="true" sz="3299" spc="-115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실행 및 관리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31569" y="3585930"/>
            <a:ext cx="4045246" cy="49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7"/>
              </a:lnSpc>
              <a:spcBef>
                <a:spcPct val="0"/>
              </a:spcBef>
            </a:pPr>
            <a:r>
              <a:rPr lang="en-US" b="true" sz="3299" spc="-115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효과적 전략 수립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31569" y="6367730"/>
            <a:ext cx="4045246" cy="49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7"/>
              </a:lnSpc>
              <a:spcBef>
                <a:spcPct val="0"/>
              </a:spcBef>
            </a:pPr>
            <a:r>
              <a:rPr lang="en-US" b="true" sz="3299" spc="-115" strike="noStrike" u="none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개선 및 최적화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92399" y="4570447"/>
            <a:ext cx="6175912" cy="81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고객의 비즈니스 목표와 현황을 정확히 파악하고, 해결해야 할 문제점을 명확하게 정의합니다.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92399" y="7352246"/>
            <a:ext cx="6175912" cy="81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sz="2050" spc="-7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수립된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전략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을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실행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하고,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성과를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지속적으로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모니터링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며 개선합니다.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최상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의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결과를 얻도록 노력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합니다.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53531" y="4570447"/>
            <a:ext cx="6175912" cy="81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sz="2050" spc="-7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문제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해결을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위한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맞춤형 전략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을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수립합니다. 데이터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분석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경쟁 분석등을 통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해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효과적인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전략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을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도출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합니다.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53531" y="7352246"/>
            <a:ext cx="6175912" cy="81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sz="2050" spc="-7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맞춤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전략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적용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후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성과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분석을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통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해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캠페인을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지속적으로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개선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최적화</a:t>
            </a:r>
            <a:r>
              <a:rPr lang="en-US" sz="2050" spc="-71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합니다.</a:t>
            </a:r>
          </a:p>
        </p:txBody>
      </p:sp>
      <p:sp>
        <p:nvSpPr>
          <p:cNvPr name="AutoShape 36" id="36"/>
          <p:cNvSpPr/>
          <p:nvPr/>
        </p:nvSpPr>
        <p:spPr>
          <a:xfrm>
            <a:off x="2167497" y="4356134"/>
            <a:ext cx="6711633" cy="0"/>
          </a:xfrm>
          <a:prstGeom prst="line">
            <a:avLst/>
          </a:prstGeom>
          <a:ln cap="rnd" w="9525">
            <a:solidFill>
              <a:srgbClr val="BDBD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2167497" y="7137934"/>
            <a:ext cx="6711633" cy="0"/>
          </a:xfrm>
          <a:prstGeom prst="line">
            <a:avLst/>
          </a:prstGeom>
          <a:ln cap="rnd" w="9525">
            <a:solidFill>
              <a:srgbClr val="BDBD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9628629" y="4356134"/>
            <a:ext cx="6711633" cy="0"/>
          </a:xfrm>
          <a:prstGeom prst="line">
            <a:avLst/>
          </a:prstGeom>
          <a:ln cap="rnd" w="9525">
            <a:solidFill>
              <a:srgbClr val="BDBD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9628629" y="7137934"/>
            <a:ext cx="6711633" cy="0"/>
          </a:xfrm>
          <a:prstGeom prst="line">
            <a:avLst/>
          </a:prstGeom>
          <a:ln cap="rnd" w="9525">
            <a:solidFill>
              <a:srgbClr val="BDBD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2327684" y="3624844"/>
            <a:ext cx="409905" cy="423145"/>
            <a:chOff x="0" y="0"/>
            <a:chExt cx="787368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7368" cy="812800"/>
            </a:xfrm>
            <a:custGeom>
              <a:avLst/>
              <a:gdLst/>
              <a:ahLst/>
              <a:cxnLst/>
              <a:rect r="r" b="b" t="t" l="l"/>
              <a:pathLst>
                <a:path h="812800" w="787368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465ECA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327684" y="6406644"/>
            <a:ext cx="409905" cy="423145"/>
            <a:chOff x="0" y="0"/>
            <a:chExt cx="787368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7368" cy="812800"/>
            </a:xfrm>
            <a:custGeom>
              <a:avLst/>
              <a:gdLst/>
              <a:ahLst/>
              <a:cxnLst/>
              <a:rect r="r" b="b" t="t" l="l"/>
              <a:pathLst>
                <a:path h="812800" w="787368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465ECA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88815" y="3624844"/>
            <a:ext cx="409905" cy="423145"/>
            <a:chOff x="0" y="0"/>
            <a:chExt cx="787368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87368" cy="812800"/>
            </a:xfrm>
            <a:custGeom>
              <a:avLst/>
              <a:gdLst/>
              <a:ahLst/>
              <a:cxnLst/>
              <a:rect r="r" b="b" t="t" l="l"/>
              <a:pathLst>
                <a:path h="812800" w="787368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465ECA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88815" y="6406644"/>
            <a:ext cx="409905" cy="423145"/>
            <a:chOff x="0" y="0"/>
            <a:chExt cx="787368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87368" cy="812800"/>
            </a:xfrm>
            <a:custGeom>
              <a:avLst/>
              <a:gdLst/>
              <a:ahLst/>
              <a:cxnLst/>
              <a:rect r="r" b="b" t="t" l="l"/>
              <a:pathLst>
                <a:path h="812800" w="787368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465ECA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300413" y="3770136"/>
            <a:ext cx="464446" cy="18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b="true" sz="1530" spc="11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300413" y="6551936"/>
            <a:ext cx="464446" cy="18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b="true" sz="1530" spc="11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61545" y="3770136"/>
            <a:ext cx="464446" cy="18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b="true" sz="1530" spc="11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61545" y="6551936"/>
            <a:ext cx="464446" cy="18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b="true" sz="1530" spc="11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075" y="572075"/>
            <a:ext cx="17512094" cy="9266676"/>
            <a:chOff x="0" y="0"/>
            <a:chExt cx="23349458" cy="1235556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5100" y="165100"/>
              <a:ext cx="22858467" cy="12190467"/>
              <a:chOff x="0" y="0"/>
              <a:chExt cx="4515253" cy="240799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E1E1E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351234" y="407240"/>
              <a:ext cx="998224" cy="1237657"/>
              <a:chOff x="0" y="0"/>
              <a:chExt cx="115988" cy="1438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465ECA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2351234" y="1765957"/>
              <a:ext cx="998224" cy="1237657"/>
              <a:chOff x="0" y="0"/>
              <a:chExt cx="115988" cy="1438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988" cy="143809"/>
              </a:xfrm>
              <a:custGeom>
                <a:avLst/>
                <a:gdLst/>
                <a:ahLst/>
                <a:cxnLst/>
                <a:rect r="r" b="b" t="t" l="l"/>
                <a:pathLst>
                  <a:path h="143809" w="115988">
                    <a:moveTo>
                      <a:pt x="0" y="0"/>
                    </a:moveTo>
                    <a:lnTo>
                      <a:pt x="115988" y="0"/>
                    </a:lnTo>
                    <a:lnTo>
                      <a:pt x="115988" y="143809"/>
                    </a:lnTo>
                    <a:lnTo>
                      <a:pt x="0" y="143809"/>
                    </a:lnTo>
                    <a:close/>
                  </a:path>
                </a:pathLst>
              </a:custGeom>
              <a:solidFill>
                <a:srgbClr val="A1A1A1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2858467" cy="12190467"/>
              <a:chOff x="0" y="0"/>
              <a:chExt cx="4515253" cy="240799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15253" cy="2407994"/>
              </a:xfrm>
              <a:custGeom>
                <a:avLst/>
                <a:gdLst/>
                <a:ahLst/>
                <a:cxnLst/>
                <a:rect r="r" b="b" t="t" l="l"/>
                <a:pathLst>
                  <a:path h="2407994" w="4515253">
                    <a:moveTo>
                      <a:pt x="0" y="0"/>
                    </a:moveTo>
                    <a:lnTo>
                      <a:pt x="4515253" y="0"/>
                    </a:lnTo>
                    <a:lnTo>
                      <a:pt x="4515253" y="2407994"/>
                    </a:lnTo>
                    <a:lnTo>
                      <a:pt x="0" y="2407994"/>
                    </a:lnTo>
                    <a:close/>
                  </a:path>
                </a:pathLst>
              </a:custGeom>
              <a:solidFill>
                <a:srgbClr val="FCFC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4515253" cy="2465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4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3633686" y="2585595"/>
            <a:ext cx="11020627" cy="137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85"/>
              </a:lnSpc>
            </a:pPr>
            <a:r>
              <a:rPr lang="en-US" b="true" sz="10181" spc="-4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다양한</a:t>
            </a:r>
            <a:r>
              <a:rPr lang="en-US" b="true" sz="10181" spc="-40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레이아웃,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62798" y="4051252"/>
            <a:ext cx="9962404" cy="137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85"/>
              </a:lnSpc>
            </a:pPr>
            <a:r>
              <a:rPr lang="en-US" b="true" sz="10181" spc="-407">
                <a:solidFill>
                  <a:srgbClr val="465ECA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활용해보세요.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83564" y="6119319"/>
            <a:ext cx="10520872" cy="29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1679" spc="-16">
                <a:solidFill>
                  <a:srgbClr val="222222">
                    <a:alpha val="41961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경청해</a:t>
            </a:r>
            <a:r>
              <a:rPr lang="en-US" sz="1679" spc="-16">
                <a:solidFill>
                  <a:srgbClr val="222222">
                    <a:alpha val="41961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주셔서 감사합니다. 본 프레젠테이션에 대한 문의가 있으시면 아래 연락처로 연락부탁드립니다.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00010" y="5619840"/>
            <a:ext cx="7287980" cy="35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b="true" sz="2199" spc="-90">
                <a:solidFill>
                  <a:srgbClr val="222222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쉽게 따라 할 수 있는 다양한 레이아웃 가이드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977815" y="7498928"/>
            <a:ext cx="0" cy="207696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6795931" y="7475571"/>
            <a:ext cx="2043327" cy="24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563" spc="-3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라라나 마케팅 1팀 이수진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12177" y="7513671"/>
            <a:ext cx="2279892" cy="1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1400" spc="23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AutoShape 20" id="20"/>
          <p:cNvSpPr/>
          <p:nvPr/>
        </p:nvSpPr>
        <p:spPr>
          <a:xfrm>
            <a:off x="6795931" y="7256496"/>
            <a:ext cx="4696137" cy="0"/>
          </a:xfrm>
          <a:prstGeom prst="line">
            <a:avLst/>
          </a:prstGeom>
          <a:ln cap="flat" w="38100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6795931" y="7982393"/>
            <a:ext cx="4696137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DAHCfrf1I-k</dc:identifier>
  <dcterms:modified xsi:type="dcterms:W3CDTF">2011-08-01T06:04:30Z</dcterms:modified>
  <cp:revision>1</cp:revision>
  <dc:title>파란색과 회색 심플한 웹 기획자 포트폴리오 이력서 자기소개 프레젠테이션</dc:title>
</cp:coreProperties>
</file>