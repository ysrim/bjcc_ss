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Commons Pro Expanded Bold" charset="1" panose="020B0103030102020204"/>
      <p:regular r:id="rId17"/>
    </p:embeddedFont>
    <p:embeddedFont>
      <p:font typeface="윤고딕 Medium" charset="1" panose="020B0603000000000000"/>
      <p:regular r:id="rId18"/>
    </p:embeddedFont>
    <p:embeddedFont>
      <p:font typeface="윤고딕" charset="1" panose="020B0503000000000000"/>
      <p:regular r:id="rId19"/>
    </p:embeddedFont>
    <p:embeddedFont>
      <p:font typeface="TT Commons Pro Expanded" charset="1" panose="020B0103030102020204"/>
      <p:regular r:id="rId20"/>
    </p:embeddedFont>
    <p:embeddedFont>
      <p:font typeface="윤고딕 Semi-Bold" charset="1" panose="020B06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702182"/>
            <a:ext cx="18288000" cy="1584818"/>
            <a:chOff x="0" y="0"/>
            <a:chExt cx="4816593" cy="4174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108083" y="9404104"/>
            <a:ext cx="311286" cy="0"/>
          </a:xfrm>
          <a:prstGeom prst="line">
            <a:avLst/>
          </a:prstGeom>
          <a:ln cap="flat" w="9525">
            <a:solidFill>
              <a:srgbClr val="FE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110133" y="9404104"/>
            <a:ext cx="311286" cy="0"/>
          </a:xfrm>
          <a:prstGeom prst="line">
            <a:avLst/>
          </a:prstGeom>
          <a:ln cap="flat" w="9525">
            <a:solidFill>
              <a:srgbClr val="FE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935466" y="1737275"/>
            <a:ext cx="2417067" cy="1888334"/>
          </a:xfrm>
          <a:custGeom>
            <a:avLst/>
            <a:gdLst/>
            <a:ahLst/>
            <a:cxnLst/>
            <a:rect r="r" b="b" t="t" l="l"/>
            <a:pathLst>
              <a:path h="1888334" w="2417067">
                <a:moveTo>
                  <a:pt x="0" y="0"/>
                </a:moveTo>
                <a:lnTo>
                  <a:pt x="2417068" y="0"/>
                </a:lnTo>
                <a:lnTo>
                  <a:pt x="2417068" y="1888334"/>
                </a:lnTo>
                <a:lnTo>
                  <a:pt x="0" y="1888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87094" y="3696109"/>
            <a:ext cx="6741765" cy="204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9"/>
              </a:lnSpc>
              <a:spcBef>
                <a:spcPct val="0"/>
              </a:spcBef>
            </a:pPr>
            <a:r>
              <a:rPr lang="en-US" b="true" sz="119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IR DECK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9577" y="6004990"/>
            <a:ext cx="4876800" cy="4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6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데이터</a:t>
            </a:r>
            <a:r>
              <a:rPr lang="en-US" sz="2461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로 움직이는 브랜드 성장 전략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22350" y="9231055"/>
            <a:ext cx="1422946" cy="29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발표자 : 김서영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50018" y="9240580"/>
            <a:ext cx="3443585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2156" y="9240580"/>
            <a:ext cx="1201787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2059.10.30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22728" y="1306256"/>
            <a:ext cx="4642545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Table of 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79916" y="4449686"/>
            <a:ext cx="231323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변화하</a:t>
            </a: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는 시장 환경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50003" y="3448652"/>
            <a:ext cx="677241" cy="67724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36534" y="3584011"/>
            <a:ext cx="10418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81085" y="4440038"/>
            <a:ext cx="231323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기존</a:t>
            </a: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마케팅의 한계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34307" y="3448652"/>
            <a:ext cx="677241" cy="6772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91807" y="3574363"/>
            <a:ext cx="1602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41117" y="4449686"/>
            <a:ext cx="258142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새로운</a:t>
            </a: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소비 트렌드의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등장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418612" y="3448652"/>
            <a:ext cx="677241" cy="6772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83626" y="3584011"/>
            <a:ext cx="16490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06493" y="4449686"/>
            <a:ext cx="3201591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브랜드</a:t>
            </a: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경험 중심의 마케팅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패러다임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102916" y="3448652"/>
            <a:ext cx="677241" cy="67724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359383" y="3584011"/>
            <a:ext cx="16430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79916" y="6833471"/>
            <a:ext cx="231323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통합형</a:t>
            </a: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마케팅 전략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050003" y="5832438"/>
            <a:ext cx="677241" cy="67724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304015" y="5967797"/>
            <a:ext cx="16921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25263" y="6823823"/>
            <a:ext cx="142488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실행</a:t>
            </a: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로드맵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734307" y="5832438"/>
            <a:ext cx="677241" cy="67724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987491" y="5958149"/>
            <a:ext cx="16892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53483" y="6833471"/>
            <a:ext cx="115669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기대</a:t>
            </a: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성과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418612" y="5832438"/>
            <a:ext cx="677241" cy="67724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89505" y="5967797"/>
            <a:ext cx="15314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82482" y="6833471"/>
            <a:ext cx="284961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관계로 성장하는 브랜드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102916" y="5832438"/>
            <a:ext cx="677241" cy="677241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4357449" y="5967797"/>
            <a:ext cx="16817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8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0" y="8702182"/>
            <a:ext cx="18288000" cy="1584818"/>
            <a:chOff x="0" y="0"/>
            <a:chExt cx="4816593" cy="4174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422207" y="9240580"/>
            <a:ext cx="3443585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AutoShape 47" id="47"/>
          <p:cNvSpPr/>
          <p:nvPr/>
        </p:nvSpPr>
        <p:spPr>
          <a:xfrm>
            <a:off x="2179916" y="2250996"/>
            <a:ext cx="1411821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179646" y="4733925"/>
            <a:ext cx="15861705" cy="0"/>
          </a:xfrm>
          <a:prstGeom prst="line">
            <a:avLst/>
          </a:prstGeom>
          <a:ln cap="flat" w="38100">
            <a:solidFill>
              <a:srgbClr val="1040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02925" y="4590201"/>
            <a:ext cx="287447" cy="2874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51601" y="4590201"/>
            <a:ext cx="287447" cy="28744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00276" y="4590201"/>
            <a:ext cx="287447" cy="28744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48952" y="4590201"/>
            <a:ext cx="287447" cy="28744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897628" y="4590201"/>
            <a:ext cx="287447" cy="28744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02925" y="6195060"/>
            <a:ext cx="622401" cy="626961"/>
          </a:xfrm>
          <a:custGeom>
            <a:avLst/>
            <a:gdLst/>
            <a:ahLst/>
            <a:cxnLst/>
            <a:rect r="r" b="b" t="t" l="l"/>
            <a:pathLst>
              <a:path h="626961" w="622401">
                <a:moveTo>
                  <a:pt x="0" y="0"/>
                </a:moveTo>
                <a:lnTo>
                  <a:pt x="622402" y="0"/>
                </a:lnTo>
                <a:lnTo>
                  <a:pt x="622402" y="626961"/>
                </a:lnTo>
                <a:lnTo>
                  <a:pt x="0" y="626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051601" y="6195060"/>
            <a:ext cx="626961" cy="626961"/>
          </a:xfrm>
          <a:custGeom>
            <a:avLst/>
            <a:gdLst/>
            <a:ahLst/>
            <a:cxnLst/>
            <a:rect r="r" b="b" t="t" l="l"/>
            <a:pathLst>
              <a:path h="626961" w="626961">
                <a:moveTo>
                  <a:pt x="0" y="0"/>
                </a:moveTo>
                <a:lnTo>
                  <a:pt x="626961" y="0"/>
                </a:lnTo>
                <a:lnTo>
                  <a:pt x="626961" y="626961"/>
                </a:lnTo>
                <a:lnTo>
                  <a:pt x="0" y="626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000276" y="6195060"/>
            <a:ext cx="630400" cy="626961"/>
          </a:xfrm>
          <a:custGeom>
            <a:avLst/>
            <a:gdLst/>
            <a:ahLst/>
            <a:cxnLst/>
            <a:rect r="r" b="b" t="t" l="l"/>
            <a:pathLst>
              <a:path h="626961" w="630400">
                <a:moveTo>
                  <a:pt x="0" y="0"/>
                </a:moveTo>
                <a:lnTo>
                  <a:pt x="630400" y="0"/>
                </a:lnTo>
                <a:lnTo>
                  <a:pt x="630400" y="626961"/>
                </a:lnTo>
                <a:lnTo>
                  <a:pt x="0" y="6269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948952" y="6195060"/>
            <a:ext cx="626961" cy="626961"/>
          </a:xfrm>
          <a:custGeom>
            <a:avLst/>
            <a:gdLst/>
            <a:ahLst/>
            <a:cxnLst/>
            <a:rect r="r" b="b" t="t" l="l"/>
            <a:pathLst>
              <a:path h="626961" w="626961">
                <a:moveTo>
                  <a:pt x="0" y="0"/>
                </a:moveTo>
                <a:lnTo>
                  <a:pt x="626961" y="0"/>
                </a:lnTo>
                <a:lnTo>
                  <a:pt x="626961" y="626961"/>
                </a:lnTo>
                <a:lnTo>
                  <a:pt x="0" y="626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585371" y="2274711"/>
            <a:ext cx="7117259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MARKET LANDSCAPE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01654" y="630202"/>
            <a:ext cx="289336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변화하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는 시장 환경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2925" y="5106249"/>
            <a:ext cx="221947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디지털</a:t>
            </a: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채널 중심의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소비 전환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49194" y="3235325"/>
            <a:ext cx="4989612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고객의</a:t>
            </a: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관심은 빠르게 이동하고 있습니다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2925" y="7098246"/>
            <a:ext cx="3291036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온라인 광고와 소셜 미디어를 통해 </a:t>
            </a:r>
          </a:p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소비자가 브랜드를 접하는 </a:t>
            </a:r>
          </a:p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빈도는 폭발적으로 증가하고 있습니다.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9984" y="661952"/>
            <a:ext cx="11459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51601" y="5106249"/>
            <a:ext cx="21432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콘텐츠</a:t>
            </a: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경쟁의 과열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51601" y="7098246"/>
            <a:ext cx="3371457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하루</a:t>
            </a: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평균 노출 콘텐츠 수는 10,000건 이상 브랜드의 메시지가 묻히지 않기 </a:t>
            </a:r>
          </a:p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위해선 차별화된 메시지, 톤앤매너, </a:t>
            </a:r>
          </a:p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UX 경험이 필요합니다.</a:t>
            </a: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037599" y="5106249"/>
            <a:ext cx="246831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세대</a:t>
            </a: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교체와 가치 소비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37599" y="7098246"/>
            <a:ext cx="3291036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브랜드가 사회적 가치나 감성적 연결을 제시해야만 선택받습니다.</a:t>
            </a: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2985861" y="5106249"/>
            <a:ext cx="206707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데이터</a:t>
            </a: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중심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마케팅으로의 이동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85861" y="7098246"/>
            <a:ext cx="3371457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쿠키</a:t>
            </a: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규제와 개인정보 보호 </a:t>
            </a:r>
          </a:p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강화로 인해, 퍼포먼스 마케팅의 </a:t>
            </a:r>
          </a:p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효율이 </a:t>
            </a:r>
          </a:p>
          <a:p>
            <a:pPr algn="l">
              <a:lnSpc>
                <a:spcPts val="2959"/>
              </a:lnSpc>
            </a:pPr>
            <a:r>
              <a:rPr lang="en-US" sz="15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하락 중입니다.</a:t>
            </a: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73499" y="3273425"/>
            <a:ext cx="1444865" cy="14448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73499" y="5289790"/>
            <a:ext cx="1444865" cy="144486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73499" y="7306155"/>
            <a:ext cx="1444865" cy="144486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32263" y="6294695"/>
            <a:ext cx="2427672" cy="2427672"/>
          </a:xfrm>
          <a:custGeom>
            <a:avLst/>
            <a:gdLst/>
            <a:ahLst/>
            <a:cxnLst/>
            <a:rect r="r" b="b" t="t" l="l"/>
            <a:pathLst>
              <a:path h="2427672" w="2427672">
                <a:moveTo>
                  <a:pt x="0" y="0"/>
                </a:moveTo>
                <a:lnTo>
                  <a:pt x="2427671" y="0"/>
                </a:lnTo>
                <a:lnTo>
                  <a:pt x="2427671" y="2427671"/>
                </a:lnTo>
                <a:lnTo>
                  <a:pt x="0" y="2427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53624" y="3669110"/>
            <a:ext cx="684614" cy="653495"/>
          </a:xfrm>
          <a:custGeom>
            <a:avLst/>
            <a:gdLst/>
            <a:ahLst/>
            <a:cxnLst/>
            <a:rect r="r" b="b" t="t" l="l"/>
            <a:pathLst>
              <a:path h="653495" w="684614">
                <a:moveTo>
                  <a:pt x="0" y="0"/>
                </a:moveTo>
                <a:lnTo>
                  <a:pt x="684614" y="0"/>
                </a:lnTo>
                <a:lnTo>
                  <a:pt x="684614" y="653495"/>
                </a:lnTo>
                <a:lnTo>
                  <a:pt x="0" y="65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82638" y="5653987"/>
            <a:ext cx="626586" cy="716470"/>
          </a:xfrm>
          <a:custGeom>
            <a:avLst/>
            <a:gdLst/>
            <a:ahLst/>
            <a:cxnLst/>
            <a:rect r="r" b="b" t="t" l="l"/>
            <a:pathLst>
              <a:path h="716470" w="626586">
                <a:moveTo>
                  <a:pt x="0" y="0"/>
                </a:moveTo>
                <a:lnTo>
                  <a:pt x="626586" y="0"/>
                </a:lnTo>
                <a:lnTo>
                  <a:pt x="626586" y="716470"/>
                </a:lnTo>
                <a:lnTo>
                  <a:pt x="0" y="7164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253624" y="7696680"/>
            <a:ext cx="684614" cy="684614"/>
          </a:xfrm>
          <a:custGeom>
            <a:avLst/>
            <a:gdLst/>
            <a:ahLst/>
            <a:cxnLst/>
            <a:rect r="r" b="b" t="t" l="l"/>
            <a:pathLst>
              <a:path h="684614" w="684614">
                <a:moveTo>
                  <a:pt x="0" y="0"/>
                </a:moveTo>
                <a:lnTo>
                  <a:pt x="684614" y="0"/>
                </a:lnTo>
                <a:lnTo>
                  <a:pt x="684614" y="684613"/>
                </a:lnTo>
                <a:lnTo>
                  <a:pt x="0" y="6846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89102" y="2274711"/>
            <a:ext cx="3354735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P</a:t>
            </a: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ROBLEM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1654" y="630202"/>
            <a:ext cx="289336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기존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마케팅의 한계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8627" y="3235325"/>
            <a:ext cx="633412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지금의</a:t>
            </a: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마케팅은 비용 중심, 고객 경험은 뒷전입니다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9102" y="661952"/>
            <a:ext cx="17636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2263" y="4178615"/>
            <a:ext cx="4837361" cy="64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인지도는 있지만 충성 고객은 없습니다. 우리는 ‘관계’를 </a:t>
            </a:r>
          </a:p>
          <a:p>
            <a:pPr algn="l">
              <a:lnSpc>
                <a:spcPts val="2671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다시 정의합니다.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82410" y="3826651"/>
            <a:ext cx="6012487" cy="78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많은 브랜드가 여전히 노출 중심의 광고에 집중하지만, </a:t>
            </a:r>
          </a:p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실질적 전환율은 낮은 편입니다.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78392" y="3235325"/>
            <a:ext cx="102393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문제점 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82410" y="5843016"/>
            <a:ext cx="6012487" cy="78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단기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퍼포먼스에만 초점을 맞춘 마케팅은 장기 고객 관계를 </a:t>
            </a:r>
          </a:p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형성하지 못합니다.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78392" y="5251690"/>
            <a:ext cx="107513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문제점 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82410" y="7859381"/>
            <a:ext cx="6012487" cy="78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기존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방식으로는 고객의 주목을 유지할 수 없으며, </a:t>
            </a:r>
          </a:p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새로운 접근이 필요합니다.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78392" y="7268055"/>
            <a:ext cx="107677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문제점 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69992" y="4154602"/>
            <a:ext cx="8212099" cy="1079176"/>
            <a:chOff x="0" y="0"/>
            <a:chExt cx="2162857" cy="284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2858" cy="284228"/>
            </a:xfrm>
            <a:custGeom>
              <a:avLst/>
              <a:gdLst/>
              <a:ahLst/>
              <a:cxnLst/>
              <a:rect r="r" b="b" t="t" l="l"/>
              <a:pathLst>
                <a:path h="284228" w="2162858">
                  <a:moveTo>
                    <a:pt x="0" y="0"/>
                  </a:moveTo>
                  <a:lnTo>
                    <a:pt x="2162858" y="0"/>
                  </a:lnTo>
                  <a:lnTo>
                    <a:pt x="2162858" y="284228"/>
                  </a:lnTo>
                  <a:lnTo>
                    <a:pt x="0" y="2842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0408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162857" cy="3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612136" y="4530330"/>
            <a:ext cx="359410" cy="359410"/>
          </a:xfrm>
          <a:custGeom>
            <a:avLst/>
            <a:gdLst/>
            <a:ahLst/>
            <a:cxnLst/>
            <a:rect r="r" b="b" t="t" l="l"/>
            <a:pathLst>
              <a:path h="359410" w="359410">
                <a:moveTo>
                  <a:pt x="0" y="0"/>
                </a:moveTo>
                <a:lnTo>
                  <a:pt x="359410" y="0"/>
                </a:lnTo>
                <a:lnTo>
                  <a:pt x="359410" y="359410"/>
                </a:lnTo>
                <a:lnTo>
                  <a:pt x="0" y="359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01654" y="630202"/>
            <a:ext cx="400407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새로운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소비 트렌드의 등장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572" y="661952"/>
            <a:ext cx="18142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06052" y="8419885"/>
            <a:ext cx="9075896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Z세대,</a:t>
            </a: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AI, 소셜 커머스 — 브랜드 성장의 새로운 무대가 열리고 있습니다.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37756" y="4463144"/>
            <a:ext cx="6012487" cy="37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Z세대와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알파세대의 부상은 새로운 마케팅 문법을 요구합니다.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69992" y="5416411"/>
            <a:ext cx="8212099" cy="1079176"/>
            <a:chOff x="0" y="0"/>
            <a:chExt cx="2162857" cy="2842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62858" cy="284228"/>
            </a:xfrm>
            <a:custGeom>
              <a:avLst/>
              <a:gdLst/>
              <a:ahLst/>
              <a:cxnLst/>
              <a:rect r="r" b="b" t="t" l="l"/>
              <a:pathLst>
                <a:path h="284228" w="2162858">
                  <a:moveTo>
                    <a:pt x="0" y="0"/>
                  </a:moveTo>
                  <a:lnTo>
                    <a:pt x="2162858" y="0"/>
                  </a:lnTo>
                  <a:lnTo>
                    <a:pt x="2162858" y="284228"/>
                  </a:lnTo>
                  <a:lnTo>
                    <a:pt x="0" y="2842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0408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2162857" cy="3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612136" y="5776294"/>
            <a:ext cx="359410" cy="359410"/>
          </a:xfrm>
          <a:custGeom>
            <a:avLst/>
            <a:gdLst/>
            <a:ahLst/>
            <a:cxnLst/>
            <a:rect r="r" b="b" t="t" l="l"/>
            <a:pathLst>
              <a:path h="359410" w="359410">
                <a:moveTo>
                  <a:pt x="0" y="0"/>
                </a:moveTo>
                <a:lnTo>
                  <a:pt x="359410" y="0"/>
                </a:lnTo>
                <a:lnTo>
                  <a:pt x="359410" y="359410"/>
                </a:lnTo>
                <a:lnTo>
                  <a:pt x="0" y="359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37756" y="5709108"/>
            <a:ext cx="6012487" cy="37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그들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은 ‘가격’보다 ‘공감’을, ‘제품’보다 ‘가치’를 중시합니다.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69992" y="6674560"/>
            <a:ext cx="8212099" cy="1079176"/>
            <a:chOff x="0" y="0"/>
            <a:chExt cx="2162857" cy="2842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62858" cy="284228"/>
            </a:xfrm>
            <a:custGeom>
              <a:avLst/>
              <a:gdLst/>
              <a:ahLst/>
              <a:cxnLst/>
              <a:rect r="r" b="b" t="t" l="l"/>
              <a:pathLst>
                <a:path h="284228" w="2162858">
                  <a:moveTo>
                    <a:pt x="0" y="0"/>
                  </a:moveTo>
                  <a:lnTo>
                    <a:pt x="2162858" y="0"/>
                  </a:lnTo>
                  <a:lnTo>
                    <a:pt x="2162858" y="284228"/>
                  </a:lnTo>
                  <a:lnTo>
                    <a:pt x="0" y="2842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0408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2162857" cy="3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612136" y="7067087"/>
            <a:ext cx="359410" cy="359410"/>
          </a:xfrm>
          <a:custGeom>
            <a:avLst/>
            <a:gdLst/>
            <a:ahLst/>
            <a:cxnLst/>
            <a:rect r="r" b="b" t="t" l="l"/>
            <a:pathLst>
              <a:path h="359410" w="359410">
                <a:moveTo>
                  <a:pt x="0" y="0"/>
                </a:moveTo>
                <a:lnTo>
                  <a:pt x="359410" y="0"/>
                </a:lnTo>
                <a:lnTo>
                  <a:pt x="359410" y="359410"/>
                </a:lnTo>
                <a:lnTo>
                  <a:pt x="0" y="359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137756" y="6999901"/>
            <a:ext cx="6472339" cy="37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기술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변화는 브랜드가 유저와 즉각적으로 소통할 기회를 제공합니다.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22163" y="2274711"/>
            <a:ext cx="4907756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OPPO</a:t>
            </a: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RTUNITY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72182" y="3235325"/>
            <a:ext cx="460771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새로운</a:t>
            </a: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소비 세대, 새로운 마케팅 기회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01654" y="630202"/>
            <a:ext cx="545068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브랜드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경험 중심의 마케팅 패러다임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6870" y="661952"/>
            <a:ext cx="18082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35936" y="4097451"/>
            <a:ext cx="3880211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브랜드는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더 이상 단순히 제품을 홍보하는 존재가 아닙니다.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9080" y="2274711"/>
            <a:ext cx="2333923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VISIO</a:t>
            </a: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34168" y="3235325"/>
            <a:ext cx="688374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브랜드와 고객의</a:t>
            </a: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진짜 접점을 만드는 마케팅 전략을 제시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87927" y="5112051"/>
            <a:ext cx="1776229" cy="177622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25890" y="6722682"/>
            <a:ext cx="1776229" cy="177622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37477" y="6722682"/>
            <a:ext cx="1776229" cy="177622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300288" y="7179037"/>
            <a:ext cx="4110137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고객의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감정과 일상 속에서 ‘브랜드 경험’을 만들어가는 존재로 진화해야 합니다.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10376" y="7179037"/>
            <a:ext cx="3717911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34"/>
              </a:lnSpc>
            </a:pP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우리의 비전은 고객의</a:t>
            </a:r>
            <a:r>
              <a:rPr lang="en-US" sz="17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여정을 설계하고, 지속 가능한 관계를 구축하는 것입니다.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65338" y="5804331"/>
            <a:ext cx="102140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Vision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70407" y="7421884"/>
            <a:ext cx="1086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Vision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70558" y="7421884"/>
            <a:ext cx="108689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Vision 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95021" y="4618748"/>
            <a:ext cx="2257405" cy="22574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43471" y="4618748"/>
            <a:ext cx="2257405" cy="22574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09316" y="5459814"/>
            <a:ext cx="674134" cy="6741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417796" y="5668294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658051" y="5459814"/>
            <a:ext cx="674134" cy="6741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3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846289" y="5705121"/>
            <a:ext cx="297659" cy="187525"/>
          </a:xfrm>
          <a:custGeom>
            <a:avLst/>
            <a:gdLst/>
            <a:ahLst/>
            <a:cxnLst/>
            <a:rect r="r" b="b" t="t" l="l"/>
            <a:pathLst>
              <a:path h="187525" w="297659">
                <a:moveTo>
                  <a:pt x="0" y="0"/>
                </a:moveTo>
                <a:lnTo>
                  <a:pt x="297659" y="0"/>
                </a:lnTo>
                <a:lnTo>
                  <a:pt x="297659" y="187526"/>
                </a:lnTo>
                <a:lnTo>
                  <a:pt x="0" y="187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290325" y="4931908"/>
            <a:ext cx="1056712" cy="997152"/>
          </a:xfrm>
          <a:custGeom>
            <a:avLst/>
            <a:gdLst/>
            <a:ahLst/>
            <a:cxnLst/>
            <a:rect r="r" b="b" t="t" l="l"/>
            <a:pathLst>
              <a:path h="997152" w="1056712">
                <a:moveTo>
                  <a:pt x="0" y="0"/>
                </a:moveTo>
                <a:lnTo>
                  <a:pt x="1056712" y="0"/>
                </a:lnTo>
                <a:lnTo>
                  <a:pt x="1056712" y="997152"/>
                </a:lnTo>
                <a:lnTo>
                  <a:pt x="0" y="997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116420" y="7743956"/>
            <a:ext cx="12055160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브랜딩과 퍼포먼스를 하나로</a:t>
            </a: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통합해, 데이터 인사이트를 기반으로 인지부터 충성까지 자연스럽게 이어지는</a:t>
            </a:r>
          </a:p>
          <a:p>
            <a:pPr algn="ctr">
              <a:lnSpc>
                <a:spcPts val="3700"/>
              </a:lnSpc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고객 여정을 설계합니다.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01654" y="630202"/>
            <a:ext cx="289336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통합형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마케팅 전략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4191" y="661952"/>
            <a:ext cx="18618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66028" y="5817719"/>
            <a:ext cx="51539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data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94161" y="5955931"/>
            <a:ext cx="1849041" cy="60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성장의</a:t>
            </a:r>
            <a:r>
              <a:rPr lang="en-US" sz="27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공식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13033" y="5322852"/>
            <a:ext cx="821382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데이터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90045" y="5817719"/>
            <a:ext cx="96425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Creative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50791" y="5322852"/>
            <a:ext cx="164276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크리에이티브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55228" y="2274711"/>
            <a:ext cx="5641628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CO</a:t>
            </a: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RE STRATEGY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65571" y="3235325"/>
            <a:ext cx="562094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퍼포먼스와 브랜딩을 결합한 통합 마케팅 전략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79646" y="4924425"/>
            <a:ext cx="15861705" cy="0"/>
          </a:xfrm>
          <a:prstGeom prst="line">
            <a:avLst/>
          </a:prstGeom>
          <a:ln cap="flat" w="38100">
            <a:solidFill>
              <a:srgbClr val="1040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02925" y="4780701"/>
            <a:ext cx="287447" cy="28744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51601" y="4780701"/>
            <a:ext cx="287447" cy="28744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00276" y="4780701"/>
            <a:ext cx="287447" cy="28744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48952" y="4780701"/>
            <a:ext cx="287447" cy="28744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897628" y="4780701"/>
            <a:ext cx="287447" cy="28744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  <a:ln w="38100" cap="sq">
              <a:solidFill>
                <a:srgbClr val="F6FA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4340" y="7550716"/>
            <a:ext cx="16100735" cy="1465300"/>
            <a:chOff x="0" y="0"/>
            <a:chExt cx="4240523" cy="3859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40523" cy="385923"/>
            </a:xfrm>
            <a:custGeom>
              <a:avLst/>
              <a:gdLst/>
              <a:ahLst/>
              <a:cxnLst/>
              <a:rect r="r" b="b" t="t" l="l"/>
              <a:pathLst>
                <a:path h="385923" w="4240523">
                  <a:moveTo>
                    <a:pt x="0" y="0"/>
                  </a:moveTo>
                  <a:lnTo>
                    <a:pt x="4240523" y="0"/>
                  </a:lnTo>
                  <a:lnTo>
                    <a:pt x="4240523" y="385923"/>
                  </a:lnTo>
                  <a:lnTo>
                    <a:pt x="0" y="385923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14300"/>
              <a:ext cx="4240523" cy="500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01654" y="630202"/>
            <a:ext cx="178266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실행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로드맵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4340" y="661952"/>
            <a:ext cx="18588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71771" y="2274711"/>
            <a:ext cx="7608540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EX</a:t>
            </a: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ECUTION ROADMAP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50192" y="3235325"/>
            <a:ext cx="525169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6개월 단위로</a:t>
            </a: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측정 가능한 성과를 만듭니다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2925" y="5296749"/>
            <a:ext cx="118645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1~2개월차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51601" y="5296749"/>
            <a:ext cx="123720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3~4개월차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37599" y="5296749"/>
            <a:ext cx="124212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5~6개월차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38831" y="5296749"/>
            <a:ext cx="107171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이후</a:t>
            </a:r>
            <a:r>
              <a:rPr lang="en-US" sz="20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단계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7425" y="4196355"/>
            <a:ext cx="2077343" cy="3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649">
                <a:solidFill>
                  <a:srgbClr val="104080"/>
                </a:solidFill>
                <a:latin typeface="윤고딕"/>
                <a:ea typeface="윤고딕"/>
                <a:cs typeface="윤고딕"/>
                <a:sym typeface="윤고딕"/>
              </a:rPr>
              <a:t>Awareness (인지 확보)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51601" y="4196355"/>
            <a:ext cx="2295079" cy="3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649">
                <a:solidFill>
                  <a:srgbClr val="104080"/>
                </a:solidFill>
                <a:latin typeface="윤고딕"/>
                <a:ea typeface="윤고딕"/>
                <a:cs typeface="윤고딕"/>
                <a:sym typeface="윤고딕"/>
              </a:rPr>
              <a:t>Engagement (참여 강화)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37599" y="4196355"/>
            <a:ext cx="2319784" cy="3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649">
                <a:solidFill>
                  <a:srgbClr val="104080"/>
                </a:solidFill>
                <a:latin typeface="윤고딕"/>
                <a:ea typeface="윤고딕"/>
                <a:cs typeface="윤고딕"/>
                <a:sym typeface="윤고딕"/>
              </a:rPr>
              <a:t>Conversion (전환 최적화)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38831" y="4196355"/>
            <a:ext cx="2237482" cy="3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649">
                <a:solidFill>
                  <a:srgbClr val="104080"/>
                </a:solidFill>
                <a:latin typeface="윤고딕"/>
                <a:ea typeface="윤고딕"/>
                <a:cs typeface="윤고딕"/>
                <a:sym typeface="윤고딕"/>
              </a:rPr>
              <a:t>Retention (유지 및 확장)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2925" y="6324778"/>
            <a:ext cx="3361581" cy="73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브랜드 캠페인 런칭, SNS 브랜딩 강화,</a:t>
            </a: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</a:p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인플루언서 협업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51601" y="6324778"/>
            <a:ext cx="3301305" cy="73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콘텐츠 마케팅 집중, 커뮤니티 활성화,</a:t>
            </a: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</a:p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유저 참여 이벤트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037599" y="6324778"/>
            <a:ext cx="2539008" cy="73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리타게팅 광고, CRM 캠페인,</a:t>
            </a: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</a:p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구매 유도 UX 개선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938831" y="6324778"/>
            <a:ext cx="2723406" cy="73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멤버십 구축, 고객 피드백 반영,</a:t>
            </a: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</a:p>
          <a:p>
            <a:pPr algn="just">
              <a:lnSpc>
                <a:spcPts val="3050"/>
              </a:lnSpc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재구매 프로세스 강화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68103" y="7813247"/>
            <a:ext cx="14351794" cy="78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7"/>
              </a:lnSpc>
            </a:pPr>
            <a:r>
              <a:rPr lang="en-US" sz="17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6개월 단위의 단계별</a:t>
            </a:r>
            <a:r>
              <a:rPr lang="en-US" sz="17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실행 계획으로 캠페인 성과를 측정하며 초기 AWARENESS 확보 → ENGAGEMENT 강화 → CONVERSION 최적화 순으로 진행합니다.</a:t>
            </a:r>
          </a:p>
          <a:p>
            <a:pPr algn="ctr">
              <a:lnSpc>
                <a:spcPts val="3237"/>
              </a:lnSpc>
            </a:pPr>
            <a:r>
              <a:rPr lang="en-US" sz="17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각 단계별 KPI(도달률, 전환율, ROI 등)를 명확히 설정해 성과를 검증합니다.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01654" y="630202"/>
            <a:ext cx="144675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기대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성과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046" y="661952"/>
            <a:ext cx="16847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33896" y="2274711"/>
            <a:ext cx="6774061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EXP</a:t>
            </a: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ECTED 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0099" y="3235325"/>
            <a:ext cx="490165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캠페인 후</a:t>
            </a: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성과 예측 및 KPI 기반 리포트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75661" y="3452892"/>
            <a:ext cx="7462840" cy="4947251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4645515" y="7844914"/>
            <a:ext cx="1723132" cy="3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전환율</a:t>
            </a: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및 매출 성장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63755" y="7794350"/>
            <a:ext cx="1023789" cy="3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164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인지도 상승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66722" y="3784408"/>
            <a:ext cx="6617854" cy="4409163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782978" y="8710743"/>
            <a:ext cx="9075896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브랜드 성장과 매출 증대, 두 마리 토끼를 잡습니다.</a:t>
            </a:r>
          </a:p>
        </p:txBody>
      </p:sp>
      <p:sp>
        <p:nvSpPr>
          <p:cNvPr name="AutoShape 19" id="19"/>
          <p:cNvSpPr/>
          <p:nvPr/>
        </p:nvSpPr>
        <p:spPr>
          <a:xfrm flipH="true">
            <a:off x="9320926" y="4335896"/>
            <a:ext cx="0" cy="3808092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62" y="547804"/>
            <a:ext cx="677241" cy="6772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25450" y="1504833"/>
            <a:ext cx="166288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10117593"/>
            <a:ext cx="18288000" cy="1584818"/>
            <a:chOff x="0" y="0"/>
            <a:chExt cx="4816593" cy="4174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99733" y="4221437"/>
            <a:ext cx="4986656" cy="4080147"/>
            <a:chOff x="0" y="0"/>
            <a:chExt cx="1313358" cy="10746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3358" cy="1074607"/>
            </a:xfrm>
            <a:custGeom>
              <a:avLst/>
              <a:gdLst/>
              <a:ahLst/>
              <a:cxnLst/>
              <a:rect r="r" b="b" t="t" l="l"/>
              <a:pathLst>
                <a:path h="1074607" w="1313358">
                  <a:moveTo>
                    <a:pt x="0" y="0"/>
                  </a:moveTo>
                  <a:lnTo>
                    <a:pt x="1313358" y="0"/>
                  </a:lnTo>
                  <a:lnTo>
                    <a:pt x="1313358" y="1074607"/>
                  </a:lnTo>
                  <a:lnTo>
                    <a:pt x="0" y="1074607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313358" cy="110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83763" y="4221437"/>
            <a:ext cx="4986656" cy="4080147"/>
            <a:chOff x="0" y="0"/>
            <a:chExt cx="1313358" cy="10746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358" cy="1074607"/>
            </a:xfrm>
            <a:custGeom>
              <a:avLst/>
              <a:gdLst/>
              <a:ahLst/>
              <a:cxnLst/>
              <a:rect r="r" b="b" t="t" l="l"/>
              <a:pathLst>
                <a:path h="1074607" w="1313358">
                  <a:moveTo>
                    <a:pt x="0" y="0"/>
                  </a:moveTo>
                  <a:lnTo>
                    <a:pt x="1313358" y="0"/>
                  </a:lnTo>
                  <a:lnTo>
                    <a:pt x="1313358" y="1074607"/>
                  </a:lnTo>
                  <a:lnTo>
                    <a:pt x="0" y="1074607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313358" cy="110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65694" y="4221437"/>
            <a:ext cx="4986656" cy="4080147"/>
            <a:chOff x="0" y="0"/>
            <a:chExt cx="1313358" cy="10746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358" cy="1074607"/>
            </a:xfrm>
            <a:custGeom>
              <a:avLst/>
              <a:gdLst/>
              <a:ahLst/>
              <a:cxnLst/>
              <a:rect r="r" b="b" t="t" l="l"/>
              <a:pathLst>
                <a:path h="1074607" w="1313358">
                  <a:moveTo>
                    <a:pt x="0" y="0"/>
                  </a:moveTo>
                  <a:lnTo>
                    <a:pt x="1313358" y="0"/>
                  </a:lnTo>
                  <a:lnTo>
                    <a:pt x="1313358" y="1074607"/>
                  </a:lnTo>
                  <a:lnTo>
                    <a:pt x="0" y="1074607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13358" cy="110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462291" y="6805481"/>
            <a:ext cx="861540" cy="861540"/>
          </a:xfrm>
          <a:custGeom>
            <a:avLst/>
            <a:gdLst/>
            <a:ahLst/>
            <a:cxnLst/>
            <a:rect r="r" b="b" t="t" l="l"/>
            <a:pathLst>
              <a:path h="861540" w="861540">
                <a:moveTo>
                  <a:pt x="0" y="0"/>
                </a:moveTo>
                <a:lnTo>
                  <a:pt x="861540" y="0"/>
                </a:lnTo>
                <a:lnTo>
                  <a:pt x="861540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53852" y="6805481"/>
            <a:ext cx="646479" cy="891136"/>
          </a:xfrm>
          <a:custGeom>
            <a:avLst/>
            <a:gdLst/>
            <a:ahLst/>
            <a:cxnLst/>
            <a:rect r="r" b="b" t="t" l="l"/>
            <a:pathLst>
              <a:path h="891136" w="646479">
                <a:moveTo>
                  <a:pt x="0" y="0"/>
                </a:moveTo>
                <a:lnTo>
                  <a:pt x="646478" y="0"/>
                </a:lnTo>
                <a:lnTo>
                  <a:pt x="646478" y="891137"/>
                </a:lnTo>
                <a:lnTo>
                  <a:pt x="0" y="891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13454" y="6805481"/>
            <a:ext cx="891136" cy="891136"/>
          </a:xfrm>
          <a:custGeom>
            <a:avLst/>
            <a:gdLst/>
            <a:ahLst/>
            <a:cxnLst/>
            <a:rect r="r" b="b" t="t" l="l"/>
            <a:pathLst>
              <a:path h="891136" w="891136">
                <a:moveTo>
                  <a:pt x="0" y="0"/>
                </a:moveTo>
                <a:lnTo>
                  <a:pt x="891136" y="0"/>
                </a:lnTo>
                <a:lnTo>
                  <a:pt x="891136" y="891137"/>
                </a:lnTo>
                <a:lnTo>
                  <a:pt x="0" y="891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01654" y="630202"/>
            <a:ext cx="356517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관계로</a:t>
            </a:r>
            <a:r>
              <a:rPr lang="en-US" sz="26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성장하는 브랜드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4786" y="661952"/>
            <a:ext cx="18499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00575" y="755276"/>
            <a:ext cx="2653754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000000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50428" y="2274711"/>
            <a:ext cx="6251228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VI</a:t>
            </a:r>
            <a:r>
              <a:rPr lang="en-US" b="true" sz="4799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SION &amp; CLOSING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01860" y="3235325"/>
            <a:ext cx="5948362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이제 브랜드는</a:t>
            </a:r>
            <a:r>
              <a:rPr lang="en-US" sz="220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‘광고’가 아닌 ‘관계’로 성장합니다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50967" y="4828225"/>
            <a:ext cx="208418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관계</a:t>
            </a: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중심 마케팅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19258" y="4828225"/>
            <a:ext cx="271566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데이터와</a:t>
            </a: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감성의 균형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16927" y="4828225"/>
            <a:ext cx="208418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공동 성장의</a:t>
            </a:r>
            <a:r>
              <a:rPr lang="en-US" sz="2200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비전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58891" y="5284269"/>
            <a:ext cx="2668339" cy="111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마케팅</a:t>
            </a: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의 목적은 단순한</a:t>
            </a:r>
          </a:p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‘광고 효율’이 아니라, 고객과의</a:t>
            </a:r>
          </a:p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지속적 관계 형성입니다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53302" y="5284269"/>
            <a:ext cx="2047577" cy="111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데이터와 감성을 결합해</a:t>
            </a:r>
          </a:p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브랜드</a:t>
            </a: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의 장기적 성장을</a:t>
            </a:r>
          </a:p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설계합니다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55647" y="5284269"/>
            <a:ext cx="2806750" cy="111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투자자</a:t>
            </a: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또는 파트너에게</a:t>
            </a:r>
          </a:p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‘함께 성장하는 브랜드’의 비전을</a:t>
            </a:r>
          </a:p>
          <a:p>
            <a:pPr algn="ctr">
              <a:lnSpc>
                <a:spcPts val="3050"/>
              </a:lnSpc>
            </a:pPr>
            <a:r>
              <a:rPr lang="en-US" sz="164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제시하며 마무리합니다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82978" y="8710743"/>
            <a:ext cx="9075896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데이터, 디자인,</a:t>
            </a: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그리고 사람의 감성을 잇는 마케팅 파트너가 되겠습니다.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23966" y="6825207"/>
            <a:ext cx="2719675" cy="592854"/>
            <a:chOff x="0" y="0"/>
            <a:chExt cx="3626234" cy="79047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626234" cy="790473"/>
              <a:chOff x="0" y="0"/>
              <a:chExt cx="4717997" cy="102846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19267" cy="1028463"/>
              </a:xfrm>
              <a:custGeom>
                <a:avLst/>
                <a:gdLst/>
                <a:ahLst/>
                <a:cxnLst/>
                <a:rect r="r" b="b" t="t" l="l"/>
                <a:pathLst>
                  <a:path h="1028463" w="4719267">
                    <a:moveTo>
                      <a:pt x="4165547" y="1028463"/>
                    </a:moveTo>
                    <a:lnTo>
                      <a:pt x="553720" y="1028463"/>
                    </a:lnTo>
                    <a:cubicBezTo>
                      <a:pt x="247650" y="1028463"/>
                      <a:pt x="0" y="798199"/>
                      <a:pt x="0" y="514815"/>
                    </a:cubicBezTo>
                    <a:cubicBezTo>
                      <a:pt x="0" y="230250"/>
                      <a:pt x="247650" y="0"/>
                      <a:pt x="553720" y="0"/>
                    </a:cubicBezTo>
                    <a:lnTo>
                      <a:pt x="4165547" y="0"/>
                    </a:lnTo>
                    <a:cubicBezTo>
                      <a:pt x="4471617" y="0"/>
                      <a:pt x="4719267" y="230250"/>
                      <a:pt x="4719267" y="514815"/>
                    </a:cubicBezTo>
                    <a:cubicBezTo>
                      <a:pt x="4717997" y="798199"/>
                      <a:pt x="4470347" y="1028463"/>
                      <a:pt x="4165547" y="1028463"/>
                    </a:cubicBezTo>
                    <a:close/>
                  </a:path>
                </a:pathLst>
              </a:custGeom>
              <a:solidFill>
                <a:srgbClr val="104080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84743" y="219826"/>
              <a:ext cx="3056748" cy="369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4"/>
                </a:lnSpc>
              </a:pPr>
              <a:r>
                <a:rPr lang="en-US" sz="1967">
                  <a:solidFill>
                    <a:srgbClr val="FFFFFF"/>
                  </a:solidFill>
                  <a:latin typeface="TT Commons Pro Expanded"/>
                  <a:ea typeface="TT Commons Pro Expanded"/>
                  <a:cs typeface="TT Commons Pro Expanded"/>
                  <a:sym typeface="TT Commons Pro Expanded"/>
                </a:rPr>
                <a:t>INQUIRY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578327" y="6825207"/>
            <a:ext cx="560634" cy="560634"/>
          </a:xfrm>
          <a:custGeom>
            <a:avLst/>
            <a:gdLst/>
            <a:ahLst/>
            <a:cxnLst/>
            <a:rect r="r" b="b" t="t" l="l"/>
            <a:pathLst>
              <a:path h="560634" w="560634">
                <a:moveTo>
                  <a:pt x="0" y="0"/>
                </a:moveTo>
                <a:lnTo>
                  <a:pt x="560634" y="0"/>
                </a:lnTo>
                <a:lnTo>
                  <a:pt x="560634" y="560634"/>
                </a:lnTo>
                <a:lnTo>
                  <a:pt x="0" y="560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16761" y="6825207"/>
            <a:ext cx="560634" cy="560634"/>
          </a:xfrm>
          <a:custGeom>
            <a:avLst/>
            <a:gdLst/>
            <a:ahLst/>
            <a:cxnLst/>
            <a:rect r="r" b="b" t="t" l="l"/>
            <a:pathLst>
              <a:path h="560634" w="560634">
                <a:moveTo>
                  <a:pt x="0" y="0"/>
                </a:moveTo>
                <a:lnTo>
                  <a:pt x="560634" y="0"/>
                </a:lnTo>
                <a:lnTo>
                  <a:pt x="560634" y="560634"/>
                </a:lnTo>
                <a:lnTo>
                  <a:pt x="0" y="560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43736" y="6825207"/>
            <a:ext cx="560634" cy="560634"/>
          </a:xfrm>
          <a:custGeom>
            <a:avLst/>
            <a:gdLst/>
            <a:ahLst/>
            <a:cxnLst/>
            <a:rect r="r" b="b" t="t" l="l"/>
            <a:pathLst>
              <a:path h="560634" w="560634">
                <a:moveTo>
                  <a:pt x="0" y="0"/>
                </a:moveTo>
                <a:lnTo>
                  <a:pt x="560633" y="0"/>
                </a:lnTo>
                <a:lnTo>
                  <a:pt x="560633" y="560634"/>
                </a:lnTo>
                <a:lnTo>
                  <a:pt x="0" y="560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10120" y="4314271"/>
            <a:ext cx="1880250" cy="1981818"/>
          </a:xfrm>
          <a:custGeom>
            <a:avLst/>
            <a:gdLst/>
            <a:ahLst/>
            <a:cxnLst/>
            <a:rect r="r" b="b" t="t" l="l"/>
            <a:pathLst>
              <a:path h="1981818" w="1880250">
                <a:moveTo>
                  <a:pt x="0" y="0"/>
                </a:moveTo>
                <a:lnTo>
                  <a:pt x="1880250" y="0"/>
                </a:lnTo>
                <a:lnTo>
                  <a:pt x="1880250" y="1981818"/>
                </a:lnTo>
                <a:lnTo>
                  <a:pt x="0" y="19818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76356" y="1414345"/>
            <a:ext cx="9575623" cy="179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58"/>
              </a:lnSpc>
            </a:pPr>
            <a:r>
              <a:rPr lang="en-US" b="true" sz="10541" spc="-105">
                <a:solidFill>
                  <a:srgbClr val="10408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0917" y="3510656"/>
            <a:ext cx="320650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408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들어주셔서 감사합니다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8702182"/>
            <a:ext cx="18288000" cy="1584818"/>
            <a:chOff x="0" y="0"/>
            <a:chExt cx="4816593" cy="4174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417401"/>
            </a:xfrm>
            <a:custGeom>
              <a:avLst/>
              <a:gdLst/>
              <a:ahLst/>
              <a:cxnLst/>
              <a:rect r="r" b="b" t="t" l="l"/>
              <a:pathLst>
                <a:path h="4174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17401"/>
                  </a:lnTo>
                  <a:lnTo>
                    <a:pt x="0" y="417401"/>
                  </a:lnTo>
                  <a:close/>
                </a:path>
              </a:pathLst>
            </a:custGeom>
            <a:solidFill>
              <a:srgbClr val="1040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16593" cy="455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422207" y="9240580"/>
            <a:ext cx="3443585" cy="2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WWW.</a:t>
            </a:r>
            <a:r>
              <a:rPr lang="en-US" sz="174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DAHCfrf1I-k</dc:identifier>
  <dcterms:modified xsi:type="dcterms:W3CDTF">2011-08-01T06:04:30Z</dcterms:modified>
  <cp:revision>1</cp:revision>
  <dc:title>파란색과 회색 심플한 웹 기획자 포트폴리오 이력서 자기소개 프레젠테이션</dc:title>
</cp:coreProperties>
</file>