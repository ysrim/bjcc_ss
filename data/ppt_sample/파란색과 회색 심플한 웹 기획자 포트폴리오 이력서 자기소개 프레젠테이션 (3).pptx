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ans Bold" charset="1" panose="00000000000000000000"/>
      <p:regular r:id="rId20"/>
    </p:embeddedFont>
    <p:embeddedFont>
      <p:font typeface="DM Sans" charset="1" panose="00000000000000000000"/>
      <p:regular r:id="rId21"/>
    </p:embeddedFont>
    <p:embeddedFont>
      <p:font typeface="Now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0" y="0"/>
                </a:moveTo>
                <a:lnTo>
                  <a:pt x="18947008" y="0"/>
                </a:lnTo>
                <a:lnTo>
                  <a:pt x="18947008" y="10894034"/>
                </a:lnTo>
                <a:lnTo>
                  <a:pt x="0" y="10894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1251" y="1114922"/>
            <a:ext cx="15905498" cy="8057156"/>
            <a:chOff x="0" y="0"/>
            <a:chExt cx="160458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4585" cy="812800"/>
            </a:xfrm>
            <a:custGeom>
              <a:avLst/>
              <a:gdLst/>
              <a:ahLst/>
              <a:cxnLst/>
              <a:rect r="r" b="b" t="t" l="l"/>
              <a:pathLst>
                <a:path h="812800" w="1604585">
                  <a:moveTo>
                    <a:pt x="1604585" y="21417"/>
                  </a:moveTo>
                  <a:lnTo>
                    <a:pt x="1604585" y="791383"/>
                  </a:lnTo>
                  <a:cubicBezTo>
                    <a:pt x="1604585" y="803211"/>
                    <a:pt x="1594996" y="812800"/>
                    <a:pt x="1583168" y="812800"/>
                  </a:cubicBezTo>
                  <a:lnTo>
                    <a:pt x="21417" y="812800"/>
                  </a:lnTo>
                  <a:cubicBezTo>
                    <a:pt x="9589" y="812800"/>
                    <a:pt x="0" y="803211"/>
                    <a:pt x="0" y="791383"/>
                  </a:cubicBezTo>
                  <a:lnTo>
                    <a:pt x="0" y="21417"/>
                  </a:lnTo>
                  <a:cubicBezTo>
                    <a:pt x="0" y="9589"/>
                    <a:pt x="9589" y="0"/>
                    <a:pt x="21417" y="0"/>
                  </a:cubicBezTo>
                  <a:lnTo>
                    <a:pt x="1583168" y="0"/>
                  </a:lnTo>
                  <a:cubicBezTo>
                    <a:pt x="1594996" y="0"/>
                    <a:pt x="1604585" y="9589"/>
                    <a:pt x="1604585" y="21417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0458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48894" y="4160162"/>
            <a:ext cx="1099021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마케팅 전략 보고서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39369" y="3443565"/>
            <a:ext cx="1099021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>
                    <a:alpha val="4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2025 상반기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48894" y="8233851"/>
            <a:ext cx="1099021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마케팅 전략팀 | 이수진</a:t>
            </a:r>
          </a:p>
        </p:txBody>
      </p:sp>
      <p:sp>
        <p:nvSpPr>
          <p:cNvPr name="AutoShape 9" id="9"/>
          <p:cNvSpPr/>
          <p:nvPr/>
        </p:nvSpPr>
        <p:spPr>
          <a:xfrm>
            <a:off x="3375166" y="7753328"/>
            <a:ext cx="11537667" cy="0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653589" y="1516963"/>
            <a:ext cx="230541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LALANA COMPNAY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28996" y="1516963"/>
            <a:ext cx="230541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0" y="0"/>
                </a:moveTo>
                <a:lnTo>
                  <a:pt x="18947008" y="0"/>
                </a:lnTo>
                <a:lnTo>
                  <a:pt x="18947008" y="10894034"/>
                </a:lnTo>
                <a:lnTo>
                  <a:pt x="0" y="10894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00492" y="3684775"/>
            <a:ext cx="3323343" cy="2286651"/>
            <a:chOff x="0" y="0"/>
            <a:chExt cx="359252" cy="2471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9252" cy="247178"/>
            </a:xfrm>
            <a:custGeom>
              <a:avLst/>
              <a:gdLst/>
              <a:ahLst/>
              <a:cxnLst/>
              <a:rect r="r" b="b" t="t" l="l"/>
              <a:pathLst>
                <a:path h="247178" w="359252">
                  <a:moveTo>
                    <a:pt x="359252" y="102501"/>
                  </a:moveTo>
                  <a:lnTo>
                    <a:pt x="359252" y="144678"/>
                  </a:lnTo>
                  <a:cubicBezTo>
                    <a:pt x="359252" y="201287"/>
                    <a:pt x="313361" y="247178"/>
                    <a:pt x="256752" y="247178"/>
                  </a:cubicBezTo>
                  <a:lnTo>
                    <a:pt x="102501" y="247178"/>
                  </a:lnTo>
                  <a:cubicBezTo>
                    <a:pt x="45891" y="247178"/>
                    <a:pt x="0" y="201287"/>
                    <a:pt x="0" y="144678"/>
                  </a:cubicBezTo>
                  <a:lnTo>
                    <a:pt x="0" y="102501"/>
                  </a:lnTo>
                  <a:cubicBezTo>
                    <a:pt x="0" y="45891"/>
                    <a:pt x="45891" y="0"/>
                    <a:pt x="102501" y="0"/>
                  </a:cubicBezTo>
                  <a:lnTo>
                    <a:pt x="256752" y="0"/>
                  </a:lnTo>
                  <a:cubicBezTo>
                    <a:pt x="313361" y="0"/>
                    <a:pt x="359252" y="45891"/>
                    <a:pt x="359252" y="102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9252" cy="28527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04031" y="4437105"/>
            <a:ext cx="301625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회사 및 브랜드 소개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04031" y="3927374"/>
            <a:ext cx="74956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04031" y="5013512"/>
            <a:ext cx="284964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소개할 내용을 입력해 보세요.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주제의 핵심 내용을 입력해요.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400407" y="6469164"/>
            <a:ext cx="3323343" cy="2286651"/>
            <a:chOff x="0" y="0"/>
            <a:chExt cx="359252" cy="2471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9252" cy="247178"/>
            </a:xfrm>
            <a:custGeom>
              <a:avLst/>
              <a:gdLst/>
              <a:ahLst/>
              <a:cxnLst/>
              <a:rect r="r" b="b" t="t" l="l"/>
              <a:pathLst>
                <a:path h="247178" w="359252">
                  <a:moveTo>
                    <a:pt x="359252" y="102501"/>
                  </a:moveTo>
                  <a:lnTo>
                    <a:pt x="359252" y="144678"/>
                  </a:lnTo>
                  <a:cubicBezTo>
                    <a:pt x="359252" y="201287"/>
                    <a:pt x="313361" y="247178"/>
                    <a:pt x="256752" y="247178"/>
                  </a:cubicBezTo>
                  <a:lnTo>
                    <a:pt x="102501" y="247178"/>
                  </a:lnTo>
                  <a:cubicBezTo>
                    <a:pt x="45891" y="247178"/>
                    <a:pt x="0" y="201287"/>
                    <a:pt x="0" y="144678"/>
                  </a:cubicBezTo>
                  <a:lnTo>
                    <a:pt x="0" y="102501"/>
                  </a:lnTo>
                  <a:cubicBezTo>
                    <a:pt x="0" y="45891"/>
                    <a:pt x="45891" y="0"/>
                    <a:pt x="102501" y="0"/>
                  </a:cubicBezTo>
                  <a:lnTo>
                    <a:pt x="256752" y="0"/>
                  </a:lnTo>
                  <a:cubicBezTo>
                    <a:pt x="313361" y="0"/>
                    <a:pt x="359252" y="45891"/>
                    <a:pt x="359252" y="102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59252" cy="28527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03946" y="7214683"/>
            <a:ext cx="271145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핵심 마케팅 전략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03946" y="6711763"/>
            <a:ext cx="74956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03946" y="7791090"/>
            <a:ext cx="284964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소개할 내용을 입력해 보세요.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주제의 핵심 내용을 입력해요.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482286" y="3684775"/>
            <a:ext cx="3323343" cy="2286651"/>
            <a:chOff x="0" y="0"/>
            <a:chExt cx="359252" cy="2471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9252" cy="247178"/>
            </a:xfrm>
            <a:custGeom>
              <a:avLst/>
              <a:gdLst/>
              <a:ahLst/>
              <a:cxnLst/>
              <a:rect r="r" b="b" t="t" l="l"/>
              <a:pathLst>
                <a:path h="247178" w="359252">
                  <a:moveTo>
                    <a:pt x="359252" y="102501"/>
                  </a:moveTo>
                  <a:lnTo>
                    <a:pt x="359252" y="144678"/>
                  </a:lnTo>
                  <a:cubicBezTo>
                    <a:pt x="359252" y="201287"/>
                    <a:pt x="313361" y="247178"/>
                    <a:pt x="256752" y="247178"/>
                  </a:cubicBezTo>
                  <a:lnTo>
                    <a:pt x="102501" y="247178"/>
                  </a:lnTo>
                  <a:cubicBezTo>
                    <a:pt x="45891" y="247178"/>
                    <a:pt x="0" y="201287"/>
                    <a:pt x="0" y="144678"/>
                  </a:cubicBezTo>
                  <a:lnTo>
                    <a:pt x="0" y="102501"/>
                  </a:lnTo>
                  <a:cubicBezTo>
                    <a:pt x="0" y="45891"/>
                    <a:pt x="45891" y="0"/>
                    <a:pt x="102501" y="0"/>
                  </a:cubicBezTo>
                  <a:lnTo>
                    <a:pt x="256752" y="0"/>
                  </a:lnTo>
                  <a:cubicBezTo>
                    <a:pt x="313361" y="0"/>
                    <a:pt x="359252" y="45891"/>
                    <a:pt x="359252" y="102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9252" cy="28527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785825" y="4437105"/>
            <a:ext cx="149913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시장 분석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85825" y="3927374"/>
            <a:ext cx="74956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85825" y="5013512"/>
            <a:ext cx="284964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소개할 내용을 입력해 보세요.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주제의 핵심 내용을 입력해요.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482201" y="6469164"/>
            <a:ext cx="3323343" cy="2286651"/>
            <a:chOff x="0" y="0"/>
            <a:chExt cx="359252" cy="2471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252" cy="247178"/>
            </a:xfrm>
            <a:custGeom>
              <a:avLst/>
              <a:gdLst/>
              <a:ahLst/>
              <a:cxnLst/>
              <a:rect r="r" b="b" t="t" l="l"/>
              <a:pathLst>
                <a:path h="247178" w="359252">
                  <a:moveTo>
                    <a:pt x="359252" y="102501"/>
                  </a:moveTo>
                  <a:lnTo>
                    <a:pt x="359252" y="144678"/>
                  </a:lnTo>
                  <a:cubicBezTo>
                    <a:pt x="359252" y="201287"/>
                    <a:pt x="313361" y="247178"/>
                    <a:pt x="256752" y="247178"/>
                  </a:cubicBezTo>
                  <a:lnTo>
                    <a:pt x="102501" y="247178"/>
                  </a:lnTo>
                  <a:cubicBezTo>
                    <a:pt x="45891" y="247178"/>
                    <a:pt x="0" y="201287"/>
                    <a:pt x="0" y="144678"/>
                  </a:cubicBezTo>
                  <a:lnTo>
                    <a:pt x="0" y="102501"/>
                  </a:lnTo>
                  <a:cubicBezTo>
                    <a:pt x="0" y="45891"/>
                    <a:pt x="45891" y="0"/>
                    <a:pt x="102501" y="0"/>
                  </a:cubicBezTo>
                  <a:lnTo>
                    <a:pt x="256752" y="0"/>
                  </a:lnTo>
                  <a:cubicBezTo>
                    <a:pt x="313361" y="0"/>
                    <a:pt x="359252" y="45891"/>
                    <a:pt x="359252" y="102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59252" cy="28527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785741" y="7214683"/>
            <a:ext cx="149913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실행 계획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85741" y="6711763"/>
            <a:ext cx="74956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85741" y="7791090"/>
            <a:ext cx="284964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소개할 내용을 입력해 보세요.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주제의 핵심 내용을 입력해요.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564250" y="3684775"/>
            <a:ext cx="3323343" cy="2286651"/>
            <a:chOff x="0" y="0"/>
            <a:chExt cx="359252" cy="2471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9252" cy="247178"/>
            </a:xfrm>
            <a:custGeom>
              <a:avLst/>
              <a:gdLst/>
              <a:ahLst/>
              <a:cxnLst/>
              <a:rect r="r" b="b" t="t" l="l"/>
              <a:pathLst>
                <a:path h="247178" w="359252">
                  <a:moveTo>
                    <a:pt x="359252" y="102501"/>
                  </a:moveTo>
                  <a:lnTo>
                    <a:pt x="359252" y="144678"/>
                  </a:lnTo>
                  <a:cubicBezTo>
                    <a:pt x="359252" y="201287"/>
                    <a:pt x="313361" y="247178"/>
                    <a:pt x="256752" y="247178"/>
                  </a:cubicBezTo>
                  <a:lnTo>
                    <a:pt x="102501" y="247178"/>
                  </a:lnTo>
                  <a:cubicBezTo>
                    <a:pt x="45891" y="247178"/>
                    <a:pt x="0" y="201287"/>
                    <a:pt x="0" y="144678"/>
                  </a:cubicBezTo>
                  <a:lnTo>
                    <a:pt x="0" y="102501"/>
                  </a:lnTo>
                  <a:cubicBezTo>
                    <a:pt x="0" y="45891"/>
                    <a:pt x="45891" y="0"/>
                    <a:pt x="102501" y="0"/>
                  </a:cubicBezTo>
                  <a:lnTo>
                    <a:pt x="256752" y="0"/>
                  </a:lnTo>
                  <a:cubicBezTo>
                    <a:pt x="313361" y="0"/>
                    <a:pt x="359252" y="45891"/>
                    <a:pt x="359252" y="102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59252" cy="28527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867789" y="4437105"/>
            <a:ext cx="149913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타겟 분석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67789" y="3927374"/>
            <a:ext cx="74956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67789" y="5013512"/>
            <a:ext cx="284964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소개할 내용을 입력해 보세요.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주제의 핵심 내용을 입력해요.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564165" y="6469164"/>
            <a:ext cx="3323343" cy="2286651"/>
            <a:chOff x="0" y="0"/>
            <a:chExt cx="359252" cy="2471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252" cy="247178"/>
            </a:xfrm>
            <a:custGeom>
              <a:avLst/>
              <a:gdLst/>
              <a:ahLst/>
              <a:cxnLst/>
              <a:rect r="r" b="b" t="t" l="l"/>
              <a:pathLst>
                <a:path h="247178" w="359252">
                  <a:moveTo>
                    <a:pt x="359252" y="102501"/>
                  </a:moveTo>
                  <a:lnTo>
                    <a:pt x="359252" y="144678"/>
                  </a:lnTo>
                  <a:cubicBezTo>
                    <a:pt x="359252" y="201287"/>
                    <a:pt x="313361" y="247178"/>
                    <a:pt x="256752" y="247178"/>
                  </a:cubicBezTo>
                  <a:lnTo>
                    <a:pt x="102501" y="247178"/>
                  </a:lnTo>
                  <a:cubicBezTo>
                    <a:pt x="45891" y="247178"/>
                    <a:pt x="0" y="201287"/>
                    <a:pt x="0" y="144678"/>
                  </a:cubicBezTo>
                  <a:lnTo>
                    <a:pt x="0" y="102501"/>
                  </a:lnTo>
                  <a:cubicBezTo>
                    <a:pt x="0" y="45891"/>
                    <a:pt x="45891" y="0"/>
                    <a:pt x="102501" y="0"/>
                  </a:cubicBezTo>
                  <a:lnTo>
                    <a:pt x="256752" y="0"/>
                  </a:lnTo>
                  <a:cubicBezTo>
                    <a:pt x="313361" y="0"/>
                    <a:pt x="359252" y="45891"/>
                    <a:pt x="359252" y="102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59252" cy="28527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867704" y="7214683"/>
            <a:ext cx="204971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KPI 및 예측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67704" y="6711763"/>
            <a:ext cx="74956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67704" y="7791090"/>
            <a:ext cx="284964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소개할 내용을 입력해 보세요.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주제의 핵심 내용을 입력해요.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88142" y="1462275"/>
            <a:ext cx="451171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목차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88142" y="897124"/>
            <a:ext cx="45117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*</a:t>
            </a:r>
          </a:p>
        </p:txBody>
      </p:sp>
      <p:sp>
        <p:nvSpPr>
          <p:cNvPr name="AutoShape 41" id="41"/>
          <p:cNvSpPr/>
          <p:nvPr/>
        </p:nvSpPr>
        <p:spPr>
          <a:xfrm>
            <a:off x="1181726" y="2628149"/>
            <a:ext cx="15905498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0" y="10894034"/>
                </a:moveTo>
                <a:lnTo>
                  <a:pt x="18947008" y="10894034"/>
                </a:lnTo>
                <a:lnTo>
                  <a:pt x="18947008" y="0"/>
                </a:lnTo>
                <a:lnTo>
                  <a:pt x="0" y="0"/>
                </a:lnTo>
                <a:lnTo>
                  <a:pt x="0" y="10894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3888105" y="1314450"/>
            <a:ext cx="12695099" cy="3628837"/>
            <a:chOff x="0" y="0"/>
            <a:chExt cx="1668907" cy="4770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68906" cy="477049"/>
            </a:xfrm>
            <a:custGeom>
              <a:avLst/>
              <a:gdLst/>
              <a:ahLst/>
              <a:cxnLst/>
              <a:rect r="r" b="b" t="t" l="l"/>
              <a:pathLst>
                <a:path h="477049" w="1668906">
                  <a:moveTo>
                    <a:pt x="0" y="0"/>
                  </a:moveTo>
                  <a:lnTo>
                    <a:pt x="1668906" y="0"/>
                  </a:lnTo>
                  <a:lnTo>
                    <a:pt x="1668906" y="477049"/>
                  </a:lnTo>
                  <a:lnTo>
                    <a:pt x="0" y="477049"/>
                  </a:lnTo>
                  <a:close/>
                </a:path>
              </a:pathLst>
            </a:custGeom>
            <a:blipFill>
              <a:blip r:embed="rId4"/>
              <a:stretch>
                <a:fillRect l="0" t="-47750" r="0" b="-8547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09700" y="1866900"/>
            <a:ext cx="1730694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회사 및 브랜드 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88105" y="5581042"/>
            <a:ext cx="651199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1. 트렌디한 라이프스타일을 선도하는 브랜드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88105" y="7453422"/>
            <a:ext cx="448826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2. 작지만 확실한 일상의 혁신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88105" y="6194217"/>
            <a:ext cx="12695099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트렌디한 라이프스타일을 선도하는 브랜드입니다.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주요 </a:t>
            </a: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제품군은 뷰티/헬스/패션 분야로 구성되어 있으며, 20~30대 여성 고객층을 중심으로 빠르게 성장 중입니다.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88105" y="8066597"/>
            <a:ext cx="12695099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앞으로도 고객의 기대를 뛰어넘는 품질과 서비스를 제공하기 위해 최선을 다하겠습니다.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고객님의 일상에 특별함을 더할 수 있는 브랜드가 되기 위해 지속적으로 발전해 나가겠습니다.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18947008" y="0"/>
                </a:moveTo>
                <a:lnTo>
                  <a:pt x="0" y="0"/>
                </a:lnTo>
                <a:lnTo>
                  <a:pt x="0" y="10894034"/>
                </a:lnTo>
                <a:lnTo>
                  <a:pt x="18947008" y="10894034"/>
                </a:lnTo>
                <a:lnTo>
                  <a:pt x="18947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09700" y="1866900"/>
            <a:ext cx="173069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시장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분석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9694" y="1794541"/>
            <a:ext cx="860754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소비자와</a:t>
            </a: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경쟁사를 둘러싼 흐름 파악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939694" y="3067050"/>
            <a:ext cx="12063884" cy="1666585"/>
            <a:chOff x="0" y="0"/>
            <a:chExt cx="1304101" cy="1801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4101" cy="180152"/>
            </a:xfrm>
            <a:custGeom>
              <a:avLst/>
              <a:gdLst/>
              <a:ahLst/>
              <a:cxnLst/>
              <a:rect r="r" b="b" t="t" l="l"/>
              <a:pathLst>
                <a:path h="180152" w="1304101">
                  <a:moveTo>
                    <a:pt x="1304101" y="28237"/>
                  </a:moveTo>
                  <a:lnTo>
                    <a:pt x="1304101" y="151915"/>
                  </a:lnTo>
                  <a:cubicBezTo>
                    <a:pt x="1304101" y="167510"/>
                    <a:pt x="1291459" y="180152"/>
                    <a:pt x="1275864" y="180152"/>
                  </a:cubicBezTo>
                  <a:lnTo>
                    <a:pt x="28237" y="180152"/>
                  </a:lnTo>
                  <a:cubicBezTo>
                    <a:pt x="20748" y="180152"/>
                    <a:pt x="13566" y="177177"/>
                    <a:pt x="8270" y="171881"/>
                  </a:cubicBezTo>
                  <a:cubicBezTo>
                    <a:pt x="2975" y="166586"/>
                    <a:pt x="0" y="159404"/>
                    <a:pt x="0" y="151915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04101" cy="218252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192064" y="3293839"/>
            <a:ext cx="681066" cy="68106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036388" y="3382912"/>
            <a:ext cx="536803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MZ세대 중심의 구매 트렌드 변화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73566" y="3382912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36388" y="4172059"/>
            <a:ext cx="609357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MZ세대 중심의 구매 트렌드 변화에 대해 분석해 보았습니다.</a:t>
            </a:r>
          </a:p>
        </p:txBody>
      </p:sp>
      <p:sp>
        <p:nvSpPr>
          <p:cNvPr name="AutoShape 19" id="19"/>
          <p:cNvSpPr/>
          <p:nvPr/>
        </p:nvSpPr>
        <p:spPr>
          <a:xfrm>
            <a:off x="5036388" y="4022530"/>
            <a:ext cx="103930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3939694" y="5106521"/>
            <a:ext cx="12063884" cy="1666585"/>
            <a:chOff x="0" y="0"/>
            <a:chExt cx="1304101" cy="1801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04101" cy="180152"/>
            </a:xfrm>
            <a:custGeom>
              <a:avLst/>
              <a:gdLst/>
              <a:ahLst/>
              <a:cxnLst/>
              <a:rect r="r" b="b" t="t" l="l"/>
              <a:pathLst>
                <a:path h="180152" w="1304101">
                  <a:moveTo>
                    <a:pt x="1304101" y="28237"/>
                  </a:moveTo>
                  <a:lnTo>
                    <a:pt x="1304101" y="151915"/>
                  </a:lnTo>
                  <a:cubicBezTo>
                    <a:pt x="1304101" y="167510"/>
                    <a:pt x="1291459" y="180152"/>
                    <a:pt x="1275864" y="180152"/>
                  </a:cubicBezTo>
                  <a:lnTo>
                    <a:pt x="28237" y="180152"/>
                  </a:lnTo>
                  <a:cubicBezTo>
                    <a:pt x="20748" y="180152"/>
                    <a:pt x="13566" y="177177"/>
                    <a:pt x="8270" y="171881"/>
                  </a:cubicBezTo>
                  <a:cubicBezTo>
                    <a:pt x="2975" y="166586"/>
                    <a:pt x="0" y="159404"/>
                    <a:pt x="0" y="151915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04101" cy="218252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92064" y="5333311"/>
            <a:ext cx="681066" cy="68106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036388" y="5422384"/>
            <a:ext cx="536803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디지털 채널 기반 소비자 접점 강화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73566" y="5422384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36388" y="6211530"/>
            <a:ext cx="609357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디지털 채널 기반 소비자 접점 강화에 대해 분석해 보았습니다.</a:t>
            </a:r>
          </a:p>
        </p:txBody>
      </p:sp>
      <p:sp>
        <p:nvSpPr>
          <p:cNvPr name="AutoShape 29" id="29"/>
          <p:cNvSpPr/>
          <p:nvPr/>
        </p:nvSpPr>
        <p:spPr>
          <a:xfrm>
            <a:off x="5036388" y="6062002"/>
            <a:ext cx="103930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3939694" y="7145993"/>
            <a:ext cx="12063884" cy="1666585"/>
            <a:chOff x="0" y="0"/>
            <a:chExt cx="1304101" cy="1801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04101" cy="180152"/>
            </a:xfrm>
            <a:custGeom>
              <a:avLst/>
              <a:gdLst/>
              <a:ahLst/>
              <a:cxnLst/>
              <a:rect r="r" b="b" t="t" l="l"/>
              <a:pathLst>
                <a:path h="180152" w="1304101">
                  <a:moveTo>
                    <a:pt x="1304101" y="28237"/>
                  </a:moveTo>
                  <a:lnTo>
                    <a:pt x="1304101" y="151915"/>
                  </a:lnTo>
                  <a:cubicBezTo>
                    <a:pt x="1304101" y="167510"/>
                    <a:pt x="1291459" y="180152"/>
                    <a:pt x="1275864" y="180152"/>
                  </a:cubicBezTo>
                  <a:lnTo>
                    <a:pt x="28237" y="180152"/>
                  </a:lnTo>
                  <a:cubicBezTo>
                    <a:pt x="20748" y="180152"/>
                    <a:pt x="13566" y="177177"/>
                    <a:pt x="8270" y="171881"/>
                  </a:cubicBezTo>
                  <a:cubicBezTo>
                    <a:pt x="2975" y="166586"/>
                    <a:pt x="0" y="159404"/>
                    <a:pt x="0" y="151915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04101" cy="218252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192064" y="7372782"/>
            <a:ext cx="681066" cy="681066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036388" y="7461855"/>
            <a:ext cx="582933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SNS 기반 콘텐츠 커머스에 집중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273566" y="7461855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36388" y="8251002"/>
            <a:ext cx="609357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SNS 기반 콘텐츠 커머스에 집중에 대해 분석해 보았습니다.</a:t>
            </a:r>
          </a:p>
        </p:txBody>
      </p:sp>
      <p:sp>
        <p:nvSpPr>
          <p:cNvPr name="AutoShape 39" id="39"/>
          <p:cNvSpPr/>
          <p:nvPr/>
        </p:nvSpPr>
        <p:spPr>
          <a:xfrm>
            <a:off x="5036388" y="8101473"/>
            <a:ext cx="1039305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0" y="0"/>
                </a:moveTo>
                <a:lnTo>
                  <a:pt x="18947008" y="0"/>
                </a:lnTo>
                <a:lnTo>
                  <a:pt x="18947008" y="10894034"/>
                </a:lnTo>
                <a:lnTo>
                  <a:pt x="0" y="10894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111144" y="6854997"/>
            <a:ext cx="5839303" cy="2050907"/>
            <a:chOff x="0" y="0"/>
            <a:chExt cx="631226" cy="2216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1226" cy="221695"/>
            </a:xfrm>
            <a:custGeom>
              <a:avLst/>
              <a:gdLst/>
              <a:ahLst/>
              <a:cxnLst/>
              <a:rect r="r" b="b" t="t" l="l"/>
              <a:pathLst>
                <a:path h="221695" w="631226">
                  <a:moveTo>
                    <a:pt x="631226" y="58336"/>
                  </a:moveTo>
                  <a:lnTo>
                    <a:pt x="631226" y="163359"/>
                  </a:lnTo>
                  <a:cubicBezTo>
                    <a:pt x="631226" y="178831"/>
                    <a:pt x="625080" y="193669"/>
                    <a:pt x="614140" y="204609"/>
                  </a:cubicBezTo>
                  <a:cubicBezTo>
                    <a:pt x="603200" y="215549"/>
                    <a:pt x="588362" y="221695"/>
                    <a:pt x="572890" y="221695"/>
                  </a:cubicBezTo>
                  <a:lnTo>
                    <a:pt x="58336" y="221695"/>
                  </a:lnTo>
                  <a:cubicBezTo>
                    <a:pt x="42865" y="221695"/>
                    <a:pt x="28027" y="215549"/>
                    <a:pt x="17086" y="204609"/>
                  </a:cubicBezTo>
                  <a:cubicBezTo>
                    <a:pt x="6146" y="193669"/>
                    <a:pt x="0" y="178831"/>
                    <a:pt x="0" y="163359"/>
                  </a:cubicBezTo>
                  <a:lnTo>
                    <a:pt x="0" y="58336"/>
                  </a:lnTo>
                  <a:cubicBezTo>
                    <a:pt x="0" y="42865"/>
                    <a:pt x="6146" y="28027"/>
                    <a:pt x="17086" y="17086"/>
                  </a:cubicBezTo>
                  <a:cubicBezTo>
                    <a:pt x="28027" y="6146"/>
                    <a:pt x="42865" y="0"/>
                    <a:pt x="58336" y="0"/>
                  </a:cubicBezTo>
                  <a:lnTo>
                    <a:pt x="572890" y="0"/>
                  </a:lnTo>
                  <a:cubicBezTo>
                    <a:pt x="588362" y="0"/>
                    <a:pt x="603200" y="6146"/>
                    <a:pt x="614140" y="17086"/>
                  </a:cubicBezTo>
                  <a:cubicBezTo>
                    <a:pt x="625080" y="28027"/>
                    <a:pt x="631226" y="42865"/>
                    <a:pt x="631226" y="58336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1226" cy="259795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11144" y="3237792"/>
            <a:ext cx="5839303" cy="3310151"/>
            <a:chOff x="0" y="0"/>
            <a:chExt cx="1285497" cy="72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5497" cy="728715"/>
            </a:xfrm>
            <a:custGeom>
              <a:avLst/>
              <a:gdLst/>
              <a:ahLst/>
              <a:cxnLst/>
              <a:rect r="r" b="b" t="t" l="l"/>
              <a:pathLst>
                <a:path h="728715" w="1285497">
                  <a:moveTo>
                    <a:pt x="0" y="0"/>
                  </a:moveTo>
                  <a:lnTo>
                    <a:pt x="1285497" y="0"/>
                  </a:lnTo>
                  <a:lnTo>
                    <a:pt x="1285497" y="728715"/>
                  </a:lnTo>
                  <a:lnTo>
                    <a:pt x="0" y="728715"/>
                  </a:lnTo>
                  <a:close/>
                </a:path>
              </a:pathLst>
            </a:custGeom>
            <a:blipFill>
              <a:blip r:embed="rId4"/>
              <a:stretch>
                <a:fillRect l="0" t="-8765" r="0" b="-876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35880" y="6998318"/>
            <a:ext cx="1041192" cy="473037"/>
            <a:chOff x="0" y="0"/>
            <a:chExt cx="288132" cy="1309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8132" cy="130901"/>
            </a:xfrm>
            <a:custGeom>
              <a:avLst/>
              <a:gdLst/>
              <a:ahLst/>
              <a:cxnLst/>
              <a:rect r="r" b="b" t="t" l="l"/>
              <a:pathLst>
                <a:path h="130901" w="288132">
                  <a:moveTo>
                    <a:pt x="288132" y="65450"/>
                  </a:moveTo>
                  <a:lnTo>
                    <a:pt x="288132" y="65450"/>
                  </a:lnTo>
                  <a:cubicBezTo>
                    <a:pt x="288132" y="82809"/>
                    <a:pt x="281236" y="99457"/>
                    <a:pt x="268962" y="111731"/>
                  </a:cubicBezTo>
                  <a:cubicBezTo>
                    <a:pt x="256688" y="124005"/>
                    <a:pt x="240040" y="130901"/>
                    <a:pt x="222682" y="130901"/>
                  </a:cubicBezTo>
                  <a:lnTo>
                    <a:pt x="65450" y="130901"/>
                  </a:lnTo>
                  <a:cubicBezTo>
                    <a:pt x="48092" y="130901"/>
                    <a:pt x="31444" y="124005"/>
                    <a:pt x="19170" y="111731"/>
                  </a:cubicBezTo>
                  <a:cubicBezTo>
                    <a:pt x="6896" y="99457"/>
                    <a:pt x="0" y="82809"/>
                    <a:pt x="0" y="65450"/>
                  </a:cubicBezTo>
                  <a:lnTo>
                    <a:pt x="0" y="65450"/>
                  </a:lnTo>
                  <a:cubicBezTo>
                    <a:pt x="0" y="48092"/>
                    <a:pt x="6896" y="31444"/>
                    <a:pt x="19170" y="19170"/>
                  </a:cubicBezTo>
                  <a:cubicBezTo>
                    <a:pt x="31444" y="6896"/>
                    <a:pt x="48092" y="0"/>
                    <a:pt x="65450" y="0"/>
                  </a:cubicBezTo>
                  <a:lnTo>
                    <a:pt x="222682" y="0"/>
                  </a:lnTo>
                  <a:cubicBezTo>
                    <a:pt x="240040" y="0"/>
                    <a:pt x="256688" y="6896"/>
                    <a:pt x="268962" y="19170"/>
                  </a:cubicBezTo>
                  <a:cubicBezTo>
                    <a:pt x="281236" y="31444"/>
                    <a:pt x="288132" y="48092"/>
                    <a:pt x="288132" y="654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8132" cy="169001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35880" y="7636713"/>
            <a:ext cx="1041192" cy="473037"/>
            <a:chOff x="0" y="0"/>
            <a:chExt cx="288132" cy="1309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8132" cy="130901"/>
            </a:xfrm>
            <a:custGeom>
              <a:avLst/>
              <a:gdLst/>
              <a:ahLst/>
              <a:cxnLst/>
              <a:rect r="r" b="b" t="t" l="l"/>
              <a:pathLst>
                <a:path h="130901" w="288132">
                  <a:moveTo>
                    <a:pt x="288132" y="65450"/>
                  </a:moveTo>
                  <a:lnTo>
                    <a:pt x="288132" y="65450"/>
                  </a:lnTo>
                  <a:cubicBezTo>
                    <a:pt x="288132" y="82809"/>
                    <a:pt x="281236" y="99457"/>
                    <a:pt x="268962" y="111731"/>
                  </a:cubicBezTo>
                  <a:cubicBezTo>
                    <a:pt x="256688" y="124005"/>
                    <a:pt x="240040" y="130901"/>
                    <a:pt x="222682" y="130901"/>
                  </a:cubicBezTo>
                  <a:lnTo>
                    <a:pt x="65450" y="130901"/>
                  </a:lnTo>
                  <a:cubicBezTo>
                    <a:pt x="48092" y="130901"/>
                    <a:pt x="31444" y="124005"/>
                    <a:pt x="19170" y="111731"/>
                  </a:cubicBezTo>
                  <a:cubicBezTo>
                    <a:pt x="6896" y="99457"/>
                    <a:pt x="0" y="82809"/>
                    <a:pt x="0" y="65450"/>
                  </a:cubicBezTo>
                  <a:lnTo>
                    <a:pt x="0" y="65450"/>
                  </a:lnTo>
                  <a:cubicBezTo>
                    <a:pt x="0" y="48092"/>
                    <a:pt x="6896" y="31444"/>
                    <a:pt x="19170" y="19170"/>
                  </a:cubicBezTo>
                  <a:cubicBezTo>
                    <a:pt x="31444" y="6896"/>
                    <a:pt x="48092" y="0"/>
                    <a:pt x="65450" y="0"/>
                  </a:cubicBezTo>
                  <a:lnTo>
                    <a:pt x="222682" y="0"/>
                  </a:lnTo>
                  <a:cubicBezTo>
                    <a:pt x="240040" y="0"/>
                    <a:pt x="256688" y="6896"/>
                    <a:pt x="268962" y="19170"/>
                  </a:cubicBezTo>
                  <a:cubicBezTo>
                    <a:pt x="281236" y="31444"/>
                    <a:pt x="288132" y="48092"/>
                    <a:pt x="288132" y="654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88132" cy="169001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435880" y="8275108"/>
            <a:ext cx="1041192" cy="473037"/>
            <a:chOff x="0" y="0"/>
            <a:chExt cx="288132" cy="1309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8132" cy="130901"/>
            </a:xfrm>
            <a:custGeom>
              <a:avLst/>
              <a:gdLst/>
              <a:ahLst/>
              <a:cxnLst/>
              <a:rect r="r" b="b" t="t" l="l"/>
              <a:pathLst>
                <a:path h="130901" w="288132">
                  <a:moveTo>
                    <a:pt x="288132" y="65450"/>
                  </a:moveTo>
                  <a:lnTo>
                    <a:pt x="288132" y="65450"/>
                  </a:lnTo>
                  <a:cubicBezTo>
                    <a:pt x="288132" y="82809"/>
                    <a:pt x="281236" y="99457"/>
                    <a:pt x="268962" y="111731"/>
                  </a:cubicBezTo>
                  <a:cubicBezTo>
                    <a:pt x="256688" y="124005"/>
                    <a:pt x="240040" y="130901"/>
                    <a:pt x="222682" y="130901"/>
                  </a:cubicBezTo>
                  <a:lnTo>
                    <a:pt x="65450" y="130901"/>
                  </a:lnTo>
                  <a:cubicBezTo>
                    <a:pt x="48092" y="130901"/>
                    <a:pt x="31444" y="124005"/>
                    <a:pt x="19170" y="111731"/>
                  </a:cubicBezTo>
                  <a:cubicBezTo>
                    <a:pt x="6896" y="99457"/>
                    <a:pt x="0" y="82809"/>
                    <a:pt x="0" y="65450"/>
                  </a:cubicBezTo>
                  <a:lnTo>
                    <a:pt x="0" y="65450"/>
                  </a:lnTo>
                  <a:cubicBezTo>
                    <a:pt x="0" y="48092"/>
                    <a:pt x="6896" y="31444"/>
                    <a:pt x="19170" y="19170"/>
                  </a:cubicBezTo>
                  <a:cubicBezTo>
                    <a:pt x="31444" y="6896"/>
                    <a:pt x="48092" y="0"/>
                    <a:pt x="65450" y="0"/>
                  </a:cubicBezTo>
                  <a:lnTo>
                    <a:pt x="222682" y="0"/>
                  </a:lnTo>
                  <a:cubicBezTo>
                    <a:pt x="240040" y="0"/>
                    <a:pt x="256688" y="6896"/>
                    <a:pt x="268962" y="19170"/>
                  </a:cubicBezTo>
                  <a:cubicBezTo>
                    <a:pt x="281236" y="31444"/>
                    <a:pt x="288132" y="48092"/>
                    <a:pt x="288132" y="654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8132" cy="169001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02897" y="6854997"/>
            <a:ext cx="5839303" cy="2050907"/>
            <a:chOff x="0" y="0"/>
            <a:chExt cx="631226" cy="2216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1226" cy="221695"/>
            </a:xfrm>
            <a:custGeom>
              <a:avLst/>
              <a:gdLst/>
              <a:ahLst/>
              <a:cxnLst/>
              <a:rect r="r" b="b" t="t" l="l"/>
              <a:pathLst>
                <a:path h="221695" w="631226">
                  <a:moveTo>
                    <a:pt x="631226" y="58336"/>
                  </a:moveTo>
                  <a:lnTo>
                    <a:pt x="631226" y="163359"/>
                  </a:lnTo>
                  <a:cubicBezTo>
                    <a:pt x="631226" y="178831"/>
                    <a:pt x="625080" y="193669"/>
                    <a:pt x="614140" y="204609"/>
                  </a:cubicBezTo>
                  <a:cubicBezTo>
                    <a:pt x="603200" y="215549"/>
                    <a:pt x="588362" y="221695"/>
                    <a:pt x="572890" y="221695"/>
                  </a:cubicBezTo>
                  <a:lnTo>
                    <a:pt x="58336" y="221695"/>
                  </a:lnTo>
                  <a:cubicBezTo>
                    <a:pt x="42865" y="221695"/>
                    <a:pt x="28027" y="215549"/>
                    <a:pt x="17086" y="204609"/>
                  </a:cubicBezTo>
                  <a:cubicBezTo>
                    <a:pt x="6146" y="193669"/>
                    <a:pt x="0" y="178831"/>
                    <a:pt x="0" y="163359"/>
                  </a:cubicBezTo>
                  <a:lnTo>
                    <a:pt x="0" y="58336"/>
                  </a:lnTo>
                  <a:cubicBezTo>
                    <a:pt x="0" y="42865"/>
                    <a:pt x="6146" y="28027"/>
                    <a:pt x="17086" y="17086"/>
                  </a:cubicBezTo>
                  <a:cubicBezTo>
                    <a:pt x="28027" y="6146"/>
                    <a:pt x="42865" y="0"/>
                    <a:pt x="58336" y="0"/>
                  </a:cubicBezTo>
                  <a:lnTo>
                    <a:pt x="572890" y="0"/>
                  </a:lnTo>
                  <a:cubicBezTo>
                    <a:pt x="588362" y="0"/>
                    <a:pt x="603200" y="6146"/>
                    <a:pt x="614140" y="17086"/>
                  </a:cubicBezTo>
                  <a:cubicBezTo>
                    <a:pt x="625080" y="28027"/>
                    <a:pt x="631226" y="42865"/>
                    <a:pt x="631226" y="58336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31226" cy="259795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502897" y="3237792"/>
            <a:ext cx="5839303" cy="3310151"/>
            <a:chOff x="0" y="0"/>
            <a:chExt cx="1285497" cy="7287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5497" cy="728715"/>
            </a:xfrm>
            <a:custGeom>
              <a:avLst/>
              <a:gdLst/>
              <a:ahLst/>
              <a:cxnLst/>
              <a:rect r="r" b="b" t="t" l="l"/>
              <a:pathLst>
                <a:path h="728715" w="1285497">
                  <a:moveTo>
                    <a:pt x="0" y="0"/>
                  </a:moveTo>
                  <a:lnTo>
                    <a:pt x="1285497" y="0"/>
                  </a:lnTo>
                  <a:lnTo>
                    <a:pt x="1285497" y="728715"/>
                  </a:lnTo>
                  <a:lnTo>
                    <a:pt x="0" y="728715"/>
                  </a:lnTo>
                  <a:close/>
                </a:path>
              </a:pathLst>
            </a:custGeom>
            <a:blipFill>
              <a:blip r:embed="rId5"/>
              <a:stretch>
                <a:fillRect l="0" t="-25166" r="0" b="-5123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827633" y="6998318"/>
            <a:ext cx="1041192" cy="473037"/>
            <a:chOff x="0" y="0"/>
            <a:chExt cx="288132" cy="1309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8132" cy="130901"/>
            </a:xfrm>
            <a:custGeom>
              <a:avLst/>
              <a:gdLst/>
              <a:ahLst/>
              <a:cxnLst/>
              <a:rect r="r" b="b" t="t" l="l"/>
              <a:pathLst>
                <a:path h="130901" w="288132">
                  <a:moveTo>
                    <a:pt x="288132" y="65450"/>
                  </a:moveTo>
                  <a:lnTo>
                    <a:pt x="288132" y="65450"/>
                  </a:lnTo>
                  <a:cubicBezTo>
                    <a:pt x="288132" y="82809"/>
                    <a:pt x="281236" y="99457"/>
                    <a:pt x="268962" y="111731"/>
                  </a:cubicBezTo>
                  <a:cubicBezTo>
                    <a:pt x="256688" y="124005"/>
                    <a:pt x="240040" y="130901"/>
                    <a:pt x="222682" y="130901"/>
                  </a:cubicBezTo>
                  <a:lnTo>
                    <a:pt x="65450" y="130901"/>
                  </a:lnTo>
                  <a:cubicBezTo>
                    <a:pt x="48092" y="130901"/>
                    <a:pt x="31444" y="124005"/>
                    <a:pt x="19170" y="111731"/>
                  </a:cubicBezTo>
                  <a:cubicBezTo>
                    <a:pt x="6896" y="99457"/>
                    <a:pt x="0" y="82809"/>
                    <a:pt x="0" y="65450"/>
                  </a:cubicBezTo>
                  <a:lnTo>
                    <a:pt x="0" y="65450"/>
                  </a:lnTo>
                  <a:cubicBezTo>
                    <a:pt x="0" y="48092"/>
                    <a:pt x="6896" y="31444"/>
                    <a:pt x="19170" y="19170"/>
                  </a:cubicBezTo>
                  <a:cubicBezTo>
                    <a:pt x="31444" y="6896"/>
                    <a:pt x="48092" y="0"/>
                    <a:pt x="65450" y="0"/>
                  </a:cubicBezTo>
                  <a:lnTo>
                    <a:pt x="222682" y="0"/>
                  </a:lnTo>
                  <a:cubicBezTo>
                    <a:pt x="240040" y="0"/>
                    <a:pt x="256688" y="6896"/>
                    <a:pt x="268962" y="19170"/>
                  </a:cubicBezTo>
                  <a:cubicBezTo>
                    <a:pt x="281236" y="31444"/>
                    <a:pt x="288132" y="48092"/>
                    <a:pt x="288132" y="654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88132" cy="169001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27633" y="7636713"/>
            <a:ext cx="1041192" cy="473037"/>
            <a:chOff x="0" y="0"/>
            <a:chExt cx="288132" cy="1309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8132" cy="130901"/>
            </a:xfrm>
            <a:custGeom>
              <a:avLst/>
              <a:gdLst/>
              <a:ahLst/>
              <a:cxnLst/>
              <a:rect r="r" b="b" t="t" l="l"/>
              <a:pathLst>
                <a:path h="130901" w="288132">
                  <a:moveTo>
                    <a:pt x="288132" y="65450"/>
                  </a:moveTo>
                  <a:lnTo>
                    <a:pt x="288132" y="65450"/>
                  </a:lnTo>
                  <a:cubicBezTo>
                    <a:pt x="288132" y="82809"/>
                    <a:pt x="281236" y="99457"/>
                    <a:pt x="268962" y="111731"/>
                  </a:cubicBezTo>
                  <a:cubicBezTo>
                    <a:pt x="256688" y="124005"/>
                    <a:pt x="240040" y="130901"/>
                    <a:pt x="222682" y="130901"/>
                  </a:cubicBezTo>
                  <a:lnTo>
                    <a:pt x="65450" y="130901"/>
                  </a:lnTo>
                  <a:cubicBezTo>
                    <a:pt x="48092" y="130901"/>
                    <a:pt x="31444" y="124005"/>
                    <a:pt x="19170" y="111731"/>
                  </a:cubicBezTo>
                  <a:cubicBezTo>
                    <a:pt x="6896" y="99457"/>
                    <a:pt x="0" y="82809"/>
                    <a:pt x="0" y="65450"/>
                  </a:cubicBezTo>
                  <a:lnTo>
                    <a:pt x="0" y="65450"/>
                  </a:lnTo>
                  <a:cubicBezTo>
                    <a:pt x="0" y="48092"/>
                    <a:pt x="6896" y="31444"/>
                    <a:pt x="19170" y="19170"/>
                  </a:cubicBezTo>
                  <a:cubicBezTo>
                    <a:pt x="31444" y="6896"/>
                    <a:pt x="48092" y="0"/>
                    <a:pt x="65450" y="0"/>
                  </a:cubicBezTo>
                  <a:lnTo>
                    <a:pt x="222682" y="0"/>
                  </a:lnTo>
                  <a:cubicBezTo>
                    <a:pt x="240040" y="0"/>
                    <a:pt x="256688" y="6896"/>
                    <a:pt x="268962" y="19170"/>
                  </a:cubicBezTo>
                  <a:cubicBezTo>
                    <a:pt x="281236" y="31444"/>
                    <a:pt x="288132" y="48092"/>
                    <a:pt x="288132" y="654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88132" cy="169001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27633" y="8275108"/>
            <a:ext cx="1041192" cy="473037"/>
            <a:chOff x="0" y="0"/>
            <a:chExt cx="288132" cy="13090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8132" cy="130901"/>
            </a:xfrm>
            <a:custGeom>
              <a:avLst/>
              <a:gdLst/>
              <a:ahLst/>
              <a:cxnLst/>
              <a:rect r="r" b="b" t="t" l="l"/>
              <a:pathLst>
                <a:path h="130901" w="288132">
                  <a:moveTo>
                    <a:pt x="288132" y="65450"/>
                  </a:moveTo>
                  <a:lnTo>
                    <a:pt x="288132" y="65450"/>
                  </a:lnTo>
                  <a:cubicBezTo>
                    <a:pt x="288132" y="82809"/>
                    <a:pt x="281236" y="99457"/>
                    <a:pt x="268962" y="111731"/>
                  </a:cubicBezTo>
                  <a:cubicBezTo>
                    <a:pt x="256688" y="124005"/>
                    <a:pt x="240040" y="130901"/>
                    <a:pt x="222682" y="130901"/>
                  </a:cubicBezTo>
                  <a:lnTo>
                    <a:pt x="65450" y="130901"/>
                  </a:lnTo>
                  <a:cubicBezTo>
                    <a:pt x="48092" y="130901"/>
                    <a:pt x="31444" y="124005"/>
                    <a:pt x="19170" y="111731"/>
                  </a:cubicBezTo>
                  <a:cubicBezTo>
                    <a:pt x="6896" y="99457"/>
                    <a:pt x="0" y="82809"/>
                    <a:pt x="0" y="65450"/>
                  </a:cubicBezTo>
                  <a:lnTo>
                    <a:pt x="0" y="65450"/>
                  </a:lnTo>
                  <a:cubicBezTo>
                    <a:pt x="0" y="48092"/>
                    <a:pt x="6896" y="31444"/>
                    <a:pt x="19170" y="19170"/>
                  </a:cubicBezTo>
                  <a:cubicBezTo>
                    <a:pt x="31444" y="6896"/>
                    <a:pt x="48092" y="0"/>
                    <a:pt x="65450" y="0"/>
                  </a:cubicBezTo>
                  <a:lnTo>
                    <a:pt x="222682" y="0"/>
                  </a:lnTo>
                  <a:cubicBezTo>
                    <a:pt x="240040" y="0"/>
                    <a:pt x="256688" y="6896"/>
                    <a:pt x="268962" y="19170"/>
                  </a:cubicBezTo>
                  <a:cubicBezTo>
                    <a:pt x="281236" y="31444"/>
                    <a:pt x="288132" y="48092"/>
                    <a:pt x="288132" y="654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88132" cy="169001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09700" y="1866900"/>
            <a:ext cx="173069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타겟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분석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939694" y="1794541"/>
            <a:ext cx="860754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이 페이지에 대해서 간단하게 설명해 주세요.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05971" y="2726999"/>
            <a:ext cx="284964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>
                    <a:alpha val="4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가상의 페르소나 (1)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99653" y="7082437"/>
            <a:ext cx="9136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직업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99653" y="7720832"/>
            <a:ext cx="9136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특징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99653" y="8359227"/>
            <a:ext cx="9136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구매 경로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790830" y="7062434"/>
            <a:ext cx="14248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마케터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90830" y="7700829"/>
            <a:ext cx="14248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감성적인 소비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90830" y="8339224"/>
            <a:ext cx="26240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광고 &gt; 리뷰 확인 &gt; 구매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97725" y="2726999"/>
            <a:ext cx="284964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>
                    <a:alpha val="4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가상의 페르소나 (2)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91407" y="7082437"/>
            <a:ext cx="9136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직업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891407" y="7720832"/>
            <a:ext cx="9136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특징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891407" y="8359227"/>
            <a:ext cx="9136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구매 경로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82583" y="7062434"/>
            <a:ext cx="14248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디자이너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182583" y="7700829"/>
            <a:ext cx="14248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구매력 높음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182583" y="8339224"/>
            <a:ext cx="26240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친구의 추천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0" y="0"/>
                </a:moveTo>
                <a:lnTo>
                  <a:pt x="18947008" y="0"/>
                </a:lnTo>
                <a:lnTo>
                  <a:pt x="18947008" y="10894034"/>
                </a:lnTo>
                <a:lnTo>
                  <a:pt x="0" y="10894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225444" y="3626148"/>
            <a:ext cx="3274487" cy="327448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E8FF">
                <a:alpha val="2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95721" y="3626148"/>
            <a:ext cx="3274487" cy="327448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65999" y="3626148"/>
            <a:ext cx="3274487" cy="327448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E8FF">
                <a:alpha val="7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436277" y="3626148"/>
            <a:ext cx="3274487" cy="327448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E8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09700" y="1866900"/>
            <a:ext cx="173069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마케팅 목표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39694" y="1794541"/>
            <a:ext cx="860754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2025년 </a:t>
            </a: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상반기 마케팅 목표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955189" y="4922859"/>
            <a:ext cx="681066" cy="681066"/>
            <a:chOff x="0" y="0"/>
            <a:chExt cx="908088" cy="90808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08088" cy="90808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74C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08670" y="134639"/>
              <a:ext cx="690748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&gt;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25466" y="4922859"/>
            <a:ext cx="681066" cy="681066"/>
            <a:chOff x="0" y="0"/>
            <a:chExt cx="908088" cy="90808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08088" cy="908088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74C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08670" y="134639"/>
              <a:ext cx="690748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&gt;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99953" y="4922859"/>
            <a:ext cx="681066" cy="681066"/>
            <a:chOff x="0" y="0"/>
            <a:chExt cx="908088" cy="90808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08088" cy="90808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74C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08670" y="134639"/>
              <a:ext cx="690748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&gt;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4501199" y="7348310"/>
            <a:ext cx="2722976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웹사이트 방문자 수를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늘리도록 노력합니다.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71477" y="7348310"/>
            <a:ext cx="2722976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신규 고객 전환율 증가를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위한 마케팅을 합니다.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97815" y="4875234"/>
            <a:ext cx="272974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웹사이트</a:t>
            </a:r>
          </a:p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방문자 수 증가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96361" y="4141648"/>
            <a:ext cx="93265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STEP 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68092" y="4875234"/>
            <a:ext cx="272974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신규 고객</a:t>
            </a:r>
          </a:p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전환율 증가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466638" y="4141648"/>
            <a:ext cx="93265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STEP 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38370" y="4875234"/>
            <a:ext cx="272974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브랜드 검색량</a:t>
            </a:r>
          </a:p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증가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536916" y="4141648"/>
            <a:ext cx="93265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STEP 03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08648" y="4875234"/>
            <a:ext cx="272974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SNS 팔로워 </a:t>
            </a:r>
          </a:p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증가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607193" y="4141648"/>
            <a:ext cx="93265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STEP 04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41754" y="7348310"/>
            <a:ext cx="2722976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브랜드 인지를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높혀줍니다.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12032" y="7348310"/>
            <a:ext cx="2722976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SNS에 팔로워를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늘립니다.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0" y="10894034"/>
                </a:moveTo>
                <a:lnTo>
                  <a:pt x="18947008" y="10894034"/>
                </a:lnTo>
                <a:lnTo>
                  <a:pt x="18947008" y="0"/>
                </a:lnTo>
                <a:lnTo>
                  <a:pt x="0" y="0"/>
                </a:lnTo>
                <a:lnTo>
                  <a:pt x="0" y="10894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552950" y="3667125"/>
          <a:ext cx="11801475" cy="4587706"/>
        </p:xfrm>
        <a:graphic>
          <a:graphicData uri="http://schemas.openxmlformats.org/drawingml/2006/table">
            <a:tbl>
              <a:tblPr/>
              <a:tblGrid>
                <a:gridCol w="1074506"/>
                <a:gridCol w="2763992"/>
                <a:gridCol w="7962977"/>
              </a:tblGrid>
              <a:tr h="10478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항목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STEP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내용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F"/>
                    </a:solidFill>
                  </a:tcPr>
                </a:tc>
              </a:tr>
              <a:tr h="8849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콘텐츠 기획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고객 페르소나 기반으로 월간 콘텐츠 캘린더를 제작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49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퍼포먼스 광고 설정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구매/회원가입/뉴스레터 구독 등 목표에 따른 전환 이벤트를 세팅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49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리뷰 확대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실제 고객이 참여할 수 있는 리뷰 캠페인을 진행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49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리타겟팅 자동화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고객 여정 단계별 메시지를 맞춤 구성하여 이탈을 줄이고 재유입을 유도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409700" y="1866900"/>
            <a:ext cx="1730694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실행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전술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구성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39694" y="1794541"/>
            <a:ext cx="860754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브랜드 전환력과 충성도를</a:t>
            </a: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동시에 높이는 실행 전략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0" y="0"/>
                </a:moveTo>
                <a:lnTo>
                  <a:pt x="18947008" y="0"/>
                </a:lnTo>
                <a:lnTo>
                  <a:pt x="18947008" y="10894034"/>
                </a:lnTo>
                <a:lnTo>
                  <a:pt x="0" y="10894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09700" y="1866900"/>
            <a:ext cx="173069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전술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상세안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9694" y="1794541"/>
            <a:ext cx="7045108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전략을 구체적인 액션으로 전환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939694" y="3067050"/>
            <a:ext cx="12063884" cy="1065376"/>
            <a:chOff x="0" y="0"/>
            <a:chExt cx="1304101" cy="1151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4101" cy="115163"/>
            </a:xfrm>
            <a:custGeom>
              <a:avLst/>
              <a:gdLst/>
              <a:ahLst/>
              <a:cxnLst/>
              <a:rect r="r" b="b" t="t" l="l"/>
              <a:pathLst>
                <a:path h="115163" w="1304101">
                  <a:moveTo>
                    <a:pt x="1304101" y="28237"/>
                  </a:moveTo>
                  <a:lnTo>
                    <a:pt x="1304101" y="86926"/>
                  </a:lnTo>
                  <a:cubicBezTo>
                    <a:pt x="1304101" y="94415"/>
                    <a:pt x="1301126" y="101597"/>
                    <a:pt x="1295831" y="106893"/>
                  </a:cubicBezTo>
                  <a:cubicBezTo>
                    <a:pt x="1290535" y="112188"/>
                    <a:pt x="1283353" y="115163"/>
                    <a:pt x="1275864" y="115163"/>
                  </a:cubicBezTo>
                  <a:lnTo>
                    <a:pt x="28237" y="115163"/>
                  </a:lnTo>
                  <a:cubicBezTo>
                    <a:pt x="12642" y="115163"/>
                    <a:pt x="0" y="102521"/>
                    <a:pt x="0" y="86926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04101" cy="153263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192064" y="3259205"/>
            <a:ext cx="681066" cy="68106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261842" y="3348278"/>
            <a:ext cx="270294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콘텐츠 기획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73566" y="3348278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64791" y="3427335"/>
            <a:ext cx="609357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소비자 니즈 기반 트렌드형 콘텐츠 제작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939694" y="4627101"/>
            <a:ext cx="12063884" cy="1065376"/>
            <a:chOff x="0" y="0"/>
            <a:chExt cx="1304101" cy="1151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4101" cy="115163"/>
            </a:xfrm>
            <a:custGeom>
              <a:avLst/>
              <a:gdLst/>
              <a:ahLst/>
              <a:cxnLst/>
              <a:rect r="r" b="b" t="t" l="l"/>
              <a:pathLst>
                <a:path h="115163" w="1304101">
                  <a:moveTo>
                    <a:pt x="1304101" y="28237"/>
                  </a:moveTo>
                  <a:lnTo>
                    <a:pt x="1304101" y="86926"/>
                  </a:lnTo>
                  <a:cubicBezTo>
                    <a:pt x="1304101" y="94415"/>
                    <a:pt x="1301126" y="101597"/>
                    <a:pt x="1295831" y="106893"/>
                  </a:cubicBezTo>
                  <a:cubicBezTo>
                    <a:pt x="1290535" y="112188"/>
                    <a:pt x="1283353" y="115163"/>
                    <a:pt x="1275864" y="115163"/>
                  </a:cubicBezTo>
                  <a:lnTo>
                    <a:pt x="28237" y="115163"/>
                  </a:lnTo>
                  <a:cubicBezTo>
                    <a:pt x="12642" y="115163"/>
                    <a:pt x="0" y="102521"/>
                    <a:pt x="0" y="86926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04101" cy="153263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192064" y="4819255"/>
            <a:ext cx="681066" cy="68106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261842" y="4908328"/>
            <a:ext cx="270294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퍼포먼스 세팅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73566" y="4908328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64791" y="4987386"/>
            <a:ext cx="609357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캠페인별 KPI 연동 광고 예산 분배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939694" y="6187151"/>
            <a:ext cx="12063884" cy="1065376"/>
            <a:chOff x="0" y="0"/>
            <a:chExt cx="1304101" cy="1151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4101" cy="115163"/>
            </a:xfrm>
            <a:custGeom>
              <a:avLst/>
              <a:gdLst/>
              <a:ahLst/>
              <a:cxnLst/>
              <a:rect r="r" b="b" t="t" l="l"/>
              <a:pathLst>
                <a:path h="115163" w="1304101">
                  <a:moveTo>
                    <a:pt x="1304101" y="28237"/>
                  </a:moveTo>
                  <a:lnTo>
                    <a:pt x="1304101" y="86926"/>
                  </a:lnTo>
                  <a:cubicBezTo>
                    <a:pt x="1304101" y="94415"/>
                    <a:pt x="1301126" y="101597"/>
                    <a:pt x="1295831" y="106893"/>
                  </a:cubicBezTo>
                  <a:cubicBezTo>
                    <a:pt x="1290535" y="112188"/>
                    <a:pt x="1283353" y="115163"/>
                    <a:pt x="1275864" y="115163"/>
                  </a:cubicBezTo>
                  <a:lnTo>
                    <a:pt x="28237" y="115163"/>
                  </a:lnTo>
                  <a:cubicBezTo>
                    <a:pt x="12642" y="115163"/>
                    <a:pt x="0" y="102521"/>
                    <a:pt x="0" y="86926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304101" cy="153263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192064" y="6379306"/>
            <a:ext cx="681066" cy="68106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261842" y="6468379"/>
            <a:ext cx="270294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리뷰 확대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73566" y="6468379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64791" y="6547437"/>
            <a:ext cx="609357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후기 영상 및 UGC 제작 지원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939694" y="7747202"/>
            <a:ext cx="12063884" cy="1065376"/>
            <a:chOff x="0" y="0"/>
            <a:chExt cx="1304101" cy="1151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4101" cy="115163"/>
            </a:xfrm>
            <a:custGeom>
              <a:avLst/>
              <a:gdLst/>
              <a:ahLst/>
              <a:cxnLst/>
              <a:rect r="r" b="b" t="t" l="l"/>
              <a:pathLst>
                <a:path h="115163" w="1304101">
                  <a:moveTo>
                    <a:pt x="1304101" y="28237"/>
                  </a:moveTo>
                  <a:lnTo>
                    <a:pt x="1304101" y="86926"/>
                  </a:lnTo>
                  <a:cubicBezTo>
                    <a:pt x="1304101" y="94415"/>
                    <a:pt x="1301126" y="101597"/>
                    <a:pt x="1295831" y="106893"/>
                  </a:cubicBezTo>
                  <a:cubicBezTo>
                    <a:pt x="1290535" y="112188"/>
                    <a:pt x="1283353" y="115163"/>
                    <a:pt x="1275864" y="115163"/>
                  </a:cubicBezTo>
                  <a:lnTo>
                    <a:pt x="28237" y="115163"/>
                  </a:lnTo>
                  <a:cubicBezTo>
                    <a:pt x="12642" y="115163"/>
                    <a:pt x="0" y="102521"/>
                    <a:pt x="0" y="86926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304101" cy="153263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192064" y="7939357"/>
            <a:ext cx="681066" cy="68106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261842" y="8028430"/>
            <a:ext cx="270294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리마케팅 자동화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273566" y="8028430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64791" y="8107487"/>
            <a:ext cx="609357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유입 기반 자동 타겟팅 구조 구축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18947008" y="0"/>
                </a:moveTo>
                <a:lnTo>
                  <a:pt x="0" y="0"/>
                </a:lnTo>
                <a:lnTo>
                  <a:pt x="0" y="10894034"/>
                </a:lnTo>
                <a:lnTo>
                  <a:pt x="18947008" y="10894034"/>
                </a:lnTo>
                <a:lnTo>
                  <a:pt x="18947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214488" y="3126210"/>
            <a:ext cx="3584392" cy="5329763"/>
            <a:chOff x="0" y="0"/>
            <a:chExt cx="404792" cy="601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792" cy="601882"/>
            </a:xfrm>
            <a:custGeom>
              <a:avLst/>
              <a:gdLst/>
              <a:ahLst/>
              <a:cxnLst/>
              <a:rect r="r" b="b" t="t" l="l"/>
              <a:pathLst>
                <a:path h="601882" w="404792">
                  <a:moveTo>
                    <a:pt x="404792" y="95035"/>
                  </a:moveTo>
                  <a:lnTo>
                    <a:pt x="404792" y="506846"/>
                  </a:lnTo>
                  <a:cubicBezTo>
                    <a:pt x="404792" y="532051"/>
                    <a:pt x="394780" y="556224"/>
                    <a:pt x="376957" y="574047"/>
                  </a:cubicBezTo>
                  <a:cubicBezTo>
                    <a:pt x="359134" y="591869"/>
                    <a:pt x="334962" y="601882"/>
                    <a:pt x="309757" y="601882"/>
                  </a:cubicBezTo>
                  <a:lnTo>
                    <a:pt x="95035" y="601882"/>
                  </a:lnTo>
                  <a:cubicBezTo>
                    <a:pt x="69831" y="601882"/>
                    <a:pt x="45658" y="591869"/>
                    <a:pt x="27835" y="574047"/>
                  </a:cubicBezTo>
                  <a:cubicBezTo>
                    <a:pt x="10013" y="556224"/>
                    <a:pt x="0" y="532051"/>
                    <a:pt x="0" y="506846"/>
                  </a:cubicBezTo>
                  <a:lnTo>
                    <a:pt x="0" y="95035"/>
                  </a:lnTo>
                  <a:cubicBezTo>
                    <a:pt x="0" y="69831"/>
                    <a:pt x="10013" y="45658"/>
                    <a:pt x="27835" y="27835"/>
                  </a:cubicBezTo>
                  <a:cubicBezTo>
                    <a:pt x="45658" y="10013"/>
                    <a:pt x="69831" y="0"/>
                    <a:pt x="95035" y="0"/>
                  </a:cubicBezTo>
                  <a:lnTo>
                    <a:pt x="309757" y="0"/>
                  </a:lnTo>
                  <a:cubicBezTo>
                    <a:pt x="334962" y="0"/>
                    <a:pt x="359134" y="10013"/>
                    <a:pt x="376957" y="27835"/>
                  </a:cubicBezTo>
                  <a:cubicBezTo>
                    <a:pt x="394780" y="45658"/>
                    <a:pt x="404792" y="69831"/>
                    <a:pt x="404792" y="95035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4792" cy="639982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4544445" y="4206025"/>
            <a:ext cx="2924478" cy="0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503903" y="5721028"/>
            <a:ext cx="3005563" cy="2470046"/>
            <a:chOff x="0" y="0"/>
            <a:chExt cx="1164719" cy="9571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4719" cy="957195"/>
            </a:xfrm>
            <a:custGeom>
              <a:avLst/>
              <a:gdLst/>
              <a:ahLst/>
              <a:cxnLst/>
              <a:rect r="r" b="b" t="t" l="l"/>
              <a:pathLst>
                <a:path h="957195" w="1164719">
                  <a:moveTo>
                    <a:pt x="0" y="0"/>
                  </a:moveTo>
                  <a:lnTo>
                    <a:pt x="1164719" y="0"/>
                  </a:lnTo>
                  <a:lnTo>
                    <a:pt x="1164719" y="957195"/>
                  </a:lnTo>
                  <a:lnTo>
                    <a:pt x="0" y="957195"/>
                  </a:lnTo>
                  <a:close/>
                </a:path>
              </a:pathLst>
            </a:custGeom>
            <a:blipFill>
              <a:blip r:embed="rId4"/>
              <a:stretch>
                <a:fillRect l="-14330" t="0" r="-143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682854" y="3126210"/>
            <a:ext cx="3584392" cy="5329763"/>
            <a:chOff x="0" y="0"/>
            <a:chExt cx="404792" cy="6018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4792" cy="601882"/>
            </a:xfrm>
            <a:custGeom>
              <a:avLst/>
              <a:gdLst/>
              <a:ahLst/>
              <a:cxnLst/>
              <a:rect r="r" b="b" t="t" l="l"/>
              <a:pathLst>
                <a:path h="601882" w="404792">
                  <a:moveTo>
                    <a:pt x="404792" y="95035"/>
                  </a:moveTo>
                  <a:lnTo>
                    <a:pt x="404792" y="506846"/>
                  </a:lnTo>
                  <a:cubicBezTo>
                    <a:pt x="404792" y="532051"/>
                    <a:pt x="394780" y="556224"/>
                    <a:pt x="376957" y="574047"/>
                  </a:cubicBezTo>
                  <a:cubicBezTo>
                    <a:pt x="359134" y="591869"/>
                    <a:pt x="334962" y="601882"/>
                    <a:pt x="309757" y="601882"/>
                  </a:cubicBezTo>
                  <a:lnTo>
                    <a:pt x="95035" y="601882"/>
                  </a:lnTo>
                  <a:cubicBezTo>
                    <a:pt x="69831" y="601882"/>
                    <a:pt x="45658" y="591869"/>
                    <a:pt x="27835" y="574047"/>
                  </a:cubicBezTo>
                  <a:cubicBezTo>
                    <a:pt x="10013" y="556224"/>
                    <a:pt x="0" y="532051"/>
                    <a:pt x="0" y="506846"/>
                  </a:cubicBezTo>
                  <a:lnTo>
                    <a:pt x="0" y="95035"/>
                  </a:lnTo>
                  <a:cubicBezTo>
                    <a:pt x="0" y="69831"/>
                    <a:pt x="10013" y="45658"/>
                    <a:pt x="27835" y="27835"/>
                  </a:cubicBezTo>
                  <a:cubicBezTo>
                    <a:pt x="45658" y="10013"/>
                    <a:pt x="69831" y="0"/>
                    <a:pt x="95035" y="0"/>
                  </a:cubicBezTo>
                  <a:lnTo>
                    <a:pt x="309757" y="0"/>
                  </a:lnTo>
                  <a:cubicBezTo>
                    <a:pt x="334962" y="0"/>
                    <a:pt x="359134" y="10013"/>
                    <a:pt x="376957" y="27835"/>
                  </a:cubicBezTo>
                  <a:cubicBezTo>
                    <a:pt x="394780" y="45658"/>
                    <a:pt x="404792" y="69831"/>
                    <a:pt x="404792" y="95035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4792" cy="639982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9012811" y="4206025"/>
            <a:ext cx="2924478" cy="0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972269" y="5721028"/>
            <a:ext cx="3005563" cy="2470046"/>
            <a:chOff x="0" y="0"/>
            <a:chExt cx="1164719" cy="9571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4719" cy="957195"/>
            </a:xfrm>
            <a:custGeom>
              <a:avLst/>
              <a:gdLst/>
              <a:ahLst/>
              <a:cxnLst/>
              <a:rect r="r" b="b" t="t" l="l"/>
              <a:pathLst>
                <a:path h="957195" w="1164719">
                  <a:moveTo>
                    <a:pt x="0" y="0"/>
                  </a:moveTo>
                  <a:lnTo>
                    <a:pt x="1164719" y="0"/>
                  </a:lnTo>
                  <a:lnTo>
                    <a:pt x="1164719" y="957195"/>
                  </a:lnTo>
                  <a:lnTo>
                    <a:pt x="0" y="957195"/>
                  </a:lnTo>
                  <a:close/>
                </a:path>
              </a:pathLst>
            </a:custGeom>
            <a:blipFill>
              <a:blip r:embed="rId5"/>
              <a:stretch>
                <a:fillRect l="-11675" t="0" r="-1167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151219" y="3126210"/>
            <a:ext cx="3584392" cy="5329763"/>
            <a:chOff x="0" y="0"/>
            <a:chExt cx="404792" cy="6018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792" cy="601882"/>
            </a:xfrm>
            <a:custGeom>
              <a:avLst/>
              <a:gdLst/>
              <a:ahLst/>
              <a:cxnLst/>
              <a:rect r="r" b="b" t="t" l="l"/>
              <a:pathLst>
                <a:path h="601882" w="404792">
                  <a:moveTo>
                    <a:pt x="404792" y="95035"/>
                  </a:moveTo>
                  <a:lnTo>
                    <a:pt x="404792" y="506846"/>
                  </a:lnTo>
                  <a:cubicBezTo>
                    <a:pt x="404792" y="532051"/>
                    <a:pt x="394780" y="556224"/>
                    <a:pt x="376957" y="574047"/>
                  </a:cubicBezTo>
                  <a:cubicBezTo>
                    <a:pt x="359134" y="591869"/>
                    <a:pt x="334962" y="601882"/>
                    <a:pt x="309757" y="601882"/>
                  </a:cubicBezTo>
                  <a:lnTo>
                    <a:pt x="95035" y="601882"/>
                  </a:lnTo>
                  <a:cubicBezTo>
                    <a:pt x="69831" y="601882"/>
                    <a:pt x="45658" y="591869"/>
                    <a:pt x="27835" y="574047"/>
                  </a:cubicBezTo>
                  <a:cubicBezTo>
                    <a:pt x="10013" y="556224"/>
                    <a:pt x="0" y="532051"/>
                    <a:pt x="0" y="506846"/>
                  </a:cubicBezTo>
                  <a:lnTo>
                    <a:pt x="0" y="95035"/>
                  </a:lnTo>
                  <a:cubicBezTo>
                    <a:pt x="0" y="69831"/>
                    <a:pt x="10013" y="45658"/>
                    <a:pt x="27835" y="27835"/>
                  </a:cubicBezTo>
                  <a:cubicBezTo>
                    <a:pt x="45658" y="10013"/>
                    <a:pt x="69831" y="0"/>
                    <a:pt x="95035" y="0"/>
                  </a:cubicBezTo>
                  <a:lnTo>
                    <a:pt x="309757" y="0"/>
                  </a:lnTo>
                  <a:cubicBezTo>
                    <a:pt x="334962" y="0"/>
                    <a:pt x="359134" y="10013"/>
                    <a:pt x="376957" y="27835"/>
                  </a:cubicBezTo>
                  <a:cubicBezTo>
                    <a:pt x="394780" y="45658"/>
                    <a:pt x="404792" y="69831"/>
                    <a:pt x="404792" y="95035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04792" cy="639982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13481177" y="4206025"/>
            <a:ext cx="2924478" cy="0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3440634" y="5721028"/>
            <a:ext cx="3005563" cy="2470046"/>
            <a:chOff x="0" y="0"/>
            <a:chExt cx="1164719" cy="9571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4719" cy="957195"/>
            </a:xfrm>
            <a:custGeom>
              <a:avLst/>
              <a:gdLst/>
              <a:ahLst/>
              <a:cxnLst/>
              <a:rect r="r" b="b" t="t" l="l"/>
              <a:pathLst>
                <a:path h="957195" w="1164719">
                  <a:moveTo>
                    <a:pt x="0" y="0"/>
                  </a:moveTo>
                  <a:lnTo>
                    <a:pt x="1164719" y="0"/>
                  </a:lnTo>
                  <a:lnTo>
                    <a:pt x="1164719" y="957195"/>
                  </a:lnTo>
                  <a:lnTo>
                    <a:pt x="0" y="957195"/>
                  </a:lnTo>
                  <a:close/>
                </a:path>
              </a:pathLst>
            </a:custGeom>
            <a:blipFill>
              <a:blip r:embed="rId6"/>
              <a:stretch>
                <a:fillRect l="0" t="-33058" r="0" b="-33058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09700" y="1866900"/>
            <a:ext cx="1730694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프로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젝트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일정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39694" y="1794541"/>
            <a:ext cx="860754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프로젝트</a:t>
            </a: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일정에 대해 소개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35542" y="3444131"/>
            <a:ext cx="254228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WEEK 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08634" y="4474523"/>
            <a:ext cx="299610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킥오프 미팅 진행 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기존 콘텐츠 분석 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경쟁사 벤치마킹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03908" y="3444131"/>
            <a:ext cx="254228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WEEK 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77000" y="4474523"/>
            <a:ext cx="29961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브랜드 포지셔닝 설정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타깃 페르소나 정리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콘</a:t>
            </a: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텐츠 운영 전략 기획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3672274" y="3444131"/>
            <a:ext cx="254228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WEEK 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45366" y="4474523"/>
            <a:ext cx="299610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카드뉴스  제작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클라이언트 피드백 반영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콘텐츠 템플릿 설계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0" y="0"/>
                </a:moveTo>
                <a:lnTo>
                  <a:pt x="18947008" y="0"/>
                </a:lnTo>
                <a:lnTo>
                  <a:pt x="18947008" y="10894034"/>
                </a:lnTo>
                <a:lnTo>
                  <a:pt x="0" y="10894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150827" y="3476625"/>
            <a:ext cx="3719037" cy="2132818"/>
            <a:chOff x="0" y="0"/>
            <a:chExt cx="893066" cy="5121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3066" cy="512145"/>
            </a:xfrm>
            <a:custGeom>
              <a:avLst/>
              <a:gdLst/>
              <a:ahLst/>
              <a:cxnLst/>
              <a:rect r="r" b="b" t="t" l="l"/>
              <a:pathLst>
                <a:path h="512145" w="893066">
                  <a:moveTo>
                    <a:pt x="893066" y="91595"/>
                  </a:moveTo>
                  <a:lnTo>
                    <a:pt x="893066" y="420551"/>
                  </a:lnTo>
                  <a:cubicBezTo>
                    <a:pt x="893066" y="444843"/>
                    <a:pt x="883416" y="468141"/>
                    <a:pt x="866238" y="485318"/>
                  </a:cubicBezTo>
                  <a:cubicBezTo>
                    <a:pt x="849061" y="502495"/>
                    <a:pt x="825763" y="512145"/>
                    <a:pt x="801471" y="512145"/>
                  </a:cubicBezTo>
                  <a:lnTo>
                    <a:pt x="91595" y="512145"/>
                  </a:lnTo>
                  <a:cubicBezTo>
                    <a:pt x="67302" y="512145"/>
                    <a:pt x="44005" y="502495"/>
                    <a:pt x="26827" y="485318"/>
                  </a:cubicBezTo>
                  <a:cubicBezTo>
                    <a:pt x="9650" y="468141"/>
                    <a:pt x="0" y="444843"/>
                    <a:pt x="0" y="420551"/>
                  </a:cubicBezTo>
                  <a:lnTo>
                    <a:pt x="0" y="91595"/>
                  </a:lnTo>
                  <a:cubicBezTo>
                    <a:pt x="0" y="67302"/>
                    <a:pt x="9650" y="44005"/>
                    <a:pt x="26827" y="26827"/>
                  </a:cubicBezTo>
                  <a:cubicBezTo>
                    <a:pt x="44005" y="9650"/>
                    <a:pt x="67302" y="0"/>
                    <a:pt x="91595" y="0"/>
                  </a:cubicBezTo>
                  <a:lnTo>
                    <a:pt x="801471" y="0"/>
                  </a:lnTo>
                  <a:cubicBezTo>
                    <a:pt x="825763" y="0"/>
                    <a:pt x="849061" y="9650"/>
                    <a:pt x="866238" y="26827"/>
                  </a:cubicBezTo>
                  <a:cubicBezTo>
                    <a:pt x="883416" y="44005"/>
                    <a:pt x="893066" y="67302"/>
                    <a:pt x="893066" y="91595"/>
                  </a:cubicBezTo>
                  <a:close/>
                </a:path>
              </a:pathLst>
            </a:custGeom>
            <a:solidFill>
              <a:srgbClr val="D6E8FF">
                <a:alpha val="2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93066" cy="550245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4663528" y="3818520"/>
            <a:ext cx="431800" cy="4318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2628" lIns="42628" bIns="42628" rIns="42628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150827" y="6155095"/>
            <a:ext cx="3719037" cy="2132818"/>
            <a:chOff x="0" y="0"/>
            <a:chExt cx="893066" cy="5121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3066" cy="512145"/>
            </a:xfrm>
            <a:custGeom>
              <a:avLst/>
              <a:gdLst/>
              <a:ahLst/>
              <a:cxnLst/>
              <a:rect r="r" b="b" t="t" l="l"/>
              <a:pathLst>
                <a:path h="512145" w="893066">
                  <a:moveTo>
                    <a:pt x="893066" y="91595"/>
                  </a:moveTo>
                  <a:lnTo>
                    <a:pt x="893066" y="420551"/>
                  </a:lnTo>
                  <a:cubicBezTo>
                    <a:pt x="893066" y="444843"/>
                    <a:pt x="883416" y="468141"/>
                    <a:pt x="866238" y="485318"/>
                  </a:cubicBezTo>
                  <a:cubicBezTo>
                    <a:pt x="849061" y="502495"/>
                    <a:pt x="825763" y="512145"/>
                    <a:pt x="801471" y="512145"/>
                  </a:cubicBezTo>
                  <a:lnTo>
                    <a:pt x="91595" y="512145"/>
                  </a:lnTo>
                  <a:cubicBezTo>
                    <a:pt x="67302" y="512145"/>
                    <a:pt x="44005" y="502495"/>
                    <a:pt x="26827" y="485318"/>
                  </a:cubicBezTo>
                  <a:cubicBezTo>
                    <a:pt x="9650" y="468141"/>
                    <a:pt x="0" y="444843"/>
                    <a:pt x="0" y="420551"/>
                  </a:cubicBezTo>
                  <a:lnTo>
                    <a:pt x="0" y="91595"/>
                  </a:lnTo>
                  <a:cubicBezTo>
                    <a:pt x="0" y="67302"/>
                    <a:pt x="9650" y="44005"/>
                    <a:pt x="26827" y="26827"/>
                  </a:cubicBezTo>
                  <a:cubicBezTo>
                    <a:pt x="44005" y="9650"/>
                    <a:pt x="67302" y="0"/>
                    <a:pt x="91595" y="0"/>
                  </a:cubicBezTo>
                  <a:lnTo>
                    <a:pt x="801471" y="0"/>
                  </a:lnTo>
                  <a:cubicBezTo>
                    <a:pt x="825763" y="0"/>
                    <a:pt x="849061" y="9650"/>
                    <a:pt x="866238" y="26827"/>
                  </a:cubicBezTo>
                  <a:cubicBezTo>
                    <a:pt x="883416" y="44005"/>
                    <a:pt x="893066" y="67302"/>
                    <a:pt x="893066" y="91595"/>
                  </a:cubicBezTo>
                  <a:close/>
                </a:path>
              </a:pathLst>
            </a:custGeom>
            <a:solidFill>
              <a:srgbClr val="D6E8FF">
                <a:alpha val="2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93066" cy="550245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4663528" y="6496990"/>
            <a:ext cx="431800" cy="4318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2628" lIns="42628" bIns="42628" rIns="42628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80494" y="3476625"/>
            <a:ext cx="3719037" cy="2132818"/>
            <a:chOff x="0" y="0"/>
            <a:chExt cx="893066" cy="5121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3066" cy="512145"/>
            </a:xfrm>
            <a:custGeom>
              <a:avLst/>
              <a:gdLst/>
              <a:ahLst/>
              <a:cxnLst/>
              <a:rect r="r" b="b" t="t" l="l"/>
              <a:pathLst>
                <a:path h="512145" w="893066">
                  <a:moveTo>
                    <a:pt x="893066" y="91595"/>
                  </a:moveTo>
                  <a:lnTo>
                    <a:pt x="893066" y="420551"/>
                  </a:lnTo>
                  <a:cubicBezTo>
                    <a:pt x="893066" y="444843"/>
                    <a:pt x="883416" y="468141"/>
                    <a:pt x="866238" y="485318"/>
                  </a:cubicBezTo>
                  <a:cubicBezTo>
                    <a:pt x="849061" y="502495"/>
                    <a:pt x="825763" y="512145"/>
                    <a:pt x="801471" y="512145"/>
                  </a:cubicBezTo>
                  <a:lnTo>
                    <a:pt x="91595" y="512145"/>
                  </a:lnTo>
                  <a:cubicBezTo>
                    <a:pt x="67302" y="512145"/>
                    <a:pt x="44005" y="502495"/>
                    <a:pt x="26827" y="485318"/>
                  </a:cubicBezTo>
                  <a:cubicBezTo>
                    <a:pt x="9650" y="468141"/>
                    <a:pt x="0" y="444843"/>
                    <a:pt x="0" y="420551"/>
                  </a:cubicBezTo>
                  <a:lnTo>
                    <a:pt x="0" y="91595"/>
                  </a:lnTo>
                  <a:cubicBezTo>
                    <a:pt x="0" y="67302"/>
                    <a:pt x="9650" y="44005"/>
                    <a:pt x="26827" y="26827"/>
                  </a:cubicBezTo>
                  <a:cubicBezTo>
                    <a:pt x="44005" y="9650"/>
                    <a:pt x="67302" y="0"/>
                    <a:pt x="91595" y="0"/>
                  </a:cubicBezTo>
                  <a:lnTo>
                    <a:pt x="801471" y="0"/>
                  </a:lnTo>
                  <a:cubicBezTo>
                    <a:pt x="825763" y="0"/>
                    <a:pt x="849061" y="9650"/>
                    <a:pt x="866238" y="26827"/>
                  </a:cubicBezTo>
                  <a:cubicBezTo>
                    <a:pt x="883416" y="44005"/>
                    <a:pt x="893066" y="67302"/>
                    <a:pt x="893066" y="91595"/>
                  </a:cubicBezTo>
                  <a:close/>
                </a:path>
              </a:pathLst>
            </a:custGeom>
            <a:solidFill>
              <a:srgbClr val="D6E8FF">
                <a:alpha val="2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93066" cy="550245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3593195" y="3818520"/>
            <a:ext cx="431800" cy="4318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2628" lIns="42628" bIns="42628" rIns="42628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80494" y="6155095"/>
            <a:ext cx="3719037" cy="2132818"/>
            <a:chOff x="0" y="0"/>
            <a:chExt cx="893066" cy="5121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3066" cy="512145"/>
            </a:xfrm>
            <a:custGeom>
              <a:avLst/>
              <a:gdLst/>
              <a:ahLst/>
              <a:cxnLst/>
              <a:rect r="r" b="b" t="t" l="l"/>
              <a:pathLst>
                <a:path h="512145" w="893066">
                  <a:moveTo>
                    <a:pt x="893066" y="91595"/>
                  </a:moveTo>
                  <a:lnTo>
                    <a:pt x="893066" y="420551"/>
                  </a:lnTo>
                  <a:cubicBezTo>
                    <a:pt x="893066" y="444843"/>
                    <a:pt x="883416" y="468141"/>
                    <a:pt x="866238" y="485318"/>
                  </a:cubicBezTo>
                  <a:cubicBezTo>
                    <a:pt x="849061" y="502495"/>
                    <a:pt x="825763" y="512145"/>
                    <a:pt x="801471" y="512145"/>
                  </a:cubicBezTo>
                  <a:lnTo>
                    <a:pt x="91595" y="512145"/>
                  </a:lnTo>
                  <a:cubicBezTo>
                    <a:pt x="67302" y="512145"/>
                    <a:pt x="44005" y="502495"/>
                    <a:pt x="26827" y="485318"/>
                  </a:cubicBezTo>
                  <a:cubicBezTo>
                    <a:pt x="9650" y="468141"/>
                    <a:pt x="0" y="444843"/>
                    <a:pt x="0" y="420551"/>
                  </a:cubicBezTo>
                  <a:lnTo>
                    <a:pt x="0" y="91595"/>
                  </a:lnTo>
                  <a:cubicBezTo>
                    <a:pt x="0" y="67302"/>
                    <a:pt x="9650" y="44005"/>
                    <a:pt x="26827" y="26827"/>
                  </a:cubicBezTo>
                  <a:cubicBezTo>
                    <a:pt x="44005" y="9650"/>
                    <a:pt x="67302" y="0"/>
                    <a:pt x="91595" y="0"/>
                  </a:cubicBezTo>
                  <a:lnTo>
                    <a:pt x="801471" y="0"/>
                  </a:lnTo>
                  <a:cubicBezTo>
                    <a:pt x="825763" y="0"/>
                    <a:pt x="849061" y="9650"/>
                    <a:pt x="866238" y="26827"/>
                  </a:cubicBezTo>
                  <a:cubicBezTo>
                    <a:pt x="883416" y="44005"/>
                    <a:pt x="893066" y="67302"/>
                    <a:pt x="893066" y="91595"/>
                  </a:cubicBezTo>
                  <a:close/>
                </a:path>
              </a:pathLst>
            </a:custGeom>
            <a:solidFill>
              <a:srgbClr val="D6E8FF">
                <a:alpha val="2980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93066" cy="550245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13593195" y="6496990"/>
            <a:ext cx="431800" cy="4318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2628" lIns="42628" bIns="42628" rIns="42628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7869864" y="4533509"/>
            <a:ext cx="5146521" cy="2740664"/>
          </a:xfrm>
          <a:prstGeom prst="line">
            <a:avLst/>
          </a:prstGeom>
          <a:ln cap="rnd" w="19050">
            <a:solidFill>
              <a:srgbClr val="D6E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7869864" y="4552559"/>
            <a:ext cx="5210630" cy="2740548"/>
          </a:xfrm>
          <a:prstGeom prst="line">
            <a:avLst/>
          </a:prstGeom>
          <a:ln cap="rnd" w="19050">
            <a:solidFill>
              <a:srgbClr val="D6E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8510608" y="3916413"/>
            <a:ext cx="3931712" cy="3931712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E8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95487" y="4201292"/>
            <a:ext cx="3361954" cy="3361954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7510" t="-67013" r="-7932" b="-21269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09700" y="1866900"/>
            <a:ext cx="173069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팀 소개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939694" y="1794541"/>
            <a:ext cx="860754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역할</a:t>
            </a: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에 따라 세분화된 전문성과 유연한 협업 방식</a:t>
            </a:r>
          </a:p>
        </p:txBody>
      </p:sp>
      <p:sp>
        <p:nvSpPr>
          <p:cNvPr name="TextBox 41" id="41"/>
          <p:cNvSpPr txBox="true"/>
          <p:nvPr/>
        </p:nvSpPr>
        <p:spPr>
          <a:xfrm rot="5400000">
            <a:off x="4685880" y="3823282"/>
            <a:ext cx="43471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82195" y="3782960"/>
            <a:ext cx="162484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디자이너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82578" y="4444385"/>
            <a:ext cx="284872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전문 분야: 브랜드 콘텐츠 디자인, SNS 비주얼 전략, 타로/여행/라이프스타일 콘텐츠 제작</a:t>
            </a:r>
          </a:p>
        </p:txBody>
      </p:sp>
      <p:sp>
        <p:nvSpPr>
          <p:cNvPr name="TextBox 44" id="44"/>
          <p:cNvSpPr txBox="true"/>
          <p:nvPr/>
        </p:nvSpPr>
        <p:spPr>
          <a:xfrm rot="5400000">
            <a:off x="4685880" y="6501752"/>
            <a:ext cx="43471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282195" y="6461430"/>
            <a:ext cx="120574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마케터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682578" y="7122856"/>
            <a:ext cx="284872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콘텐츠 마케팅 전략, 퍼널 설계, 타겟 분석</a:t>
            </a:r>
          </a:p>
        </p:txBody>
      </p:sp>
      <p:sp>
        <p:nvSpPr>
          <p:cNvPr name="TextBox 47" id="47"/>
          <p:cNvSpPr txBox="true"/>
          <p:nvPr/>
        </p:nvSpPr>
        <p:spPr>
          <a:xfrm rot="5400000">
            <a:off x="13615548" y="3823282"/>
            <a:ext cx="43471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11862" y="3782960"/>
            <a:ext cx="243764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프로젝트 매니저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612245" y="4444385"/>
            <a:ext cx="284872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일정관리, 커뮤니케이션, 피드백 수렴 및 조율</a:t>
            </a:r>
          </a:p>
        </p:txBody>
      </p:sp>
      <p:sp>
        <p:nvSpPr>
          <p:cNvPr name="TextBox 50" id="50"/>
          <p:cNvSpPr txBox="true"/>
          <p:nvPr/>
        </p:nvSpPr>
        <p:spPr>
          <a:xfrm rot="5400000">
            <a:off x="13615548" y="6501752"/>
            <a:ext cx="43471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211862" y="6461430"/>
            <a:ext cx="120574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기획자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612245" y="7122856"/>
            <a:ext cx="284872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IT/뷰티 브랜드 콘텐츠 전략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18947008" y="0"/>
                </a:moveTo>
                <a:lnTo>
                  <a:pt x="0" y="0"/>
                </a:lnTo>
                <a:lnTo>
                  <a:pt x="0" y="10894034"/>
                </a:lnTo>
                <a:lnTo>
                  <a:pt x="18947008" y="10894034"/>
                </a:lnTo>
                <a:lnTo>
                  <a:pt x="18947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447871" y="6554532"/>
            <a:ext cx="12063884" cy="2050907"/>
            <a:chOff x="0" y="0"/>
            <a:chExt cx="1304101" cy="2216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4101" cy="221695"/>
            </a:xfrm>
            <a:custGeom>
              <a:avLst/>
              <a:gdLst/>
              <a:ahLst/>
              <a:cxnLst/>
              <a:rect r="r" b="b" t="t" l="l"/>
              <a:pathLst>
                <a:path h="221695" w="1304101">
                  <a:moveTo>
                    <a:pt x="1304101" y="28237"/>
                  </a:moveTo>
                  <a:lnTo>
                    <a:pt x="1304101" y="193459"/>
                  </a:lnTo>
                  <a:cubicBezTo>
                    <a:pt x="1304101" y="209053"/>
                    <a:pt x="1291459" y="221695"/>
                    <a:pt x="1275864" y="221695"/>
                  </a:cubicBezTo>
                  <a:lnTo>
                    <a:pt x="28237" y="221695"/>
                  </a:lnTo>
                  <a:cubicBezTo>
                    <a:pt x="12642" y="221695"/>
                    <a:pt x="0" y="209053"/>
                    <a:pt x="0" y="193459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04101" cy="259795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47871" y="3130652"/>
            <a:ext cx="12063884" cy="2050907"/>
            <a:chOff x="0" y="0"/>
            <a:chExt cx="1304101" cy="2216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4101" cy="221695"/>
            </a:xfrm>
            <a:custGeom>
              <a:avLst/>
              <a:gdLst/>
              <a:ahLst/>
              <a:cxnLst/>
              <a:rect r="r" b="b" t="t" l="l"/>
              <a:pathLst>
                <a:path h="221695" w="1304101">
                  <a:moveTo>
                    <a:pt x="1304101" y="28237"/>
                  </a:moveTo>
                  <a:lnTo>
                    <a:pt x="1304101" y="193459"/>
                  </a:lnTo>
                  <a:cubicBezTo>
                    <a:pt x="1304101" y="209053"/>
                    <a:pt x="1291459" y="221695"/>
                    <a:pt x="1275864" y="221695"/>
                  </a:cubicBezTo>
                  <a:lnTo>
                    <a:pt x="28237" y="221695"/>
                  </a:lnTo>
                  <a:cubicBezTo>
                    <a:pt x="12642" y="221695"/>
                    <a:pt x="0" y="209053"/>
                    <a:pt x="0" y="193459"/>
                  </a:cubicBezTo>
                  <a:lnTo>
                    <a:pt x="0" y="28237"/>
                  </a:lnTo>
                  <a:cubicBezTo>
                    <a:pt x="0" y="12642"/>
                    <a:pt x="12642" y="0"/>
                    <a:pt x="28237" y="0"/>
                  </a:cubicBezTo>
                  <a:lnTo>
                    <a:pt x="1275864" y="0"/>
                  </a:lnTo>
                  <a:cubicBezTo>
                    <a:pt x="1283353" y="0"/>
                    <a:pt x="1290535" y="2975"/>
                    <a:pt x="1295831" y="8270"/>
                  </a:cubicBezTo>
                  <a:cubicBezTo>
                    <a:pt x="1301126" y="13566"/>
                    <a:pt x="1304101" y="20748"/>
                    <a:pt x="1304101" y="28237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04101" cy="259795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67042" y="5455275"/>
            <a:ext cx="825541" cy="82554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09700" y="1866900"/>
            <a:ext cx="173069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문제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정의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39694" y="1794541"/>
            <a:ext cx="7045108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성장을 막고 있는 핵심 병목 지점 분석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29795" y="3415665"/>
            <a:ext cx="25602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현 상황의 과제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9795" y="4057697"/>
            <a:ext cx="5120562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브랜드</a:t>
            </a: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인지도는 상승 중이나 전환율 정체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신규 고객 유입 대비 재구매율이 낮음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9795" y="7572342"/>
            <a:ext cx="5120562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랜딩페이</a:t>
            </a: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지 개편, 제품 혜택 강조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신뢰 유도 요소(리뷰/보장) 강화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76126" y="4057697"/>
            <a:ext cx="5120562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제품/서비스</a:t>
            </a: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메시지 전달이 일관되지 않음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콘텐츠 활용 전략 부족으로 채널 운영 비효율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76126" y="7572342"/>
            <a:ext cx="5120562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랜드 가이드라인</a:t>
            </a: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수립, 전 채널 통일 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메시지 프레임 설계, 콘텐츠 스토리보드 기반 운영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29795" y="6897972"/>
            <a:ext cx="25602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해결 방향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18947008" y="0"/>
                </a:moveTo>
                <a:lnTo>
                  <a:pt x="0" y="0"/>
                </a:lnTo>
                <a:lnTo>
                  <a:pt x="0" y="10894034"/>
                </a:lnTo>
                <a:lnTo>
                  <a:pt x="18947008" y="10894034"/>
                </a:lnTo>
                <a:lnTo>
                  <a:pt x="18947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42" y="640008"/>
            <a:ext cx="16880917" cy="9006984"/>
            <a:chOff x="0" y="0"/>
            <a:chExt cx="572568" cy="30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568" cy="305490"/>
            </a:xfrm>
            <a:custGeom>
              <a:avLst/>
              <a:gdLst/>
              <a:ahLst/>
              <a:cxnLst/>
              <a:rect r="r" b="b" t="t" l="l"/>
              <a:pathLst>
                <a:path h="305490" w="572568">
                  <a:moveTo>
                    <a:pt x="572568" y="20179"/>
                  </a:moveTo>
                  <a:lnTo>
                    <a:pt x="572568" y="285311"/>
                  </a:lnTo>
                  <a:cubicBezTo>
                    <a:pt x="572568" y="296455"/>
                    <a:pt x="563533" y="305490"/>
                    <a:pt x="552389" y="305490"/>
                  </a:cubicBezTo>
                  <a:lnTo>
                    <a:pt x="20179" y="305490"/>
                  </a:lnTo>
                  <a:cubicBezTo>
                    <a:pt x="9035" y="305490"/>
                    <a:pt x="0" y="296455"/>
                    <a:pt x="0" y="285311"/>
                  </a:cubicBezTo>
                  <a:lnTo>
                    <a:pt x="0" y="20179"/>
                  </a:lnTo>
                  <a:cubicBezTo>
                    <a:pt x="0" y="9035"/>
                    <a:pt x="9035" y="0"/>
                    <a:pt x="20179" y="0"/>
                  </a:cubicBezTo>
                  <a:lnTo>
                    <a:pt x="552389" y="0"/>
                  </a:lnTo>
                  <a:cubicBezTo>
                    <a:pt x="563533" y="0"/>
                    <a:pt x="572568" y="9035"/>
                    <a:pt x="572568" y="20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2568" cy="343590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375166" y="1264034"/>
            <a:ext cx="0" cy="7758931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09700" y="1866900"/>
            <a:ext cx="173069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성과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예측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9700" y="1247775"/>
            <a:ext cx="17306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74C2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9694" y="1794541"/>
            <a:ext cx="860754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전략</a:t>
            </a:r>
            <a:r>
              <a:rPr lang="en-US" sz="2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실행의 일관성과 측정 가능성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233857" y="3383996"/>
            <a:ext cx="5430441" cy="5349099"/>
            <a:chOff x="0" y="0"/>
            <a:chExt cx="587029" cy="57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7029" cy="578218"/>
            </a:xfrm>
            <a:custGeom>
              <a:avLst/>
              <a:gdLst/>
              <a:ahLst/>
              <a:cxnLst/>
              <a:rect r="r" b="b" t="t" l="l"/>
              <a:pathLst>
                <a:path h="578218" w="587029">
                  <a:moveTo>
                    <a:pt x="587029" y="62729"/>
                  </a:moveTo>
                  <a:lnTo>
                    <a:pt x="587029" y="515489"/>
                  </a:lnTo>
                  <a:cubicBezTo>
                    <a:pt x="587029" y="532126"/>
                    <a:pt x="580420" y="548081"/>
                    <a:pt x="568656" y="559845"/>
                  </a:cubicBezTo>
                  <a:cubicBezTo>
                    <a:pt x="556892" y="571609"/>
                    <a:pt x="540937" y="578218"/>
                    <a:pt x="524300" y="578218"/>
                  </a:cubicBezTo>
                  <a:lnTo>
                    <a:pt x="62729" y="578218"/>
                  </a:lnTo>
                  <a:cubicBezTo>
                    <a:pt x="28085" y="578218"/>
                    <a:pt x="0" y="550133"/>
                    <a:pt x="0" y="515489"/>
                  </a:cubicBezTo>
                  <a:lnTo>
                    <a:pt x="0" y="62729"/>
                  </a:lnTo>
                  <a:cubicBezTo>
                    <a:pt x="0" y="46092"/>
                    <a:pt x="6609" y="30137"/>
                    <a:pt x="18373" y="18373"/>
                  </a:cubicBezTo>
                  <a:cubicBezTo>
                    <a:pt x="30137" y="6609"/>
                    <a:pt x="46092" y="0"/>
                    <a:pt x="62729" y="0"/>
                  </a:cubicBezTo>
                  <a:lnTo>
                    <a:pt x="524300" y="0"/>
                  </a:lnTo>
                  <a:cubicBezTo>
                    <a:pt x="540937" y="0"/>
                    <a:pt x="556892" y="6609"/>
                    <a:pt x="568656" y="18373"/>
                  </a:cubicBezTo>
                  <a:cubicBezTo>
                    <a:pt x="580420" y="30137"/>
                    <a:pt x="587029" y="46092"/>
                    <a:pt x="587029" y="62729"/>
                  </a:cubicBezTo>
                  <a:close/>
                </a:path>
              </a:pathLst>
            </a:custGeom>
            <a:solidFill>
              <a:srgbClr val="D6E8FF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87029" cy="61631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95326" y="3383996"/>
            <a:ext cx="5430441" cy="5349099"/>
            <a:chOff x="0" y="0"/>
            <a:chExt cx="587029" cy="578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7029" cy="578218"/>
            </a:xfrm>
            <a:custGeom>
              <a:avLst/>
              <a:gdLst/>
              <a:ahLst/>
              <a:cxnLst/>
              <a:rect r="r" b="b" t="t" l="l"/>
              <a:pathLst>
                <a:path h="578218" w="587029">
                  <a:moveTo>
                    <a:pt x="587029" y="62729"/>
                  </a:moveTo>
                  <a:lnTo>
                    <a:pt x="587029" y="515489"/>
                  </a:lnTo>
                  <a:cubicBezTo>
                    <a:pt x="587029" y="532126"/>
                    <a:pt x="580420" y="548081"/>
                    <a:pt x="568656" y="559845"/>
                  </a:cubicBezTo>
                  <a:cubicBezTo>
                    <a:pt x="556892" y="571609"/>
                    <a:pt x="540937" y="578218"/>
                    <a:pt x="524300" y="578218"/>
                  </a:cubicBezTo>
                  <a:lnTo>
                    <a:pt x="62729" y="578218"/>
                  </a:lnTo>
                  <a:cubicBezTo>
                    <a:pt x="28085" y="578218"/>
                    <a:pt x="0" y="550133"/>
                    <a:pt x="0" y="515489"/>
                  </a:cubicBezTo>
                  <a:lnTo>
                    <a:pt x="0" y="62729"/>
                  </a:lnTo>
                  <a:cubicBezTo>
                    <a:pt x="0" y="46092"/>
                    <a:pt x="6609" y="30137"/>
                    <a:pt x="18373" y="18373"/>
                  </a:cubicBezTo>
                  <a:cubicBezTo>
                    <a:pt x="30137" y="6609"/>
                    <a:pt x="46092" y="0"/>
                    <a:pt x="62729" y="0"/>
                  </a:cubicBezTo>
                  <a:lnTo>
                    <a:pt x="524300" y="0"/>
                  </a:lnTo>
                  <a:cubicBezTo>
                    <a:pt x="540937" y="0"/>
                    <a:pt x="556892" y="6609"/>
                    <a:pt x="568656" y="18373"/>
                  </a:cubicBezTo>
                  <a:cubicBezTo>
                    <a:pt x="580420" y="30137"/>
                    <a:pt x="587029" y="46092"/>
                    <a:pt x="587029" y="62729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87029" cy="61631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1723826" y="4801161"/>
            <a:ext cx="4573442" cy="0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4595967" y="4810686"/>
            <a:ext cx="4573442" cy="0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6608545" y="3176559"/>
            <a:ext cx="681066" cy="68106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70014" y="3176559"/>
            <a:ext cx="681066" cy="68106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22769" y="5692986"/>
            <a:ext cx="1114087" cy="731120"/>
            <a:chOff x="0" y="0"/>
            <a:chExt cx="8128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273050" y="0"/>
                  </a:moveTo>
                  <a:lnTo>
                    <a:pt x="0" y="266700"/>
                  </a:lnTo>
                  <a:lnTo>
                    <a:pt x="273050" y="533400"/>
                  </a:lnTo>
                  <a:lnTo>
                    <a:pt x="273050" y="400050"/>
                  </a:lnTo>
                  <a:lnTo>
                    <a:pt x="539750" y="400050"/>
                  </a:lnTo>
                  <a:lnTo>
                    <a:pt x="539750" y="533400"/>
                  </a:lnTo>
                  <a:lnTo>
                    <a:pt x="812800" y="266700"/>
                  </a:lnTo>
                  <a:lnTo>
                    <a:pt x="539750" y="0"/>
                  </a:lnTo>
                  <a:lnTo>
                    <a:pt x="539750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101600"/>
              <a:ext cx="6096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90047" y="3265632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+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51516" y="3265632"/>
            <a:ext cx="518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-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22452" y="4079166"/>
            <a:ext cx="285325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긍정적 시나리오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3921" y="4079166"/>
            <a:ext cx="285325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부정적 시나리오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807897" y="5172636"/>
            <a:ext cx="4282362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콘텐츠</a:t>
            </a: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노출 2배 증가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신규 유입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광고 수익률 달성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69366" y="5172636"/>
            <a:ext cx="4282362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핵심</a:t>
            </a: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채널에서 콘텐츠 반응 부진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고객 전환 루트 이탈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예산 대비 낮은 ROI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564077" y="7439516"/>
            <a:ext cx="4770002" cy="843855"/>
            <a:chOff x="0" y="0"/>
            <a:chExt cx="515635" cy="912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5635" cy="91218"/>
            </a:xfrm>
            <a:custGeom>
              <a:avLst/>
              <a:gdLst/>
              <a:ahLst/>
              <a:cxnLst/>
              <a:rect r="r" b="b" t="t" l="l"/>
              <a:pathLst>
                <a:path h="91218" w="515635">
                  <a:moveTo>
                    <a:pt x="515635" y="32461"/>
                  </a:moveTo>
                  <a:lnTo>
                    <a:pt x="515635" y="58757"/>
                  </a:lnTo>
                  <a:cubicBezTo>
                    <a:pt x="515635" y="76684"/>
                    <a:pt x="501102" y="91218"/>
                    <a:pt x="483175" y="91218"/>
                  </a:cubicBezTo>
                  <a:lnTo>
                    <a:pt x="32461" y="91218"/>
                  </a:lnTo>
                  <a:cubicBezTo>
                    <a:pt x="14533" y="91218"/>
                    <a:pt x="0" y="76684"/>
                    <a:pt x="0" y="58757"/>
                  </a:cubicBezTo>
                  <a:lnTo>
                    <a:pt x="0" y="32461"/>
                  </a:lnTo>
                  <a:cubicBezTo>
                    <a:pt x="0" y="14533"/>
                    <a:pt x="14533" y="0"/>
                    <a:pt x="32461" y="0"/>
                  </a:cubicBezTo>
                  <a:lnTo>
                    <a:pt x="483175" y="0"/>
                  </a:lnTo>
                  <a:cubicBezTo>
                    <a:pt x="491784" y="0"/>
                    <a:pt x="500040" y="3420"/>
                    <a:pt x="506128" y="9508"/>
                  </a:cubicBezTo>
                  <a:cubicBezTo>
                    <a:pt x="512215" y="15595"/>
                    <a:pt x="515635" y="23852"/>
                    <a:pt x="515635" y="32461"/>
                  </a:cubicBezTo>
                  <a:close/>
                </a:path>
              </a:pathLst>
            </a:custGeom>
            <a:solidFill>
              <a:srgbClr val="2F74C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15635" cy="12931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625546" y="7439516"/>
            <a:ext cx="4770002" cy="843855"/>
            <a:chOff x="0" y="0"/>
            <a:chExt cx="515635" cy="912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635" cy="91218"/>
            </a:xfrm>
            <a:custGeom>
              <a:avLst/>
              <a:gdLst/>
              <a:ahLst/>
              <a:cxnLst/>
              <a:rect r="r" b="b" t="t" l="l"/>
              <a:pathLst>
                <a:path h="91218" w="515635">
                  <a:moveTo>
                    <a:pt x="515635" y="32461"/>
                  </a:moveTo>
                  <a:lnTo>
                    <a:pt x="515635" y="58757"/>
                  </a:lnTo>
                  <a:cubicBezTo>
                    <a:pt x="515635" y="76684"/>
                    <a:pt x="501102" y="91218"/>
                    <a:pt x="483175" y="91218"/>
                  </a:cubicBezTo>
                  <a:lnTo>
                    <a:pt x="32461" y="91218"/>
                  </a:lnTo>
                  <a:cubicBezTo>
                    <a:pt x="14533" y="91218"/>
                    <a:pt x="0" y="76684"/>
                    <a:pt x="0" y="58757"/>
                  </a:cubicBezTo>
                  <a:lnTo>
                    <a:pt x="0" y="32461"/>
                  </a:lnTo>
                  <a:cubicBezTo>
                    <a:pt x="0" y="14533"/>
                    <a:pt x="14533" y="0"/>
                    <a:pt x="32461" y="0"/>
                  </a:cubicBezTo>
                  <a:lnTo>
                    <a:pt x="483175" y="0"/>
                  </a:lnTo>
                  <a:cubicBezTo>
                    <a:pt x="491784" y="0"/>
                    <a:pt x="500040" y="3420"/>
                    <a:pt x="506128" y="9508"/>
                  </a:cubicBezTo>
                  <a:cubicBezTo>
                    <a:pt x="512215" y="15595"/>
                    <a:pt x="515635" y="23852"/>
                    <a:pt x="515635" y="324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15635" cy="129318"/>
            </a:xfrm>
            <a:prstGeom prst="rect">
              <a:avLst/>
            </a:prstGeom>
          </p:spPr>
          <p:txBody>
            <a:bodyPr anchor="ctr" rtlCol="false" tIns="44461" lIns="44461" bIns="44461" rIns="44461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016716" y="7672532"/>
            <a:ext cx="38647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긍정적 결과 도출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78185" y="7672532"/>
            <a:ext cx="38647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부정적 결과 도출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18947008" y="0"/>
                </a:moveTo>
                <a:lnTo>
                  <a:pt x="0" y="0"/>
                </a:lnTo>
                <a:lnTo>
                  <a:pt x="0" y="10894034"/>
                </a:lnTo>
                <a:lnTo>
                  <a:pt x="18947008" y="10894034"/>
                </a:lnTo>
                <a:lnTo>
                  <a:pt x="18947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48894" y="4160162"/>
            <a:ext cx="1099021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Q&amp;A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39369" y="3443565"/>
            <a:ext cx="1099021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>
                    <a:alpha val="4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질문 받습니다!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39029" y="-265458"/>
            <a:ext cx="18947009" cy="10894034"/>
          </a:xfrm>
          <a:custGeom>
            <a:avLst/>
            <a:gdLst/>
            <a:ahLst/>
            <a:cxnLst/>
            <a:rect r="r" b="b" t="t" l="l"/>
            <a:pathLst>
              <a:path h="10894034" w="18947009">
                <a:moveTo>
                  <a:pt x="18947008" y="0"/>
                </a:moveTo>
                <a:lnTo>
                  <a:pt x="0" y="0"/>
                </a:lnTo>
                <a:lnTo>
                  <a:pt x="0" y="10894034"/>
                </a:lnTo>
                <a:lnTo>
                  <a:pt x="18947008" y="10894034"/>
                </a:lnTo>
                <a:lnTo>
                  <a:pt x="18947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7561" b="-345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1251" y="1114922"/>
            <a:ext cx="15905498" cy="8057156"/>
            <a:chOff x="0" y="0"/>
            <a:chExt cx="160458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4585" cy="812800"/>
            </a:xfrm>
            <a:custGeom>
              <a:avLst/>
              <a:gdLst/>
              <a:ahLst/>
              <a:cxnLst/>
              <a:rect r="r" b="b" t="t" l="l"/>
              <a:pathLst>
                <a:path h="812800" w="1604585">
                  <a:moveTo>
                    <a:pt x="1604585" y="21417"/>
                  </a:moveTo>
                  <a:lnTo>
                    <a:pt x="1604585" y="791383"/>
                  </a:lnTo>
                  <a:cubicBezTo>
                    <a:pt x="1604585" y="803211"/>
                    <a:pt x="1594996" y="812800"/>
                    <a:pt x="1583168" y="812800"/>
                  </a:cubicBezTo>
                  <a:lnTo>
                    <a:pt x="21417" y="812800"/>
                  </a:lnTo>
                  <a:cubicBezTo>
                    <a:pt x="9589" y="812800"/>
                    <a:pt x="0" y="803211"/>
                    <a:pt x="0" y="791383"/>
                  </a:cubicBezTo>
                  <a:lnTo>
                    <a:pt x="0" y="21417"/>
                  </a:lnTo>
                  <a:cubicBezTo>
                    <a:pt x="0" y="9589"/>
                    <a:pt x="9589" y="0"/>
                    <a:pt x="21417" y="0"/>
                  </a:cubicBezTo>
                  <a:lnTo>
                    <a:pt x="1583168" y="0"/>
                  </a:lnTo>
                  <a:cubicBezTo>
                    <a:pt x="1594996" y="0"/>
                    <a:pt x="1604585" y="9589"/>
                    <a:pt x="1604585" y="21417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0458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48894" y="4160162"/>
            <a:ext cx="1099021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F74C2"/>
                </a:solidFill>
                <a:latin typeface="DM Sans Bold"/>
                <a:ea typeface="DM Sans Bold"/>
                <a:cs typeface="DM Sans Bold"/>
                <a:sym typeface="DM Sans Bold"/>
              </a:rPr>
              <a:t>감사합니다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39369" y="3443565"/>
            <a:ext cx="1099021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>
                    <a:alpha val="4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48894" y="8233851"/>
            <a:ext cx="1099021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hello@reallygreatsite.com | +123-456-7890</a:t>
            </a:r>
          </a:p>
        </p:txBody>
      </p:sp>
      <p:sp>
        <p:nvSpPr>
          <p:cNvPr name="AutoShape 9" id="9"/>
          <p:cNvSpPr/>
          <p:nvPr/>
        </p:nvSpPr>
        <p:spPr>
          <a:xfrm>
            <a:off x="3375166" y="7753328"/>
            <a:ext cx="11537667" cy="0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653589" y="1516963"/>
            <a:ext cx="230541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LALANA COMPNAY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28996" y="1516963"/>
            <a:ext cx="230541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DAHCfrf1I-k</dc:identifier>
  <dcterms:modified xsi:type="dcterms:W3CDTF">2011-08-01T06:04:30Z</dcterms:modified>
  <cp:revision>1</cp:revision>
  <dc:title>파란색과 회색 심플한 웹 기획자 포트폴리오 이력서 자기소개 프레젠테이션</dc:title>
</cp:coreProperties>
</file>