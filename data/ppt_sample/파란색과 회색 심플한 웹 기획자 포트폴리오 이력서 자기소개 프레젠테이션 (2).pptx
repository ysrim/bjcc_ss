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DTD서울로" charset="1" panose="02000503000000000000"/>
      <p:regular r:id="rId17"/>
    </p:embeddedFont>
    <p:embeddedFont>
      <p:font typeface="210 도시락" charset="1" panose="02020603020101020101"/>
      <p:regular r:id="rId18"/>
    </p:embeddedFont>
    <p:embeddedFont>
      <p:font typeface="Montserrat Semi-Bold" charset="1" panose="00000700000000000000"/>
      <p:regular r:id="rId19"/>
    </p:embeddedFont>
    <p:embeddedFont>
      <p:font typeface="Montserrat Bold" charset="1" panose="00000800000000000000"/>
      <p:regular r:id="rId20"/>
    </p:embeddedFont>
    <p:embeddedFont>
      <p:font typeface="TDTD순고딕" charset="1" panose="02000603000000000000"/>
      <p:regular r:id="rId21"/>
    </p:embeddedFont>
    <p:embeddedFont>
      <p:font typeface="TDTD순고딕 Bold" charset="1" panose="02000803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79625" y="2731685"/>
            <a:ext cx="9705959" cy="283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39"/>
              </a:lnSpc>
            </a:pPr>
            <a:r>
              <a:rPr lang="en-US" sz="8099">
                <a:solidFill>
                  <a:srgbClr val="00249E"/>
                </a:solidFill>
                <a:latin typeface="TDTD서울로"/>
                <a:ea typeface="TDTD서울로"/>
                <a:cs typeface="TDTD서울로"/>
                <a:sym typeface="TDTD서울로"/>
              </a:rPr>
              <a:t>스마트한 사업 제안</a:t>
            </a:r>
          </a:p>
          <a:p>
            <a:pPr algn="ctr" marL="0" indent="0" lvl="0">
              <a:lnSpc>
                <a:spcPts val="11339"/>
              </a:lnSpc>
            </a:pPr>
            <a:r>
              <a:rPr lang="en-US" sz="8099">
                <a:solidFill>
                  <a:srgbClr val="00249E"/>
                </a:solidFill>
                <a:latin typeface="TDTD서울로"/>
                <a:ea typeface="TDTD서울로"/>
                <a:cs typeface="TDTD서울로"/>
                <a:sym typeface="TDTD서울로"/>
              </a:rPr>
              <a:t>프레젠테이션</a:t>
            </a:r>
          </a:p>
        </p:txBody>
      </p:sp>
      <p:sp>
        <p:nvSpPr>
          <p:cNvPr name="AutoShape 3" id="3"/>
          <p:cNvSpPr/>
          <p:nvPr/>
        </p:nvSpPr>
        <p:spPr>
          <a:xfrm>
            <a:off x="3996748" y="5674742"/>
            <a:ext cx="9792819" cy="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3996748" y="4229408"/>
            <a:ext cx="9792819" cy="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3996748" y="2784073"/>
            <a:ext cx="9792819" cy="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3952978" y="2737486"/>
            <a:ext cx="4823882" cy="1522887"/>
            <a:chOff x="0" y="0"/>
            <a:chExt cx="6431843" cy="2030516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48230" y="48230"/>
              <a:ext cx="6348083" cy="1934056"/>
              <a:chOff x="0" y="0"/>
              <a:chExt cx="1253942" cy="382036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253942" cy="382036"/>
              </a:xfrm>
              <a:custGeom>
                <a:avLst/>
                <a:gdLst/>
                <a:ahLst/>
                <a:cxnLst/>
                <a:rect r="r" b="b" t="t" l="l"/>
                <a:pathLst>
                  <a:path h="382036" w="1253942">
                    <a:moveTo>
                      <a:pt x="0" y="0"/>
                    </a:moveTo>
                    <a:lnTo>
                      <a:pt x="1253942" y="0"/>
                    </a:lnTo>
                    <a:lnTo>
                      <a:pt x="1253942" y="382036"/>
                    </a:lnTo>
                    <a:lnTo>
                      <a:pt x="0" y="382036"/>
                    </a:lnTo>
                    <a:close/>
                  </a:path>
                </a:pathLst>
              </a:custGeom>
              <a:ln w="19050" cap="sq">
                <a:solidFill>
                  <a:srgbClr val="00249E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1253942" cy="4296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96460" cy="96460"/>
              <a:chOff x="0" y="0"/>
              <a:chExt cx="19054" cy="1905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9054" cy="19054"/>
              </a:xfrm>
              <a:custGeom>
                <a:avLst/>
                <a:gdLst/>
                <a:ahLst/>
                <a:cxnLst/>
                <a:rect r="r" b="b" t="t" l="l"/>
                <a:pathLst>
                  <a:path h="19054" w="19054">
                    <a:moveTo>
                      <a:pt x="0" y="0"/>
                    </a:moveTo>
                    <a:lnTo>
                      <a:pt x="19054" y="0"/>
                    </a:lnTo>
                    <a:lnTo>
                      <a:pt x="19054" y="19054"/>
                    </a:lnTo>
                    <a:lnTo>
                      <a:pt x="0" y="19054"/>
                    </a:lnTo>
                    <a:close/>
                  </a:path>
                </a:pathLst>
              </a:custGeom>
              <a:solidFill>
                <a:srgbClr val="00249E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19054" cy="666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1934056"/>
              <a:ext cx="96460" cy="96460"/>
              <a:chOff x="0" y="0"/>
              <a:chExt cx="19054" cy="19054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9054" cy="19054"/>
              </a:xfrm>
              <a:custGeom>
                <a:avLst/>
                <a:gdLst/>
                <a:ahLst/>
                <a:cxnLst/>
                <a:rect r="r" b="b" t="t" l="l"/>
                <a:pathLst>
                  <a:path h="19054" w="19054">
                    <a:moveTo>
                      <a:pt x="0" y="0"/>
                    </a:moveTo>
                    <a:lnTo>
                      <a:pt x="19054" y="0"/>
                    </a:lnTo>
                    <a:lnTo>
                      <a:pt x="19054" y="19054"/>
                    </a:lnTo>
                    <a:lnTo>
                      <a:pt x="0" y="19054"/>
                    </a:lnTo>
                    <a:close/>
                  </a:path>
                </a:pathLst>
              </a:custGeom>
              <a:solidFill>
                <a:srgbClr val="00249E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47625"/>
                <a:ext cx="19054" cy="666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6335383" y="0"/>
              <a:ext cx="96460" cy="96460"/>
              <a:chOff x="0" y="0"/>
              <a:chExt cx="19054" cy="19054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9054" cy="19054"/>
              </a:xfrm>
              <a:custGeom>
                <a:avLst/>
                <a:gdLst/>
                <a:ahLst/>
                <a:cxnLst/>
                <a:rect r="r" b="b" t="t" l="l"/>
                <a:pathLst>
                  <a:path h="19054" w="19054">
                    <a:moveTo>
                      <a:pt x="0" y="0"/>
                    </a:moveTo>
                    <a:lnTo>
                      <a:pt x="19054" y="0"/>
                    </a:lnTo>
                    <a:lnTo>
                      <a:pt x="19054" y="19054"/>
                    </a:lnTo>
                    <a:lnTo>
                      <a:pt x="0" y="19054"/>
                    </a:lnTo>
                    <a:close/>
                  </a:path>
                </a:pathLst>
              </a:custGeom>
              <a:solidFill>
                <a:srgbClr val="00249E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47625"/>
                <a:ext cx="19054" cy="666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6335383" y="1934056"/>
              <a:ext cx="96460" cy="96460"/>
              <a:chOff x="0" y="0"/>
              <a:chExt cx="19054" cy="1905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9054" cy="19054"/>
              </a:xfrm>
              <a:custGeom>
                <a:avLst/>
                <a:gdLst/>
                <a:ahLst/>
                <a:cxnLst/>
                <a:rect r="r" b="b" t="t" l="l"/>
                <a:pathLst>
                  <a:path h="19054" w="19054">
                    <a:moveTo>
                      <a:pt x="0" y="0"/>
                    </a:moveTo>
                    <a:lnTo>
                      <a:pt x="19054" y="0"/>
                    </a:lnTo>
                    <a:lnTo>
                      <a:pt x="19054" y="19054"/>
                    </a:lnTo>
                    <a:lnTo>
                      <a:pt x="0" y="19054"/>
                    </a:lnTo>
                    <a:close/>
                  </a:path>
                </a:pathLst>
              </a:custGeom>
              <a:solidFill>
                <a:srgbClr val="00249E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47625"/>
                <a:ext cx="19054" cy="666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22" id="22"/>
          <p:cNvSpPr/>
          <p:nvPr/>
        </p:nvSpPr>
        <p:spPr>
          <a:xfrm flipH="false" flipV="false" rot="-1218639">
            <a:off x="8815413" y="4135711"/>
            <a:ext cx="348826" cy="493040"/>
          </a:xfrm>
          <a:custGeom>
            <a:avLst/>
            <a:gdLst/>
            <a:ahLst/>
            <a:cxnLst/>
            <a:rect r="r" b="b" t="t" l="l"/>
            <a:pathLst>
              <a:path h="493040" w="348826">
                <a:moveTo>
                  <a:pt x="0" y="0"/>
                </a:moveTo>
                <a:lnTo>
                  <a:pt x="348826" y="0"/>
                </a:lnTo>
                <a:lnTo>
                  <a:pt x="348826" y="493040"/>
                </a:lnTo>
                <a:lnTo>
                  <a:pt x="0" y="4930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3" id="23"/>
          <p:cNvSpPr/>
          <p:nvPr/>
        </p:nvSpPr>
        <p:spPr>
          <a:xfrm>
            <a:off x="0" y="8678915"/>
            <a:ext cx="18288000" cy="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2015050" y="0"/>
            <a:ext cx="0" cy="1028700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16163650" y="0"/>
            <a:ext cx="0" cy="1028700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0" y="1683887"/>
            <a:ext cx="18288000" cy="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3979625" y="5938851"/>
            <a:ext cx="9792819" cy="55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39"/>
              </a:lnSpc>
            </a:pPr>
            <a:r>
              <a:rPr lang="en-US" sz="3499" spc="-55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성과 중심의 스마트한 사업 계획 발표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7020640" y="3728169"/>
            <a:ext cx="238660" cy="2684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15"/>
              </a:lnSpc>
              <a:spcBef>
                <a:spcPct val="0"/>
              </a:spcBef>
            </a:pPr>
            <a:r>
              <a:rPr lang="en-US" b="true" sz="1599" strike="noStrike">
                <a:solidFill>
                  <a:srgbClr val="393939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www.reallygreatsite.com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00127" y="3802002"/>
            <a:ext cx="228573" cy="2720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393939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B</a:t>
            </a:r>
            <a:r>
              <a:rPr lang="en-US" b="true" sz="1500">
                <a:solidFill>
                  <a:srgbClr val="393939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USINESS PROPOSAL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132594" y="9325066"/>
            <a:ext cx="1814523" cy="316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발표자 : 김서영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992386" y="9296491"/>
            <a:ext cx="1428739" cy="332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3"/>
              </a:lnSpc>
              <a:spcBef>
                <a:spcPct val="0"/>
              </a:spcBef>
            </a:pPr>
            <a:r>
              <a:rPr lang="en-US" b="true" sz="1700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2029.12.31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996748" y="6958578"/>
            <a:ext cx="9792819" cy="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3996748" y="5882915"/>
            <a:ext cx="9792819" cy="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3996748" y="4806777"/>
            <a:ext cx="9792819" cy="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0" y="8678915"/>
            <a:ext cx="18288000" cy="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015050" y="0"/>
            <a:ext cx="0" cy="1028700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163650" y="0"/>
            <a:ext cx="0" cy="1028700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0" y="1683887"/>
            <a:ext cx="18288000" cy="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4050708" y="3389937"/>
            <a:ext cx="9792819" cy="50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91"/>
              </a:lnSpc>
            </a:pPr>
            <a:r>
              <a:rPr lang="en-US" b="true" sz="3299" spc="-52">
                <a:solidFill>
                  <a:srgbClr val="00249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Table of Contents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020640" y="3728169"/>
            <a:ext cx="238660" cy="2684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15"/>
              </a:lnSpc>
              <a:spcBef>
                <a:spcPct val="0"/>
              </a:spcBef>
            </a:pPr>
            <a:r>
              <a:rPr lang="en-US" b="true" sz="1599" strike="noStrike">
                <a:solidFill>
                  <a:srgbClr val="393939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www.reallygreatsite.com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0127" y="3802002"/>
            <a:ext cx="228573" cy="2720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393939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B</a:t>
            </a:r>
            <a:r>
              <a:rPr lang="en-US" b="true" sz="1500">
                <a:solidFill>
                  <a:srgbClr val="393939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USINESS PROPOSAL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429630" y="9296491"/>
            <a:ext cx="1428739" cy="332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3"/>
              </a:lnSpc>
              <a:spcBef>
                <a:spcPct val="0"/>
              </a:spcBef>
            </a:pPr>
            <a:r>
              <a:rPr lang="en-US" b="true" sz="1700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801796" y="4097827"/>
            <a:ext cx="6290642" cy="323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80"/>
              </a:lnSpc>
            </a:pPr>
            <a:r>
              <a:rPr lang="en-US" sz="2000" spc="-32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성과 중심의 스마트한 사업 계획 발표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050708" y="5173965"/>
            <a:ext cx="3166247" cy="323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80"/>
              </a:lnSpc>
            </a:pPr>
            <a:r>
              <a:rPr lang="en-US" sz="2000" spc="-32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01. 서론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63994" y="5173965"/>
            <a:ext cx="3166247" cy="323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80"/>
              </a:lnSpc>
            </a:pPr>
            <a:r>
              <a:rPr lang="en-US" sz="2000" spc="-32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02. 사업 아이디어 소개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677280" y="5173965"/>
            <a:ext cx="3166247" cy="323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80"/>
              </a:lnSpc>
            </a:pPr>
            <a:r>
              <a:rPr lang="en-US" sz="2000" spc="-32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03. 시장 분석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050708" y="6249627"/>
            <a:ext cx="3166247" cy="323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80"/>
              </a:lnSpc>
            </a:pPr>
            <a:r>
              <a:rPr lang="en-US" sz="2000" spc="-32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04. 사업 전략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363994" y="6249627"/>
            <a:ext cx="3166247" cy="323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80"/>
              </a:lnSpc>
            </a:pPr>
            <a:r>
              <a:rPr lang="en-US" sz="2000" spc="-32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05. 재무 계획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677280" y="6249627"/>
            <a:ext cx="3166247" cy="323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80"/>
              </a:lnSpc>
            </a:pPr>
            <a:r>
              <a:rPr lang="en-US" sz="2000" spc="-32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06. 결론 및 기대 효과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9078429"/>
            <a:ext cx="18288000" cy="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872608" y="0"/>
            <a:ext cx="0" cy="1028700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7451950" y="0"/>
            <a:ext cx="0" cy="1028700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0" y="1683887"/>
            <a:ext cx="18288000" cy="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7260807" y="5476875"/>
            <a:ext cx="3157355" cy="3263416"/>
          </a:xfrm>
          <a:custGeom>
            <a:avLst/>
            <a:gdLst/>
            <a:ahLst/>
            <a:cxnLst/>
            <a:rect r="r" b="b" t="t" l="l"/>
            <a:pathLst>
              <a:path h="3263416" w="3157355">
                <a:moveTo>
                  <a:pt x="0" y="0"/>
                </a:moveTo>
                <a:lnTo>
                  <a:pt x="3157355" y="0"/>
                </a:lnTo>
                <a:lnTo>
                  <a:pt x="3157355" y="3263416"/>
                </a:lnTo>
                <a:lnTo>
                  <a:pt x="0" y="32634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429630" y="9296491"/>
            <a:ext cx="1428739" cy="332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3"/>
              </a:lnSpc>
              <a:spcBef>
                <a:spcPct val="0"/>
              </a:spcBef>
            </a:pPr>
            <a:r>
              <a:rPr lang="en-US" b="true" sz="1700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01796" y="818011"/>
            <a:ext cx="6290642" cy="480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20"/>
              </a:lnSpc>
            </a:pPr>
            <a:r>
              <a:rPr lang="en-US" sz="3000" spc="-48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01. 서론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76868" y="2517077"/>
            <a:ext cx="4940497" cy="61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36"/>
              </a:lnSpc>
            </a:pPr>
            <a:r>
              <a:rPr lang="en-US" sz="3900" spc="-253">
                <a:solidFill>
                  <a:srgbClr val="00249E"/>
                </a:solidFill>
                <a:latin typeface="210 도시락"/>
                <a:ea typeface="210 도시락"/>
                <a:cs typeface="210 도시락"/>
                <a:sym typeface="210 도시락"/>
              </a:rPr>
              <a:t>사업 제안의 배경과 목적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062246" y="3369383"/>
            <a:ext cx="11769742" cy="1774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4"/>
              </a:lnSpc>
            </a:pPr>
            <a:r>
              <a:rPr lang="en-US" sz="1600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이 사업 제안은 시장의 현재 문제점을 해결하고, 새로운 기회를 창출하기 위해 마련되었습니다. </a:t>
            </a:r>
          </a:p>
          <a:p>
            <a:pPr algn="ctr">
              <a:lnSpc>
                <a:spcPts val="3168"/>
              </a:lnSpc>
            </a:pPr>
            <a:r>
              <a:rPr lang="en-US" sz="1600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변화하는 트렌드와 고객 니즈를 반영하여 경쟁력을 강화하고자 합니다.</a:t>
            </a:r>
          </a:p>
          <a:p>
            <a:pPr algn="ctr">
              <a:lnSpc>
                <a:spcPts val="3168"/>
              </a:lnSpc>
            </a:pPr>
          </a:p>
          <a:p>
            <a:pPr algn="ctr">
              <a:lnSpc>
                <a:spcPts val="3168"/>
              </a:lnSpc>
            </a:pPr>
            <a:r>
              <a:rPr lang="en-US" sz="1600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급변하는 시장 환경에서 지속 가능한 성장을 이루기 위해, 본 사업은 혁신적인 접근법과 효율적인 실행 방안을 제공합니다.</a:t>
            </a:r>
          </a:p>
          <a:p>
            <a:pPr algn="ctr" marL="0" indent="0" lvl="0">
              <a:lnSpc>
                <a:spcPts val="3168"/>
              </a:lnSpc>
            </a:pPr>
            <a:r>
              <a:rPr lang="en-US" sz="1600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이를 통해 고객 가치를 높이고, 기업의 성과를 극대화하는 것이 목표입니다.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9078429"/>
            <a:ext cx="18288000" cy="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872608" y="0"/>
            <a:ext cx="0" cy="1028700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7451950" y="0"/>
            <a:ext cx="0" cy="1028700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0" y="1683887"/>
            <a:ext cx="18288000" cy="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872608" y="6564250"/>
            <a:ext cx="16579342" cy="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6122219" y="6559487"/>
            <a:ext cx="0" cy="2518941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2087676" y="6559487"/>
            <a:ext cx="0" cy="2518941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7775612" y="4396326"/>
            <a:ext cx="2343010" cy="2499211"/>
          </a:xfrm>
          <a:custGeom>
            <a:avLst/>
            <a:gdLst/>
            <a:ahLst/>
            <a:cxnLst/>
            <a:rect r="r" b="b" t="t" l="l"/>
            <a:pathLst>
              <a:path h="2499211" w="2343010">
                <a:moveTo>
                  <a:pt x="0" y="0"/>
                </a:moveTo>
                <a:lnTo>
                  <a:pt x="2343010" y="0"/>
                </a:lnTo>
                <a:lnTo>
                  <a:pt x="2343010" y="2499211"/>
                </a:lnTo>
                <a:lnTo>
                  <a:pt x="0" y="24992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872608" y="6559487"/>
            <a:ext cx="672100" cy="672100"/>
            <a:chOff x="0" y="0"/>
            <a:chExt cx="177014" cy="17701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7014" cy="177014"/>
            </a:xfrm>
            <a:custGeom>
              <a:avLst/>
              <a:gdLst/>
              <a:ahLst/>
              <a:cxnLst/>
              <a:rect r="r" b="b" t="t" l="l"/>
              <a:pathLst>
                <a:path h="177014" w="177014">
                  <a:moveTo>
                    <a:pt x="0" y="0"/>
                  </a:moveTo>
                  <a:lnTo>
                    <a:pt x="177014" y="0"/>
                  </a:lnTo>
                  <a:lnTo>
                    <a:pt x="177014" y="177014"/>
                  </a:lnTo>
                  <a:lnTo>
                    <a:pt x="0" y="177014"/>
                  </a:lnTo>
                  <a:close/>
                </a:path>
              </a:pathLst>
            </a:custGeom>
            <a:solidFill>
              <a:srgbClr val="AAC3F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77014" cy="196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8429630" y="9296491"/>
            <a:ext cx="1428739" cy="332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3"/>
              </a:lnSpc>
              <a:spcBef>
                <a:spcPct val="0"/>
              </a:spcBef>
            </a:pPr>
            <a:r>
              <a:rPr lang="en-US" b="true" sz="1700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801796" y="818011"/>
            <a:ext cx="6290642" cy="480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20"/>
              </a:lnSpc>
            </a:pPr>
            <a:r>
              <a:rPr lang="en-US" sz="3000" spc="-48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01. 서론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364299" y="2517077"/>
            <a:ext cx="5315730" cy="61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36"/>
              </a:lnSpc>
            </a:pPr>
            <a:r>
              <a:rPr lang="en-US" sz="3900" spc="-253">
                <a:solidFill>
                  <a:srgbClr val="00249E"/>
                </a:solidFill>
                <a:latin typeface="210 도시락"/>
                <a:ea typeface="210 도시락"/>
                <a:cs typeface="210 도시락"/>
                <a:sym typeface="210 도시락"/>
              </a:rPr>
              <a:t>주요 시장 기회와 문제 정의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062246" y="3369383"/>
            <a:ext cx="11769742" cy="573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4"/>
              </a:lnSpc>
            </a:pPr>
            <a:r>
              <a:rPr lang="en-US" sz="1600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현재 시장은 기술 발전과 소비자 니즈의 변화로 새로운 기회를 맞이하고 있습니다. 그러나 기존의 서비스나 제품은 이러한 변화에</a:t>
            </a:r>
          </a:p>
          <a:p>
            <a:pPr algn="ctr" marL="0" indent="0" lvl="0">
              <a:lnSpc>
                <a:spcPts val="3168"/>
              </a:lnSpc>
            </a:pPr>
            <a:r>
              <a:rPr lang="en-US" sz="1600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충분히 대응하지 못하고 있어 고객 불만족이 증가하고 있습니다.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03615" y="7107762"/>
            <a:ext cx="3387598" cy="1120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1599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현재의 시장 상황은 이러한 기대치를</a:t>
            </a:r>
          </a:p>
          <a:p>
            <a:pPr algn="l">
              <a:lnSpc>
                <a:spcPts val="3071"/>
              </a:lnSpc>
            </a:pPr>
            <a:r>
              <a:rPr lang="en-US" sz="1599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충족하지 못하고 있어 충성도와 참여도가</a:t>
            </a:r>
          </a:p>
          <a:p>
            <a:pPr algn="l">
              <a:lnSpc>
                <a:spcPts val="3071"/>
              </a:lnSpc>
            </a:pPr>
            <a:r>
              <a:rPr lang="en-US" sz="1599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낮아지는 문제가 발생하고 있습니다.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73529" y="6727842"/>
            <a:ext cx="671180" cy="332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4"/>
              </a:lnSpc>
            </a:pPr>
            <a:r>
              <a:rPr lang="en-US" sz="2100" spc="-136">
                <a:solidFill>
                  <a:srgbClr val="FFFFFF"/>
                </a:solidFill>
                <a:latin typeface="210 도시락"/>
                <a:ea typeface="210 도시락"/>
                <a:cs typeface="210 도시락"/>
                <a:sym typeface="210 도시락"/>
              </a:rPr>
              <a:t>1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122219" y="6559487"/>
            <a:ext cx="672100" cy="672100"/>
            <a:chOff x="0" y="0"/>
            <a:chExt cx="177014" cy="17701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7014" cy="177014"/>
            </a:xfrm>
            <a:custGeom>
              <a:avLst/>
              <a:gdLst/>
              <a:ahLst/>
              <a:cxnLst/>
              <a:rect r="r" b="b" t="t" l="l"/>
              <a:pathLst>
                <a:path h="177014" w="177014">
                  <a:moveTo>
                    <a:pt x="0" y="0"/>
                  </a:moveTo>
                  <a:lnTo>
                    <a:pt x="177014" y="0"/>
                  </a:lnTo>
                  <a:lnTo>
                    <a:pt x="177014" y="177014"/>
                  </a:lnTo>
                  <a:lnTo>
                    <a:pt x="0" y="177014"/>
                  </a:lnTo>
                  <a:close/>
                </a:path>
              </a:pathLst>
            </a:custGeom>
            <a:solidFill>
              <a:srgbClr val="AAC3FD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77014" cy="196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7053225" y="7107762"/>
            <a:ext cx="3066536" cy="1120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1599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본 사업 제안은 문제를 해결하고,</a:t>
            </a:r>
          </a:p>
          <a:p>
            <a:pPr algn="l">
              <a:lnSpc>
                <a:spcPts val="3071"/>
              </a:lnSpc>
            </a:pPr>
            <a:r>
              <a:rPr lang="en-US" sz="1599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고객의 신뢰를 회복할 수 있는 기회를</a:t>
            </a:r>
          </a:p>
          <a:p>
            <a:pPr algn="l">
              <a:lnSpc>
                <a:spcPts val="3071"/>
              </a:lnSpc>
            </a:pPr>
            <a:r>
              <a:rPr lang="en-US" sz="1599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제공합니다.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123139" y="6727842"/>
            <a:ext cx="671180" cy="332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4"/>
              </a:lnSpc>
            </a:pPr>
            <a:r>
              <a:rPr lang="en-US" sz="2100" spc="-136">
                <a:solidFill>
                  <a:srgbClr val="FFFFFF"/>
                </a:solidFill>
                <a:latin typeface="210 도시락"/>
                <a:ea typeface="210 도시락"/>
                <a:cs typeface="210 도시락"/>
                <a:sym typeface="210 도시락"/>
              </a:rPr>
              <a:t>2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087676" y="6559487"/>
            <a:ext cx="672100" cy="672100"/>
            <a:chOff x="0" y="0"/>
            <a:chExt cx="177014" cy="17701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7014" cy="177014"/>
            </a:xfrm>
            <a:custGeom>
              <a:avLst/>
              <a:gdLst/>
              <a:ahLst/>
              <a:cxnLst/>
              <a:rect r="r" b="b" t="t" l="l"/>
              <a:pathLst>
                <a:path h="177014" w="177014">
                  <a:moveTo>
                    <a:pt x="0" y="0"/>
                  </a:moveTo>
                  <a:lnTo>
                    <a:pt x="177014" y="0"/>
                  </a:lnTo>
                  <a:lnTo>
                    <a:pt x="177014" y="177014"/>
                  </a:lnTo>
                  <a:lnTo>
                    <a:pt x="0" y="177014"/>
                  </a:lnTo>
                  <a:close/>
                </a:path>
              </a:pathLst>
            </a:custGeom>
            <a:solidFill>
              <a:srgbClr val="AAC3F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177014" cy="196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3018682" y="7107762"/>
            <a:ext cx="3921756" cy="1120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1599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글로벌 트렌드와 로컬 시장 데이터를 바탕으로, </a:t>
            </a:r>
          </a:p>
          <a:p>
            <a:pPr algn="l">
              <a:lnSpc>
                <a:spcPts val="3071"/>
              </a:lnSpc>
            </a:pPr>
            <a:r>
              <a:rPr lang="en-US" sz="1599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본 사업은 성장 가능성이</a:t>
            </a:r>
          </a:p>
          <a:p>
            <a:pPr algn="l">
              <a:lnSpc>
                <a:spcPts val="3071"/>
              </a:lnSpc>
            </a:pPr>
            <a:r>
              <a:rPr lang="en-US" sz="1599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높은 시장으로 확인되었습니다.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088596" y="6727842"/>
            <a:ext cx="671180" cy="332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4"/>
              </a:lnSpc>
            </a:pPr>
            <a:r>
              <a:rPr lang="en-US" sz="2100" spc="-136">
                <a:solidFill>
                  <a:srgbClr val="FFFFFF"/>
                </a:solidFill>
                <a:latin typeface="210 도시락"/>
                <a:ea typeface="210 도시락"/>
                <a:cs typeface="210 도시락"/>
                <a:sym typeface="210 도시락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9078429"/>
            <a:ext cx="18288000" cy="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872608" y="0"/>
            <a:ext cx="0" cy="1028700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7451950" y="0"/>
            <a:ext cx="0" cy="1028700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0" y="1683887"/>
            <a:ext cx="18288000" cy="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872608" y="4941193"/>
            <a:ext cx="16579342" cy="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H="true">
            <a:off x="9139237" y="4941193"/>
            <a:ext cx="0" cy="4137236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8429630" y="9296491"/>
            <a:ext cx="1428739" cy="332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3"/>
              </a:lnSpc>
              <a:spcBef>
                <a:spcPct val="0"/>
              </a:spcBef>
            </a:pPr>
            <a:r>
              <a:rPr lang="en-US" b="true" sz="1700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801796" y="818011"/>
            <a:ext cx="6290642" cy="480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20"/>
              </a:lnSpc>
            </a:pPr>
            <a:r>
              <a:rPr lang="en-US" sz="3000" spc="-48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02. 사업 아이디어 소개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64299" y="2517077"/>
            <a:ext cx="5315730" cy="61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36"/>
              </a:lnSpc>
            </a:pPr>
            <a:r>
              <a:rPr lang="en-US" sz="3900" spc="-253">
                <a:solidFill>
                  <a:srgbClr val="00249E"/>
                </a:solidFill>
                <a:latin typeface="210 도시락"/>
                <a:ea typeface="210 도시락"/>
                <a:cs typeface="210 도시락"/>
                <a:sym typeface="210 도시락"/>
              </a:rPr>
              <a:t>제안하는 아이디어 및 서비스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062246" y="3369383"/>
            <a:ext cx="11769742" cy="573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4"/>
              </a:lnSpc>
            </a:pPr>
            <a:r>
              <a:rPr lang="en-US" sz="1600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본 제안은 고객의 핵심 니즈를 충족시키기 위해 개발된 혁신적인 서비스입니다.</a:t>
            </a:r>
          </a:p>
          <a:p>
            <a:pPr algn="ctr" marL="0" indent="0" lvl="0">
              <a:lnSpc>
                <a:spcPts val="3168"/>
              </a:lnSpc>
            </a:pPr>
            <a:r>
              <a:rPr lang="en-US" sz="1600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기존 솔루션의 한계를 넘어서는 새로운 접근법을 제공하며, 사용자 경험을 최적화하는 데 중점을 두고 있습니다.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45482" y="4888597"/>
            <a:ext cx="6121006" cy="4242427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0620375" y="5998021"/>
            <a:ext cx="5387848" cy="1120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1"/>
              </a:lnSpc>
            </a:pPr>
            <a:r>
              <a:rPr lang="en-US" sz="1599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우리의 서비스/제품은 문제를 해결하기 위한 맞춤형 솔루션으로, </a:t>
            </a:r>
          </a:p>
          <a:p>
            <a:pPr algn="ctr">
              <a:lnSpc>
                <a:spcPts val="3071"/>
              </a:lnSpc>
            </a:pPr>
            <a:r>
              <a:rPr lang="en-US" sz="1599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최신 기술과 고객 중심 설계를 통해 차별화된 가치를 제공합니다. </a:t>
            </a:r>
          </a:p>
          <a:p>
            <a:pPr algn="ctr">
              <a:lnSpc>
                <a:spcPts val="3071"/>
              </a:lnSpc>
            </a:pPr>
            <a:r>
              <a:rPr lang="en-US" sz="1599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이를 통해 시장에서 경쟁 우위를 확보할 수 있습니다.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144000" y="4941193"/>
            <a:ext cx="8307950" cy="672100"/>
            <a:chOff x="0" y="0"/>
            <a:chExt cx="2188102" cy="17701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88102" cy="177014"/>
            </a:xfrm>
            <a:custGeom>
              <a:avLst/>
              <a:gdLst/>
              <a:ahLst/>
              <a:cxnLst/>
              <a:rect r="r" b="b" t="t" l="l"/>
              <a:pathLst>
                <a:path h="177014" w="2188102">
                  <a:moveTo>
                    <a:pt x="0" y="0"/>
                  </a:moveTo>
                  <a:lnTo>
                    <a:pt x="2188102" y="0"/>
                  </a:lnTo>
                  <a:lnTo>
                    <a:pt x="2188102" y="177014"/>
                  </a:lnTo>
                  <a:lnTo>
                    <a:pt x="0" y="177014"/>
                  </a:lnTo>
                  <a:close/>
                </a:path>
              </a:pathLst>
            </a:custGeom>
            <a:solidFill>
              <a:srgbClr val="AAC3F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2188102" cy="196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196431" y="5109547"/>
            <a:ext cx="2237745" cy="369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51"/>
              </a:lnSpc>
            </a:pPr>
            <a:r>
              <a:rPr lang="en-US" sz="2299" spc="-149">
                <a:solidFill>
                  <a:srgbClr val="FFFFFF"/>
                </a:solidFill>
                <a:latin typeface="210 도시락"/>
                <a:ea typeface="210 도시락"/>
                <a:cs typeface="210 도시락"/>
                <a:sym typeface="210 도시락"/>
              </a:rPr>
              <a:t>맞춤형 솔루션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994634" y="7592155"/>
            <a:ext cx="1463030" cy="586385"/>
            <a:chOff x="0" y="0"/>
            <a:chExt cx="591417" cy="23704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91417" cy="237041"/>
            </a:xfrm>
            <a:custGeom>
              <a:avLst/>
              <a:gdLst/>
              <a:ahLst/>
              <a:cxnLst/>
              <a:rect r="r" b="b" t="t" l="l"/>
              <a:pathLst>
                <a:path h="237041" w="591417">
                  <a:moveTo>
                    <a:pt x="0" y="0"/>
                  </a:moveTo>
                  <a:lnTo>
                    <a:pt x="591417" y="0"/>
                  </a:lnTo>
                  <a:lnTo>
                    <a:pt x="591417" y="237041"/>
                  </a:lnTo>
                  <a:lnTo>
                    <a:pt x="0" y="2370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6B6A69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591417" cy="284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#사업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583789" y="7592155"/>
            <a:ext cx="1463030" cy="586385"/>
            <a:chOff x="0" y="0"/>
            <a:chExt cx="591417" cy="23704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91417" cy="237041"/>
            </a:xfrm>
            <a:custGeom>
              <a:avLst/>
              <a:gdLst/>
              <a:ahLst/>
              <a:cxnLst/>
              <a:rect r="r" b="b" t="t" l="l"/>
              <a:pathLst>
                <a:path h="237041" w="591417">
                  <a:moveTo>
                    <a:pt x="0" y="0"/>
                  </a:moveTo>
                  <a:lnTo>
                    <a:pt x="591417" y="0"/>
                  </a:lnTo>
                  <a:lnTo>
                    <a:pt x="591417" y="237041"/>
                  </a:lnTo>
                  <a:lnTo>
                    <a:pt x="0" y="2370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6B6A69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591417" cy="284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#아이디어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170935" y="7592155"/>
            <a:ext cx="1463030" cy="586385"/>
            <a:chOff x="0" y="0"/>
            <a:chExt cx="591417" cy="23704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91417" cy="237041"/>
            </a:xfrm>
            <a:custGeom>
              <a:avLst/>
              <a:gdLst/>
              <a:ahLst/>
              <a:cxnLst/>
              <a:rect r="r" b="b" t="t" l="l"/>
              <a:pathLst>
                <a:path h="237041" w="591417">
                  <a:moveTo>
                    <a:pt x="0" y="0"/>
                  </a:moveTo>
                  <a:lnTo>
                    <a:pt x="591417" y="0"/>
                  </a:lnTo>
                  <a:lnTo>
                    <a:pt x="591417" y="237041"/>
                  </a:lnTo>
                  <a:lnTo>
                    <a:pt x="0" y="2370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6B6A69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591417" cy="284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#제안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9078429"/>
            <a:ext cx="18288000" cy="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872608" y="0"/>
            <a:ext cx="0" cy="1028700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7451950" y="0"/>
            <a:ext cx="0" cy="1028700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0" y="1683887"/>
            <a:ext cx="18288000" cy="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872608" y="4941193"/>
            <a:ext cx="16579342" cy="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H="true">
            <a:off x="9139237" y="4941193"/>
            <a:ext cx="0" cy="4137236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8429630" y="9296491"/>
            <a:ext cx="1428739" cy="332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3"/>
              </a:lnSpc>
              <a:spcBef>
                <a:spcPct val="0"/>
              </a:spcBef>
            </a:pPr>
            <a:r>
              <a:rPr lang="en-US" b="true" sz="1700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801796" y="818011"/>
            <a:ext cx="6290642" cy="480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20"/>
              </a:lnSpc>
            </a:pPr>
            <a:r>
              <a:rPr lang="en-US" sz="3000" spc="-48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03. 시장 분석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64299" y="2517077"/>
            <a:ext cx="5315730" cy="61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36"/>
              </a:lnSpc>
            </a:pPr>
            <a:r>
              <a:rPr lang="en-US" sz="3900" spc="-253">
                <a:solidFill>
                  <a:srgbClr val="00249E"/>
                </a:solidFill>
                <a:latin typeface="210 도시락"/>
                <a:ea typeface="210 도시락"/>
                <a:cs typeface="210 도시락"/>
                <a:sym typeface="210 도시락"/>
              </a:rPr>
              <a:t>타겟 시장 및 고객 그룹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062246" y="3369383"/>
            <a:ext cx="11769742" cy="573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4"/>
              </a:lnSpc>
            </a:pPr>
            <a:r>
              <a:rPr lang="en-US" sz="1600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본 사업은 특정 연령대, 직업군, 지역 등으로 구성된 고객층을 주요 타겟으로 설정하고 있습니다.</a:t>
            </a:r>
          </a:p>
          <a:p>
            <a:pPr algn="ctr" marL="0" indent="0" lvl="0">
              <a:lnSpc>
                <a:spcPts val="3168"/>
              </a:lnSpc>
            </a:pPr>
            <a:r>
              <a:rPr lang="en-US" sz="1600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이들은 문제/필요를 겪고 있으며, 우리의 솔루션을 통해 이를 효과적으로 해결할 수 있습니다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313383" y="5998021"/>
            <a:ext cx="6001832" cy="1120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1"/>
              </a:lnSpc>
            </a:pPr>
            <a:r>
              <a:rPr lang="en-US" sz="1599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우리는 도심 거주 20~30대를 대상으로, 그들의 생활 방식과 소비 패턴에</a:t>
            </a:r>
          </a:p>
          <a:p>
            <a:pPr algn="ctr">
              <a:lnSpc>
                <a:spcPts val="3071"/>
              </a:lnSpc>
            </a:pPr>
            <a:r>
              <a:rPr lang="en-US" sz="1599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최적화된 제품/서비스를 제공합니다. </a:t>
            </a:r>
          </a:p>
          <a:p>
            <a:pPr algn="ctr">
              <a:lnSpc>
                <a:spcPts val="3071"/>
              </a:lnSpc>
            </a:pPr>
            <a:r>
              <a:rPr lang="en-US" sz="1599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이로써 충성도 높은 고객층을 형성할 수 있습니다.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144000" y="4941193"/>
            <a:ext cx="8307950" cy="672100"/>
            <a:chOff x="0" y="0"/>
            <a:chExt cx="2188102" cy="17701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88102" cy="177014"/>
            </a:xfrm>
            <a:custGeom>
              <a:avLst/>
              <a:gdLst/>
              <a:ahLst/>
              <a:cxnLst/>
              <a:rect r="r" b="b" t="t" l="l"/>
              <a:pathLst>
                <a:path h="177014" w="2188102">
                  <a:moveTo>
                    <a:pt x="0" y="0"/>
                  </a:moveTo>
                  <a:lnTo>
                    <a:pt x="2188102" y="0"/>
                  </a:lnTo>
                  <a:lnTo>
                    <a:pt x="2188102" y="177014"/>
                  </a:lnTo>
                  <a:lnTo>
                    <a:pt x="0" y="177014"/>
                  </a:lnTo>
                  <a:close/>
                </a:path>
              </a:pathLst>
            </a:custGeom>
            <a:solidFill>
              <a:srgbClr val="AAC3F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2188102" cy="196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196431" y="5109547"/>
            <a:ext cx="2237745" cy="369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51"/>
              </a:lnSpc>
            </a:pPr>
            <a:r>
              <a:rPr lang="en-US" sz="2299" spc="-149">
                <a:solidFill>
                  <a:srgbClr val="FFFFFF"/>
                </a:solidFill>
                <a:latin typeface="210 도시락"/>
                <a:ea typeface="210 도시락"/>
                <a:cs typeface="210 도시락"/>
                <a:sym typeface="210 도시락"/>
              </a:rPr>
              <a:t>주요타겟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994634" y="7592155"/>
            <a:ext cx="1463030" cy="586385"/>
            <a:chOff x="0" y="0"/>
            <a:chExt cx="591417" cy="23704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91417" cy="237041"/>
            </a:xfrm>
            <a:custGeom>
              <a:avLst/>
              <a:gdLst/>
              <a:ahLst/>
              <a:cxnLst/>
              <a:rect r="r" b="b" t="t" l="l"/>
              <a:pathLst>
                <a:path h="237041" w="591417">
                  <a:moveTo>
                    <a:pt x="0" y="0"/>
                  </a:moveTo>
                  <a:lnTo>
                    <a:pt x="591417" y="0"/>
                  </a:lnTo>
                  <a:lnTo>
                    <a:pt x="591417" y="237041"/>
                  </a:lnTo>
                  <a:lnTo>
                    <a:pt x="0" y="2370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6B6A69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591417" cy="284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sz="1599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#타겟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583789" y="7592155"/>
            <a:ext cx="1463030" cy="586385"/>
            <a:chOff x="0" y="0"/>
            <a:chExt cx="591417" cy="23704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91417" cy="237041"/>
            </a:xfrm>
            <a:custGeom>
              <a:avLst/>
              <a:gdLst/>
              <a:ahLst/>
              <a:cxnLst/>
              <a:rect r="r" b="b" t="t" l="l"/>
              <a:pathLst>
                <a:path h="237041" w="591417">
                  <a:moveTo>
                    <a:pt x="0" y="0"/>
                  </a:moveTo>
                  <a:lnTo>
                    <a:pt x="591417" y="0"/>
                  </a:lnTo>
                  <a:lnTo>
                    <a:pt x="591417" y="237041"/>
                  </a:lnTo>
                  <a:lnTo>
                    <a:pt x="0" y="2370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6B6A69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591417" cy="284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sz="1599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#고객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170935" y="7592155"/>
            <a:ext cx="1463030" cy="586385"/>
            <a:chOff x="0" y="0"/>
            <a:chExt cx="591417" cy="23704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91417" cy="237041"/>
            </a:xfrm>
            <a:custGeom>
              <a:avLst/>
              <a:gdLst/>
              <a:ahLst/>
              <a:cxnLst/>
              <a:rect r="r" b="b" t="t" l="l"/>
              <a:pathLst>
                <a:path h="237041" w="591417">
                  <a:moveTo>
                    <a:pt x="0" y="0"/>
                  </a:moveTo>
                  <a:lnTo>
                    <a:pt x="591417" y="0"/>
                  </a:lnTo>
                  <a:lnTo>
                    <a:pt x="591417" y="237041"/>
                  </a:lnTo>
                  <a:lnTo>
                    <a:pt x="0" y="2370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6B6A69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591417" cy="284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sz="1599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#솔루션</a:t>
              </a:r>
            </a:p>
          </p:txBody>
        </p:sp>
      </p:grpSp>
      <p:pic>
        <p:nvPicPr>
          <p:cNvPr name="Picture 26" id="2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999064" y="5002952"/>
            <a:ext cx="4013718" cy="40137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9078429"/>
            <a:ext cx="18288000" cy="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872608" y="0"/>
            <a:ext cx="0" cy="1028700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7451950" y="0"/>
            <a:ext cx="0" cy="1028700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0" y="1683887"/>
            <a:ext cx="18288000" cy="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872608" y="6564250"/>
            <a:ext cx="16579342" cy="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6122219" y="6559487"/>
            <a:ext cx="0" cy="2518941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2087676" y="6559487"/>
            <a:ext cx="0" cy="2518941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872608" y="6559487"/>
            <a:ext cx="672100" cy="672100"/>
            <a:chOff x="0" y="0"/>
            <a:chExt cx="177014" cy="1770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7014" cy="177014"/>
            </a:xfrm>
            <a:custGeom>
              <a:avLst/>
              <a:gdLst/>
              <a:ahLst/>
              <a:cxnLst/>
              <a:rect r="r" b="b" t="t" l="l"/>
              <a:pathLst>
                <a:path h="177014" w="177014">
                  <a:moveTo>
                    <a:pt x="0" y="0"/>
                  </a:moveTo>
                  <a:lnTo>
                    <a:pt x="177014" y="0"/>
                  </a:lnTo>
                  <a:lnTo>
                    <a:pt x="177014" y="177014"/>
                  </a:lnTo>
                  <a:lnTo>
                    <a:pt x="0" y="177014"/>
                  </a:lnTo>
                  <a:close/>
                </a:path>
              </a:pathLst>
            </a:custGeom>
            <a:solidFill>
              <a:srgbClr val="AAC3F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77014" cy="196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122219" y="6559487"/>
            <a:ext cx="672100" cy="672100"/>
            <a:chOff x="0" y="0"/>
            <a:chExt cx="177014" cy="17701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7014" cy="177014"/>
            </a:xfrm>
            <a:custGeom>
              <a:avLst/>
              <a:gdLst/>
              <a:ahLst/>
              <a:cxnLst/>
              <a:rect r="r" b="b" t="t" l="l"/>
              <a:pathLst>
                <a:path h="177014" w="177014">
                  <a:moveTo>
                    <a:pt x="0" y="0"/>
                  </a:moveTo>
                  <a:lnTo>
                    <a:pt x="177014" y="0"/>
                  </a:lnTo>
                  <a:lnTo>
                    <a:pt x="177014" y="177014"/>
                  </a:lnTo>
                  <a:lnTo>
                    <a:pt x="0" y="177014"/>
                  </a:lnTo>
                  <a:close/>
                </a:path>
              </a:pathLst>
            </a:custGeom>
            <a:solidFill>
              <a:srgbClr val="AAC3F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77014" cy="196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87676" y="6559487"/>
            <a:ext cx="672100" cy="672100"/>
            <a:chOff x="0" y="0"/>
            <a:chExt cx="177014" cy="17701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7014" cy="177014"/>
            </a:xfrm>
            <a:custGeom>
              <a:avLst/>
              <a:gdLst/>
              <a:ahLst/>
              <a:cxnLst/>
              <a:rect r="r" b="b" t="t" l="l"/>
              <a:pathLst>
                <a:path h="177014" w="177014">
                  <a:moveTo>
                    <a:pt x="0" y="0"/>
                  </a:moveTo>
                  <a:lnTo>
                    <a:pt x="177014" y="0"/>
                  </a:lnTo>
                  <a:lnTo>
                    <a:pt x="177014" y="177014"/>
                  </a:lnTo>
                  <a:lnTo>
                    <a:pt x="0" y="177014"/>
                  </a:lnTo>
                  <a:close/>
                </a:path>
              </a:pathLst>
            </a:custGeom>
            <a:solidFill>
              <a:srgbClr val="AAC3F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77014" cy="196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429630" y="9296491"/>
            <a:ext cx="1428739" cy="332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3"/>
              </a:lnSpc>
              <a:spcBef>
                <a:spcPct val="0"/>
              </a:spcBef>
            </a:pPr>
            <a:r>
              <a:rPr lang="en-US" b="true" sz="1700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07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801796" y="818011"/>
            <a:ext cx="6290642" cy="480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20"/>
              </a:lnSpc>
            </a:pPr>
            <a:r>
              <a:rPr lang="en-US" sz="3000" spc="-48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04. 사업 전략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364299" y="2517077"/>
            <a:ext cx="5315730" cy="61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36"/>
              </a:lnSpc>
            </a:pPr>
            <a:r>
              <a:rPr lang="en-US" sz="3900" spc="-253">
                <a:solidFill>
                  <a:srgbClr val="00249E"/>
                </a:solidFill>
                <a:latin typeface="210 도시락"/>
                <a:ea typeface="210 도시락"/>
                <a:cs typeface="210 도시락"/>
                <a:sym typeface="210 도시락"/>
              </a:rPr>
              <a:t>핵심 운영 전략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062246" y="3255083"/>
            <a:ext cx="11769742" cy="365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68"/>
              </a:lnSpc>
            </a:pPr>
            <a:r>
              <a:rPr lang="en-US" sz="1600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본 사업의 성공을 위해 자원을 효율적으로 활용하며, 핵심 프로세스를 최적화해 운영 비용을 줄이고 성과를 극대화합니다.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03615" y="7107762"/>
            <a:ext cx="3682143" cy="1120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1599" spc="-25" b="true">
                <a:solidFill>
                  <a:srgbClr val="00249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비용 절감 전략</a:t>
            </a:r>
          </a:p>
          <a:p>
            <a:pPr algn="l">
              <a:lnSpc>
                <a:spcPts val="3071"/>
              </a:lnSpc>
            </a:pPr>
            <a:r>
              <a:rPr lang="en-US" sz="1599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생산성 향상, 자원 효율성 극대화, </a:t>
            </a:r>
          </a:p>
          <a:p>
            <a:pPr algn="l">
              <a:lnSpc>
                <a:spcPts val="3071"/>
              </a:lnSpc>
            </a:pPr>
            <a:r>
              <a:rPr lang="en-US" sz="1599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불필요한 비용 절감 등으로 비용을 줄입니다.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73529" y="6727842"/>
            <a:ext cx="671180" cy="332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4"/>
              </a:lnSpc>
            </a:pPr>
            <a:r>
              <a:rPr lang="en-US" sz="2100" spc="-136">
                <a:solidFill>
                  <a:srgbClr val="FFFFFF"/>
                </a:solidFill>
                <a:latin typeface="210 도시락"/>
                <a:ea typeface="210 도시락"/>
                <a:cs typeface="210 도시락"/>
                <a:sym typeface="210 도시락"/>
              </a:rPr>
              <a:t>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053225" y="7107762"/>
            <a:ext cx="4106168" cy="1120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1599" spc="-25" b="true">
                <a:solidFill>
                  <a:srgbClr val="00249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품질 관리 및 개선 전략</a:t>
            </a:r>
          </a:p>
          <a:p>
            <a:pPr algn="l">
              <a:lnSpc>
                <a:spcPts val="3071"/>
              </a:lnSpc>
            </a:pPr>
            <a:r>
              <a:rPr lang="en-US" sz="1599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품질 관리 시스템을 통해 제품 품질을 지속적으로 </a:t>
            </a:r>
          </a:p>
          <a:p>
            <a:pPr algn="l">
              <a:lnSpc>
                <a:spcPts val="3071"/>
              </a:lnSpc>
            </a:pPr>
            <a:r>
              <a:rPr lang="en-US" sz="1599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모니터링하고 개선합니다.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123139" y="6727842"/>
            <a:ext cx="671180" cy="332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4"/>
              </a:lnSpc>
            </a:pPr>
            <a:r>
              <a:rPr lang="en-US" sz="2100" spc="-136">
                <a:solidFill>
                  <a:srgbClr val="FFFFFF"/>
                </a:solidFill>
                <a:latin typeface="210 도시락"/>
                <a:ea typeface="210 도시락"/>
                <a:cs typeface="210 도시락"/>
                <a:sym typeface="210 도시락"/>
              </a:rPr>
              <a:t>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018682" y="7107762"/>
            <a:ext cx="3629647" cy="1120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1599" spc="-25" b="true">
                <a:solidFill>
                  <a:srgbClr val="00249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디지털화 및 자동화 전략</a:t>
            </a:r>
          </a:p>
          <a:p>
            <a:pPr algn="l">
              <a:lnSpc>
                <a:spcPts val="3071"/>
              </a:lnSpc>
            </a:pPr>
            <a:r>
              <a:rPr lang="en-US" sz="1599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운영 과정에서 수동적인 작업을 자동화하고,</a:t>
            </a:r>
          </a:p>
          <a:p>
            <a:pPr algn="l">
              <a:lnSpc>
                <a:spcPts val="3071"/>
              </a:lnSpc>
            </a:pPr>
            <a:r>
              <a:rPr lang="en-US" sz="1599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데이터를 기반으로 의사결정을 내립니다.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088596" y="6727842"/>
            <a:ext cx="671180" cy="332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4"/>
              </a:lnSpc>
            </a:pPr>
            <a:r>
              <a:rPr lang="en-US" sz="2100" spc="-136">
                <a:solidFill>
                  <a:srgbClr val="FFFFFF"/>
                </a:solidFill>
                <a:latin typeface="210 도시락"/>
                <a:ea typeface="210 도시락"/>
                <a:cs typeface="210 도시락"/>
                <a:sym typeface="210 도시락"/>
              </a:rPr>
              <a:t>3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7452745" y="4178255"/>
            <a:ext cx="3382509" cy="2717282"/>
          </a:xfrm>
          <a:custGeom>
            <a:avLst/>
            <a:gdLst/>
            <a:ahLst/>
            <a:cxnLst/>
            <a:rect r="r" b="b" t="t" l="l"/>
            <a:pathLst>
              <a:path h="2717282" w="3382509">
                <a:moveTo>
                  <a:pt x="0" y="0"/>
                </a:moveTo>
                <a:lnTo>
                  <a:pt x="3382510" y="0"/>
                </a:lnTo>
                <a:lnTo>
                  <a:pt x="3382510" y="2717282"/>
                </a:lnTo>
                <a:lnTo>
                  <a:pt x="0" y="27172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9078429"/>
            <a:ext cx="18288000" cy="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872608" y="0"/>
            <a:ext cx="0" cy="1028700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7451950" y="0"/>
            <a:ext cx="0" cy="1028700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0" y="1683887"/>
            <a:ext cx="18288000" cy="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872608" y="5706491"/>
          <a:ext cx="16579342" cy="3371938"/>
        </p:xfrm>
        <a:graphic>
          <a:graphicData uri="http://schemas.openxmlformats.org/drawingml/2006/table">
            <a:tbl>
              <a:tblPr/>
              <a:tblGrid>
                <a:gridCol w="3896382"/>
                <a:gridCol w="3810753"/>
                <a:gridCol w="3748214"/>
                <a:gridCol w="5123993"/>
              </a:tblGrid>
              <a:tr h="607285">
                <a:tc rowSpan="2"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구분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DFF"/>
                    </a:solidFill>
                  </a:tcPr>
                </a:tc>
                <a:tc gridSpan="2"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예상 수익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DFF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예상 수익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DFF"/>
                    </a:solidFill>
                  </a:tcPr>
                </a:tc>
                <a:tc rowSpan="2"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전체 비용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DFF"/>
                    </a:solidFill>
                  </a:tcPr>
                </a:tc>
              </a:tr>
              <a:tr h="523003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구분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상반기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하반기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DFF"/>
                    </a:solidFill>
                  </a:tcPr>
                </a:tc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전체 비용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DFF"/>
                    </a:solidFill>
                  </a:tcPr>
                </a:tc>
              </a:tr>
              <a:tr h="58002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항목1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000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000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000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87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항목2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000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000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000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87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항목3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000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000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000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87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항목4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000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000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000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8429630" y="9296491"/>
            <a:ext cx="1428739" cy="332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3"/>
              </a:lnSpc>
              <a:spcBef>
                <a:spcPct val="0"/>
              </a:spcBef>
            </a:pPr>
            <a:r>
              <a:rPr lang="en-US" b="true" sz="1700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08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01796" y="818011"/>
            <a:ext cx="6290642" cy="480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20"/>
              </a:lnSpc>
            </a:pPr>
            <a:r>
              <a:rPr lang="en-US" sz="3000" spc="-48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05. 재무 계획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364299" y="2517077"/>
            <a:ext cx="5315730" cy="61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36"/>
              </a:lnSpc>
            </a:pPr>
            <a:r>
              <a:rPr lang="en-US" sz="3900" spc="-253">
                <a:solidFill>
                  <a:srgbClr val="00249E"/>
                </a:solidFill>
                <a:latin typeface="210 도시락"/>
                <a:ea typeface="210 도시락"/>
                <a:cs typeface="210 도시락"/>
                <a:sym typeface="210 도시락"/>
              </a:rPr>
              <a:t>예상 수익 및 비용 분석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062246" y="3255083"/>
            <a:ext cx="11769742" cy="765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sz="1600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수익 분석에 따르면, 우리는 첫 해에 예상 수익이 발생할 것을 예상하고, 3년 내에 목표 수익을 달성할 것으로 보입니다.</a:t>
            </a:r>
          </a:p>
          <a:p>
            <a:pPr algn="ctr" marL="0" indent="0" lvl="0">
              <a:lnSpc>
                <a:spcPts val="3168"/>
              </a:lnSpc>
            </a:pPr>
            <a:r>
              <a:rPr lang="en-US" sz="1600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이는 타겟 시장, 판매 전략에 기반한 예측입니다.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947117" y="4096133"/>
            <a:ext cx="1625164" cy="2094734"/>
          </a:xfrm>
          <a:custGeom>
            <a:avLst/>
            <a:gdLst/>
            <a:ahLst/>
            <a:cxnLst/>
            <a:rect r="r" b="b" t="t" l="l"/>
            <a:pathLst>
              <a:path h="2094734" w="1625164">
                <a:moveTo>
                  <a:pt x="0" y="0"/>
                </a:moveTo>
                <a:lnTo>
                  <a:pt x="1625164" y="0"/>
                </a:lnTo>
                <a:lnTo>
                  <a:pt x="1625164" y="2094734"/>
                </a:lnTo>
                <a:lnTo>
                  <a:pt x="0" y="20947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9078429"/>
            <a:ext cx="18288000" cy="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872608" y="0"/>
            <a:ext cx="0" cy="1028700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7451950" y="0"/>
            <a:ext cx="0" cy="1028700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0" y="1683887"/>
            <a:ext cx="18288000" cy="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6947861" y="4980153"/>
            <a:ext cx="4148605" cy="3133925"/>
          </a:xfrm>
          <a:custGeom>
            <a:avLst/>
            <a:gdLst/>
            <a:ahLst/>
            <a:cxnLst/>
            <a:rect r="r" b="b" t="t" l="l"/>
            <a:pathLst>
              <a:path h="3133925" w="4148605">
                <a:moveTo>
                  <a:pt x="0" y="0"/>
                </a:moveTo>
                <a:lnTo>
                  <a:pt x="4148605" y="0"/>
                </a:lnTo>
                <a:lnTo>
                  <a:pt x="4148605" y="3133926"/>
                </a:lnTo>
                <a:lnTo>
                  <a:pt x="0" y="31339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730760" y="4783904"/>
            <a:ext cx="4288665" cy="622068"/>
            <a:chOff x="0" y="0"/>
            <a:chExt cx="1129525" cy="1638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9525" cy="163837"/>
            </a:xfrm>
            <a:custGeom>
              <a:avLst/>
              <a:gdLst/>
              <a:ahLst/>
              <a:cxnLst/>
              <a:rect r="r" b="b" t="t" l="l"/>
              <a:pathLst>
                <a:path h="163837" w="1129525">
                  <a:moveTo>
                    <a:pt x="81918" y="0"/>
                  </a:moveTo>
                  <a:lnTo>
                    <a:pt x="1047607" y="0"/>
                  </a:lnTo>
                  <a:cubicBezTo>
                    <a:pt x="1069333" y="0"/>
                    <a:pt x="1090169" y="8631"/>
                    <a:pt x="1105532" y="23993"/>
                  </a:cubicBezTo>
                  <a:cubicBezTo>
                    <a:pt x="1120894" y="39356"/>
                    <a:pt x="1129525" y="60192"/>
                    <a:pt x="1129525" y="81918"/>
                  </a:cubicBezTo>
                  <a:lnTo>
                    <a:pt x="1129525" y="81918"/>
                  </a:lnTo>
                  <a:cubicBezTo>
                    <a:pt x="1129525" y="103645"/>
                    <a:pt x="1120894" y="124481"/>
                    <a:pt x="1105532" y="139844"/>
                  </a:cubicBezTo>
                  <a:cubicBezTo>
                    <a:pt x="1090169" y="155206"/>
                    <a:pt x="1069333" y="163837"/>
                    <a:pt x="1047607" y="163837"/>
                  </a:cubicBezTo>
                  <a:lnTo>
                    <a:pt x="81918" y="163837"/>
                  </a:lnTo>
                  <a:cubicBezTo>
                    <a:pt x="60192" y="163837"/>
                    <a:pt x="39356" y="155206"/>
                    <a:pt x="23993" y="139844"/>
                  </a:cubicBezTo>
                  <a:cubicBezTo>
                    <a:pt x="8631" y="124481"/>
                    <a:pt x="0" y="103645"/>
                    <a:pt x="0" y="81918"/>
                  </a:cubicBezTo>
                  <a:lnTo>
                    <a:pt x="0" y="81918"/>
                  </a:lnTo>
                  <a:cubicBezTo>
                    <a:pt x="0" y="60192"/>
                    <a:pt x="8631" y="39356"/>
                    <a:pt x="23993" y="23993"/>
                  </a:cubicBezTo>
                  <a:cubicBezTo>
                    <a:pt x="39356" y="8631"/>
                    <a:pt x="60192" y="0"/>
                    <a:pt x="81918" y="0"/>
                  </a:cubicBezTo>
                  <a:close/>
                </a:path>
              </a:pathLst>
            </a:custGeom>
            <a:solidFill>
              <a:srgbClr val="00249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23825"/>
              <a:ext cx="1129525" cy="2876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1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429630" y="9296491"/>
            <a:ext cx="1428739" cy="332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3"/>
              </a:lnSpc>
              <a:spcBef>
                <a:spcPct val="0"/>
              </a:spcBef>
            </a:pPr>
            <a:r>
              <a:rPr lang="en-US" b="true" sz="1700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09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01796" y="818011"/>
            <a:ext cx="6290642" cy="480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20"/>
              </a:lnSpc>
            </a:pPr>
            <a:r>
              <a:rPr lang="en-US" sz="3000" spc="-48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06. 결론 및 기대 효과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364299" y="2517077"/>
            <a:ext cx="5315730" cy="61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36"/>
              </a:lnSpc>
            </a:pPr>
            <a:r>
              <a:rPr lang="en-US" sz="3900" spc="-253">
                <a:solidFill>
                  <a:srgbClr val="00249E"/>
                </a:solidFill>
                <a:latin typeface="210 도시락"/>
                <a:ea typeface="210 도시락"/>
                <a:cs typeface="210 도시락"/>
                <a:sym typeface="210 도시락"/>
              </a:rPr>
              <a:t>예상되는 성과와 성공 가능성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062246" y="3255083"/>
            <a:ext cx="11769742" cy="765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sz="1600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본 사업은 명확한 목표 시장과 차별화된 경쟁력을 바탕으로 예상되는 성과가 큽니다. 초기 단계에서 고객 반응을 확인한 후,</a:t>
            </a:r>
          </a:p>
          <a:p>
            <a:pPr algn="ctr" marL="0" indent="0" lvl="0">
              <a:lnSpc>
                <a:spcPts val="3168"/>
              </a:lnSpc>
            </a:pPr>
            <a:r>
              <a:rPr lang="en-US" sz="1600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지속적인 마케팅과 품질 개선을 통해 매출 성장을 이끌어낼 것입니다.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37662" y="4942320"/>
            <a:ext cx="3864134" cy="286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2"/>
              </a:lnSpc>
            </a:pPr>
            <a:r>
              <a:rPr lang="en-US" sz="1800" spc="-28">
                <a:solidFill>
                  <a:srgbClr val="FFFFFF"/>
                </a:solidFill>
                <a:latin typeface="210 도시락"/>
                <a:ea typeface="210 도시락"/>
                <a:cs typeface="210 도시락"/>
                <a:sym typeface="210 도시락"/>
              </a:rPr>
              <a:t>고객 충성도 증가 및 반복 구매율 향상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37662" y="5426595"/>
            <a:ext cx="3921756" cy="1120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1599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고객의 만족도를 높이고, 지속적인 품질 개선과 </a:t>
            </a:r>
          </a:p>
          <a:p>
            <a:pPr algn="l">
              <a:lnSpc>
                <a:spcPts val="3071"/>
              </a:lnSpc>
            </a:pPr>
            <a:r>
              <a:rPr lang="en-US" sz="1599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고객 맞춤형 서비스를 통해 고객 충성도가</a:t>
            </a:r>
          </a:p>
          <a:p>
            <a:pPr algn="l">
              <a:lnSpc>
                <a:spcPts val="3071"/>
              </a:lnSpc>
            </a:pPr>
            <a:r>
              <a:rPr lang="en-US" sz="1599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증가할 것으로 예상됩니다.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3236722" y="6794766"/>
            <a:ext cx="4288665" cy="622068"/>
            <a:chOff x="0" y="0"/>
            <a:chExt cx="1129525" cy="16383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29525" cy="163837"/>
            </a:xfrm>
            <a:custGeom>
              <a:avLst/>
              <a:gdLst/>
              <a:ahLst/>
              <a:cxnLst/>
              <a:rect r="r" b="b" t="t" l="l"/>
              <a:pathLst>
                <a:path h="163837" w="1129525">
                  <a:moveTo>
                    <a:pt x="81918" y="0"/>
                  </a:moveTo>
                  <a:lnTo>
                    <a:pt x="1047607" y="0"/>
                  </a:lnTo>
                  <a:cubicBezTo>
                    <a:pt x="1069333" y="0"/>
                    <a:pt x="1090169" y="8631"/>
                    <a:pt x="1105532" y="23993"/>
                  </a:cubicBezTo>
                  <a:cubicBezTo>
                    <a:pt x="1120894" y="39356"/>
                    <a:pt x="1129525" y="60192"/>
                    <a:pt x="1129525" y="81918"/>
                  </a:cubicBezTo>
                  <a:lnTo>
                    <a:pt x="1129525" y="81918"/>
                  </a:lnTo>
                  <a:cubicBezTo>
                    <a:pt x="1129525" y="103645"/>
                    <a:pt x="1120894" y="124481"/>
                    <a:pt x="1105532" y="139844"/>
                  </a:cubicBezTo>
                  <a:cubicBezTo>
                    <a:pt x="1090169" y="155206"/>
                    <a:pt x="1069333" y="163837"/>
                    <a:pt x="1047607" y="163837"/>
                  </a:cubicBezTo>
                  <a:lnTo>
                    <a:pt x="81918" y="163837"/>
                  </a:lnTo>
                  <a:cubicBezTo>
                    <a:pt x="60192" y="163837"/>
                    <a:pt x="39356" y="155206"/>
                    <a:pt x="23993" y="139844"/>
                  </a:cubicBezTo>
                  <a:cubicBezTo>
                    <a:pt x="8631" y="124481"/>
                    <a:pt x="0" y="103645"/>
                    <a:pt x="0" y="81918"/>
                  </a:cubicBezTo>
                  <a:lnTo>
                    <a:pt x="0" y="81918"/>
                  </a:lnTo>
                  <a:cubicBezTo>
                    <a:pt x="0" y="60192"/>
                    <a:pt x="8631" y="39356"/>
                    <a:pt x="23993" y="23993"/>
                  </a:cubicBezTo>
                  <a:cubicBezTo>
                    <a:pt x="39356" y="8631"/>
                    <a:pt x="60192" y="0"/>
                    <a:pt x="81918" y="0"/>
                  </a:cubicBezTo>
                  <a:close/>
                </a:path>
              </a:pathLst>
            </a:custGeom>
            <a:solidFill>
              <a:srgbClr val="00249E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23825"/>
              <a:ext cx="1129525" cy="2876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1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3443624" y="6953183"/>
            <a:ext cx="3864134" cy="286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2"/>
              </a:lnSpc>
            </a:pPr>
            <a:r>
              <a:rPr lang="en-US" sz="1800" spc="-28">
                <a:solidFill>
                  <a:srgbClr val="FFFFFF"/>
                </a:solidFill>
                <a:latin typeface="210 도시락"/>
                <a:ea typeface="210 도시락"/>
                <a:cs typeface="210 도시락"/>
                <a:sym typeface="210 도시락"/>
              </a:rPr>
              <a:t>브랜드 인지도 향상 및 경쟁 우위 확보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443624" y="7437457"/>
            <a:ext cx="3066536" cy="1120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1599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본 사업의 독창적인 서비스나 제품은 </a:t>
            </a:r>
          </a:p>
          <a:p>
            <a:pPr algn="l">
              <a:lnSpc>
                <a:spcPts val="3071"/>
              </a:lnSpc>
            </a:pPr>
            <a:r>
              <a:rPr lang="en-US" sz="1599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시장에서 빠르게 브랜드 인지도를 </a:t>
            </a:r>
          </a:p>
          <a:p>
            <a:pPr algn="l">
              <a:lnSpc>
                <a:spcPts val="3071"/>
              </a:lnSpc>
            </a:pPr>
            <a:r>
              <a:rPr lang="en-US" sz="1599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높일 것으로 예상됩니다. 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680029" y="5405972"/>
            <a:ext cx="4288665" cy="622068"/>
            <a:chOff x="0" y="0"/>
            <a:chExt cx="1129525" cy="16383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29525" cy="163837"/>
            </a:xfrm>
            <a:custGeom>
              <a:avLst/>
              <a:gdLst/>
              <a:ahLst/>
              <a:cxnLst/>
              <a:rect r="r" b="b" t="t" l="l"/>
              <a:pathLst>
                <a:path h="163837" w="1129525">
                  <a:moveTo>
                    <a:pt x="81918" y="0"/>
                  </a:moveTo>
                  <a:lnTo>
                    <a:pt x="1047607" y="0"/>
                  </a:lnTo>
                  <a:cubicBezTo>
                    <a:pt x="1069333" y="0"/>
                    <a:pt x="1090169" y="8631"/>
                    <a:pt x="1105532" y="23993"/>
                  </a:cubicBezTo>
                  <a:cubicBezTo>
                    <a:pt x="1120894" y="39356"/>
                    <a:pt x="1129525" y="60192"/>
                    <a:pt x="1129525" y="81918"/>
                  </a:cubicBezTo>
                  <a:lnTo>
                    <a:pt x="1129525" y="81918"/>
                  </a:lnTo>
                  <a:cubicBezTo>
                    <a:pt x="1129525" y="103645"/>
                    <a:pt x="1120894" y="124481"/>
                    <a:pt x="1105532" y="139844"/>
                  </a:cubicBezTo>
                  <a:cubicBezTo>
                    <a:pt x="1090169" y="155206"/>
                    <a:pt x="1069333" y="163837"/>
                    <a:pt x="1047607" y="163837"/>
                  </a:cubicBezTo>
                  <a:lnTo>
                    <a:pt x="81918" y="163837"/>
                  </a:lnTo>
                  <a:cubicBezTo>
                    <a:pt x="60192" y="163837"/>
                    <a:pt x="39356" y="155206"/>
                    <a:pt x="23993" y="139844"/>
                  </a:cubicBezTo>
                  <a:cubicBezTo>
                    <a:pt x="8631" y="124481"/>
                    <a:pt x="0" y="103645"/>
                    <a:pt x="0" y="81918"/>
                  </a:cubicBezTo>
                  <a:lnTo>
                    <a:pt x="0" y="81918"/>
                  </a:lnTo>
                  <a:cubicBezTo>
                    <a:pt x="0" y="60192"/>
                    <a:pt x="8631" y="39356"/>
                    <a:pt x="23993" y="23993"/>
                  </a:cubicBezTo>
                  <a:cubicBezTo>
                    <a:pt x="39356" y="8631"/>
                    <a:pt x="60192" y="0"/>
                    <a:pt x="81918" y="0"/>
                  </a:cubicBezTo>
                  <a:close/>
                </a:path>
              </a:pathLst>
            </a:custGeom>
            <a:solidFill>
              <a:srgbClr val="00249E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23825"/>
              <a:ext cx="1129525" cy="2876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1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1886931" y="5564389"/>
            <a:ext cx="3864134" cy="286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2"/>
              </a:lnSpc>
            </a:pPr>
            <a:r>
              <a:rPr lang="en-US" sz="1800" spc="-28">
                <a:solidFill>
                  <a:srgbClr val="FFFFFF"/>
                </a:solidFill>
                <a:latin typeface="210 도시락"/>
                <a:ea typeface="210 도시락"/>
                <a:cs typeface="210 도시락"/>
                <a:sym typeface="210 도시락"/>
              </a:rPr>
              <a:t>매출 성장 및 시장 점유율 확대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886931" y="6048663"/>
            <a:ext cx="3574581" cy="739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1599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점진적으로 시장에서의 입지를 확립하면서 </a:t>
            </a:r>
          </a:p>
          <a:p>
            <a:pPr algn="l">
              <a:lnSpc>
                <a:spcPts val="3071"/>
              </a:lnSpc>
            </a:pPr>
            <a:r>
              <a:rPr lang="en-US" sz="1599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시장 </a:t>
            </a:r>
            <a:r>
              <a:rPr lang="en-US" sz="1599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점유율을 확대할 가능성이 큽니다.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9078429"/>
            <a:ext cx="18288000" cy="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872608" y="0"/>
            <a:ext cx="0" cy="1028700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7451950" y="0"/>
            <a:ext cx="0" cy="1028700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0" y="1683887"/>
            <a:ext cx="18288000" cy="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5050746" y="5539414"/>
            <a:ext cx="7792742" cy="1130333"/>
            <a:chOff x="0" y="0"/>
            <a:chExt cx="1129525" cy="1638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9525" cy="163837"/>
            </a:xfrm>
            <a:custGeom>
              <a:avLst/>
              <a:gdLst/>
              <a:ahLst/>
              <a:cxnLst/>
              <a:rect r="r" b="b" t="t" l="l"/>
              <a:pathLst>
                <a:path h="163837" w="1129525">
                  <a:moveTo>
                    <a:pt x="81918" y="0"/>
                  </a:moveTo>
                  <a:lnTo>
                    <a:pt x="1047607" y="0"/>
                  </a:lnTo>
                  <a:cubicBezTo>
                    <a:pt x="1069333" y="0"/>
                    <a:pt x="1090169" y="8631"/>
                    <a:pt x="1105532" y="23993"/>
                  </a:cubicBezTo>
                  <a:cubicBezTo>
                    <a:pt x="1120894" y="39356"/>
                    <a:pt x="1129525" y="60192"/>
                    <a:pt x="1129525" y="81918"/>
                  </a:cubicBezTo>
                  <a:lnTo>
                    <a:pt x="1129525" y="81918"/>
                  </a:lnTo>
                  <a:cubicBezTo>
                    <a:pt x="1129525" y="103645"/>
                    <a:pt x="1120894" y="124481"/>
                    <a:pt x="1105532" y="139844"/>
                  </a:cubicBezTo>
                  <a:cubicBezTo>
                    <a:pt x="1090169" y="155206"/>
                    <a:pt x="1069333" y="163837"/>
                    <a:pt x="1047607" y="163837"/>
                  </a:cubicBezTo>
                  <a:lnTo>
                    <a:pt x="81918" y="163837"/>
                  </a:lnTo>
                  <a:cubicBezTo>
                    <a:pt x="60192" y="163837"/>
                    <a:pt x="39356" y="155206"/>
                    <a:pt x="23993" y="139844"/>
                  </a:cubicBezTo>
                  <a:cubicBezTo>
                    <a:pt x="8631" y="124481"/>
                    <a:pt x="0" y="103645"/>
                    <a:pt x="0" y="81918"/>
                  </a:cubicBezTo>
                  <a:lnTo>
                    <a:pt x="0" y="81918"/>
                  </a:lnTo>
                  <a:cubicBezTo>
                    <a:pt x="0" y="60192"/>
                    <a:pt x="8631" y="39356"/>
                    <a:pt x="23993" y="23993"/>
                  </a:cubicBezTo>
                  <a:cubicBezTo>
                    <a:pt x="39356" y="8631"/>
                    <a:pt x="60192" y="0"/>
                    <a:pt x="81918" y="0"/>
                  </a:cubicBezTo>
                  <a:close/>
                </a:path>
              </a:pathLst>
            </a:custGeom>
            <a:solidFill>
              <a:srgbClr val="00249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23825"/>
              <a:ext cx="1129525" cy="2876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5400000">
            <a:off x="8305238" y="4680448"/>
            <a:ext cx="1433851" cy="609387"/>
          </a:xfrm>
          <a:custGeom>
            <a:avLst/>
            <a:gdLst/>
            <a:ahLst/>
            <a:cxnLst/>
            <a:rect r="r" b="b" t="t" l="l"/>
            <a:pathLst>
              <a:path h="609387" w="1433851">
                <a:moveTo>
                  <a:pt x="0" y="0"/>
                </a:moveTo>
                <a:lnTo>
                  <a:pt x="1433851" y="0"/>
                </a:lnTo>
                <a:lnTo>
                  <a:pt x="1433851" y="609387"/>
                </a:lnTo>
                <a:lnTo>
                  <a:pt x="0" y="6093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429630" y="9296491"/>
            <a:ext cx="1428739" cy="332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3"/>
              </a:lnSpc>
              <a:spcBef>
                <a:spcPct val="0"/>
              </a:spcBef>
            </a:pPr>
            <a:r>
              <a:rPr lang="en-US" b="true" sz="1700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10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01796" y="818011"/>
            <a:ext cx="6290642" cy="480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20"/>
              </a:lnSpc>
            </a:pPr>
            <a:r>
              <a:rPr lang="en-US" sz="3000" spc="-48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06. 결론 및 기대 효과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364299" y="2517077"/>
            <a:ext cx="5315730" cy="61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36"/>
              </a:lnSpc>
            </a:pPr>
            <a:r>
              <a:rPr lang="en-US" sz="3900" spc="-253">
                <a:solidFill>
                  <a:srgbClr val="00249E"/>
                </a:solidFill>
                <a:latin typeface="210 도시락"/>
                <a:ea typeface="210 도시락"/>
                <a:cs typeface="210 도시락"/>
                <a:sym typeface="210 도시락"/>
              </a:rPr>
              <a:t>협력 요청 및 다음 단계 제안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062246" y="3255083"/>
            <a:ext cx="11769742" cy="765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sz="1600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우리의 사업은 독창적이며, 시장에서의 반응을 통해 이미 검증된 잠재력을 가지고 있습니다. 따라서 예상되는 성공 가능성은 매우 높으며,</a:t>
            </a:r>
          </a:p>
          <a:p>
            <a:pPr algn="ctr" marL="0" indent="0" lvl="0">
              <a:lnSpc>
                <a:spcPts val="3168"/>
              </a:lnSpc>
            </a:pPr>
            <a:r>
              <a:rPr lang="en-US" sz="1600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이를 통해 장기적인 안정적인 수익을 창출할 것으로 기대합니다.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426698" y="5842830"/>
            <a:ext cx="7021345" cy="504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5"/>
              </a:lnSpc>
            </a:pPr>
            <a:r>
              <a:rPr lang="en-US" sz="3270" spc="-52">
                <a:solidFill>
                  <a:srgbClr val="FFFFFF"/>
                </a:solidFill>
                <a:latin typeface="210 도시락"/>
                <a:ea typeface="210 도시락"/>
                <a:cs typeface="210 도시락"/>
                <a:sym typeface="210 도시락"/>
              </a:rPr>
              <a:t>성공적인 파트너십을 위한 첫 걸음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14699" y="6926921"/>
            <a:ext cx="13495161" cy="1165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sz="1600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우리는 귀사의 전문성과 리소스를 통해 본 사업의 성공 가능성을 더욱 </a:t>
            </a:r>
            <a:r>
              <a:rPr lang="en-US" sz="1600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강화할 수 있다고 확신합니다. 따라서, 본 제안서에 대한 긍정적인 검토를 부탁드리며, </a:t>
            </a:r>
          </a:p>
          <a:p>
            <a:pPr algn="ctr">
              <a:lnSpc>
                <a:spcPts val="3168"/>
              </a:lnSpc>
            </a:pPr>
            <a:r>
              <a:rPr lang="en-US" sz="1600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이를 바탕으로 구체적인 협력 방안을 논의하고자 합니다. 우선, 다음 단계로는 구체적인 미팅 일정 제안을 통해 상호 협력의 </a:t>
            </a:r>
          </a:p>
          <a:p>
            <a:pPr algn="ctr" marL="0" indent="0" lvl="0">
              <a:lnSpc>
                <a:spcPts val="3168"/>
              </a:lnSpc>
            </a:pPr>
            <a:r>
              <a:rPr lang="en-US" sz="1600" spc="-25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세부 사항을 조율하고, 실행 계획을 수립하는 것이 필요합니다.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9078429"/>
            <a:ext cx="18288000" cy="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872608" y="0"/>
            <a:ext cx="0" cy="1028700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7451950" y="0"/>
            <a:ext cx="0" cy="1028700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0" y="1683887"/>
            <a:ext cx="18288000" cy="0"/>
          </a:xfrm>
          <a:prstGeom prst="line">
            <a:avLst/>
          </a:prstGeom>
          <a:ln cap="flat" w="9525">
            <a:solidFill>
              <a:srgbClr val="D7D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8429630" y="9296491"/>
            <a:ext cx="1428739" cy="332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3"/>
              </a:lnSpc>
              <a:spcBef>
                <a:spcPct val="0"/>
              </a:spcBef>
            </a:pPr>
            <a:r>
              <a:rPr lang="en-US" b="true" sz="1700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11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976728" y="3462771"/>
            <a:ext cx="2453987" cy="1171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299"/>
              </a:lnSpc>
            </a:pPr>
            <a:r>
              <a:rPr lang="en-US" sz="7499" spc="-119">
                <a:solidFill>
                  <a:srgbClr val="000000"/>
                </a:solidFill>
                <a:latin typeface="TDTD서울로"/>
                <a:ea typeface="TDTD서울로"/>
                <a:cs typeface="TDTD서울로"/>
                <a:sym typeface="TDTD서울로"/>
              </a:rPr>
              <a:t>Q&amp;A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08339" y="4792508"/>
            <a:ext cx="3090735" cy="55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39"/>
              </a:lnSpc>
            </a:pPr>
            <a:r>
              <a:rPr lang="en-US" sz="3499" spc="-55">
                <a:solidFill>
                  <a:srgbClr val="00249E"/>
                </a:solidFill>
                <a:latin typeface="210 도시락"/>
                <a:ea typeface="210 도시락"/>
                <a:cs typeface="210 도시락"/>
                <a:sym typeface="210 도시락"/>
              </a:rPr>
              <a:t>감사합니다.</a:t>
            </a:r>
          </a:p>
        </p:txBody>
      </p:sp>
      <p:sp>
        <p:nvSpPr>
          <p:cNvPr name="AutoShape 9" id="9"/>
          <p:cNvSpPr/>
          <p:nvPr/>
        </p:nvSpPr>
        <p:spPr>
          <a:xfrm>
            <a:off x="4088337" y="5083669"/>
            <a:ext cx="4026551" cy="0"/>
          </a:xfrm>
          <a:prstGeom prst="line">
            <a:avLst/>
          </a:prstGeom>
          <a:ln cap="flat" w="9525">
            <a:solidFill>
              <a:srgbClr val="00249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0472761" y="5083669"/>
            <a:ext cx="4026551" cy="0"/>
          </a:xfrm>
          <a:prstGeom prst="line">
            <a:avLst/>
          </a:prstGeom>
          <a:ln cap="flat" w="9525">
            <a:solidFill>
              <a:srgbClr val="00249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7571853" y="5909454"/>
            <a:ext cx="1814523" cy="382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발표자 : 김서영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06820" y="5844302"/>
            <a:ext cx="1428739" cy="447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86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2029.12.31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045421" y="3620236"/>
            <a:ext cx="2375769" cy="911725"/>
            <a:chOff x="0" y="0"/>
            <a:chExt cx="625717" cy="2401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25717" cy="240125"/>
            </a:xfrm>
            <a:custGeom>
              <a:avLst/>
              <a:gdLst/>
              <a:ahLst/>
              <a:cxnLst/>
              <a:rect r="r" b="b" t="t" l="l"/>
              <a:pathLst>
                <a:path h="240125" w="625717">
                  <a:moveTo>
                    <a:pt x="0" y="0"/>
                  </a:moveTo>
                  <a:lnTo>
                    <a:pt x="625717" y="0"/>
                  </a:lnTo>
                  <a:lnTo>
                    <a:pt x="625717" y="240125"/>
                  </a:lnTo>
                  <a:lnTo>
                    <a:pt x="0" y="240125"/>
                  </a:lnTo>
                  <a:close/>
                </a:path>
              </a:pathLst>
            </a:custGeom>
            <a:ln w="19050" cap="sq">
              <a:solidFill>
                <a:srgbClr val="00249E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625717" cy="287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018774" y="3593588"/>
            <a:ext cx="72345" cy="72345"/>
            <a:chOff x="0" y="0"/>
            <a:chExt cx="19054" cy="1905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054" cy="19054"/>
            </a:xfrm>
            <a:custGeom>
              <a:avLst/>
              <a:gdLst/>
              <a:ahLst/>
              <a:cxnLst/>
              <a:rect r="r" b="b" t="t" l="l"/>
              <a:pathLst>
                <a:path h="19054" w="19054">
                  <a:moveTo>
                    <a:pt x="0" y="0"/>
                  </a:moveTo>
                  <a:lnTo>
                    <a:pt x="19054" y="0"/>
                  </a:lnTo>
                  <a:lnTo>
                    <a:pt x="19054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rgbClr val="00249E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9054" cy="666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018774" y="4486264"/>
            <a:ext cx="72345" cy="72345"/>
            <a:chOff x="0" y="0"/>
            <a:chExt cx="19054" cy="1905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054" cy="19054"/>
            </a:xfrm>
            <a:custGeom>
              <a:avLst/>
              <a:gdLst/>
              <a:ahLst/>
              <a:cxnLst/>
              <a:rect r="r" b="b" t="t" l="l"/>
              <a:pathLst>
                <a:path h="19054" w="19054">
                  <a:moveTo>
                    <a:pt x="0" y="0"/>
                  </a:moveTo>
                  <a:lnTo>
                    <a:pt x="19054" y="0"/>
                  </a:lnTo>
                  <a:lnTo>
                    <a:pt x="19054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rgbClr val="00249E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9054" cy="666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375493" y="3593588"/>
            <a:ext cx="72345" cy="72345"/>
            <a:chOff x="0" y="0"/>
            <a:chExt cx="19054" cy="1905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054" cy="19054"/>
            </a:xfrm>
            <a:custGeom>
              <a:avLst/>
              <a:gdLst/>
              <a:ahLst/>
              <a:cxnLst/>
              <a:rect r="r" b="b" t="t" l="l"/>
              <a:pathLst>
                <a:path h="19054" w="19054">
                  <a:moveTo>
                    <a:pt x="0" y="0"/>
                  </a:moveTo>
                  <a:lnTo>
                    <a:pt x="19054" y="0"/>
                  </a:lnTo>
                  <a:lnTo>
                    <a:pt x="19054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rgbClr val="00249E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9054" cy="666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375493" y="4486264"/>
            <a:ext cx="72345" cy="72345"/>
            <a:chOff x="0" y="0"/>
            <a:chExt cx="19054" cy="1905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054" cy="19054"/>
            </a:xfrm>
            <a:custGeom>
              <a:avLst/>
              <a:gdLst/>
              <a:ahLst/>
              <a:cxnLst/>
              <a:rect r="r" b="b" t="t" l="l"/>
              <a:pathLst>
                <a:path h="19054" w="19054">
                  <a:moveTo>
                    <a:pt x="0" y="0"/>
                  </a:moveTo>
                  <a:lnTo>
                    <a:pt x="19054" y="0"/>
                  </a:lnTo>
                  <a:lnTo>
                    <a:pt x="19054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rgbClr val="00249E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9054" cy="666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-1218639">
            <a:off x="10465998" y="4425899"/>
            <a:ext cx="348826" cy="493040"/>
          </a:xfrm>
          <a:custGeom>
            <a:avLst/>
            <a:gdLst/>
            <a:ahLst/>
            <a:cxnLst/>
            <a:rect r="r" b="b" t="t" l="l"/>
            <a:pathLst>
              <a:path h="493040" w="348826">
                <a:moveTo>
                  <a:pt x="0" y="0"/>
                </a:moveTo>
                <a:lnTo>
                  <a:pt x="348826" y="0"/>
                </a:lnTo>
                <a:lnTo>
                  <a:pt x="348826" y="493040"/>
                </a:lnTo>
                <a:lnTo>
                  <a:pt x="0" y="4930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DAHCfrf1I-k</dc:identifier>
  <dcterms:modified xsi:type="dcterms:W3CDTF">2011-08-01T06:04:30Z</dcterms:modified>
  <cp:revision>1</cp:revision>
  <dc:title>파란색과 회색 심플한 웹 기획자 포트폴리오 이력서 자기소개 프레젠테이션</dc:title>
</cp:coreProperties>
</file>