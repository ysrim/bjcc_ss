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NanumSquareRoundOTF ExtraBold"/>
      <p:bold r:id="rId37"/>
    </p:embeddedFont>
    <p:embeddedFont>
      <p:font typeface="NanumSquare ExtraBold"/>
      <p:bold r:id="rId38"/>
    </p:embeddedFont>
    <p:embeddedFont>
      <p:font typeface="NanumSquare Bold"/>
      <p:bold r:id="rId39"/>
    </p:embeddedFont>
    <p:embeddedFont>
      <p:font typeface="NanumSquare Regular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1.fntdata" Type="http://schemas.openxmlformats.org/officeDocument/2006/relationships/font"/><Relationship Id="rId38" Target="fonts/font2.fntdata" Type="http://schemas.openxmlformats.org/officeDocument/2006/relationships/font"/><Relationship Id="rId39" Target="fonts/font3.fntdata" Type="http://schemas.openxmlformats.org/officeDocument/2006/relationships/font"/><Relationship Id="rId4" Target="theme/theme1.xml" Type="http://schemas.openxmlformats.org/officeDocument/2006/relationships/theme"/><Relationship Id="rId40" Target="fonts/font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12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3.png" Type="http://schemas.openxmlformats.org/officeDocument/2006/relationships/image"/><Relationship Id="rId7" Target="../media/image8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Relationship Id="rId7" Target="../media/image65.png" Type="http://schemas.openxmlformats.org/officeDocument/2006/relationships/image"/><Relationship Id="rId8" Target="../media/image66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92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6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12" Target="../media/image106.png" Type="http://schemas.openxmlformats.org/officeDocument/2006/relationships/image"/><Relationship Id="rId13" Target="../media/image107.png" Type="http://schemas.openxmlformats.org/officeDocument/2006/relationships/image"/><Relationship Id="rId14" Target="../media/image12.png" Type="http://schemas.openxmlformats.org/officeDocument/2006/relationships/image"/><Relationship Id="rId2" Target="../media/image98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Relationship Id="rId7" Target="../media/image101.png" Type="http://schemas.openxmlformats.org/officeDocument/2006/relationships/image"/><Relationship Id="rId8" Target="../media/image102.pn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png" Type="http://schemas.openxmlformats.org/officeDocument/2006/relationships/image"/><Relationship Id="rId11" Target="../media/image115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08.png" Type="http://schemas.openxmlformats.org/officeDocument/2006/relationships/image"/><Relationship Id="rId5" Target="../media/image109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Relationship Id="rId8" Target="../media/image112.png" Type="http://schemas.openxmlformats.org/officeDocument/2006/relationships/image"/><Relationship Id="rId9" Target="../media/image1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11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08.png" Type="http://schemas.openxmlformats.org/officeDocument/2006/relationships/image"/><Relationship Id="rId5" Target="../media/image116.png" Type="http://schemas.openxmlformats.org/officeDocument/2006/relationships/image"/><Relationship Id="rId6" Target="../media/image117.png" Type="http://schemas.openxmlformats.org/officeDocument/2006/relationships/image"/><Relationship Id="rId7" Target="../media/image118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2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media/image123.png" Type="http://schemas.openxmlformats.org/officeDocument/2006/relationships/image"/><Relationship Id="rId6" Target="../media/image124.png" Type="http://schemas.openxmlformats.org/officeDocument/2006/relationships/image"/><Relationship Id="rId7" Target="../media/image125.png" Type="http://schemas.openxmlformats.org/officeDocument/2006/relationships/image"/><Relationship Id="rId8" Target="../media/image126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12" Target="../media/image12.png" Type="http://schemas.openxmlformats.org/officeDocument/2006/relationships/image"/><Relationship Id="rId2" Target="../media/image8.png" Type="http://schemas.openxmlformats.org/officeDocument/2006/relationships/image"/><Relationship Id="rId3" Target="../media/image84.png" Type="http://schemas.openxmlformats.org/officeDocument/2006/relationships/image"/><Relationship Id="rId4" Target="../media/image127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35.pn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Relationship Id="rId7" Target="../media/image138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49.png" Type="http://schemas.openxmlformats.org/officeDocument/2006/relationships/image"/><Relationship Id="rId12" Target="../media/image12.png" Type="http://schemas.openxmlformats.org/officeDocument/2006/relationships/image"/><Relationship Id="rId2" Target="../media/image142.png" Type="http://schemas.openxmlformats.org/officeDocument/2006/relationships/image"/><Relationship Id="rId3" Target="../media/image143.png" Type="http://schemas.openxmlformats.org/officeDocument/2006/relationships/image"/><Relationship Id="rId4" Target="../media/image144.png" Type="http://schemas.openxmlformats.org/officeDocument/2006/relationships/image"/><Relationship Id="rId5" Target="../media/image145.png" Type="http://schemas.openxmlformats.org/officeDocument/2006/relationships/image"/><Relationship Id="rId6" Target="../media/image146.png" Type="http://schemas.openxmlformats.org/officeDocument/2006/relationships/image"/><Relationship Id="rId7" Target="../media/image147.png" Type="http://schemas.openxmlformats.org/officeDocument/2006/relationships/image"/><Relationship Id="rId8" Target="../media/image148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50.png" Type="http://schemas.openxmlformats.org/officeDocument/2006/relationships/image"/><Relationship Id="rId5" Target="../media/image151.png" Type="http://schemas.openxmlformats.org/officeDocument/2006/relationships/image"/><Relationship Id="rId6" Target="../media/image152.png" Type="http://schemas.openxmlformats.org/officeDocument/2006/relationships/image"/><Relationship Id="rId7" Target="../media/image153.png" Type="http://schemas.openxmlformats.org/officeDocument/2006/relationships/image"/><Relationship Id="rId8" Target="../media/image154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1.png" Type="http://schemas.openxmlformats.org/officeDocument/2006/relationships/image"/><Relationship Id="rId11" Target="../media/image162.png" Type="http://schemas.openxmlformats.org/officeDocument/2006/relationships/image"/><Relationship Id="rId12" Target="../media/image163.png" Type="http://schemas.openxmlformats.org/officeDocument/2006/relationships/image"/><Relationship Id="rId13" Target="../media/image164.png" Type="http://schemas.openxmlformats.org/officeDocument/2006/relationships/image"/><Relationship Id="rId14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55.png" Type="http://schemas.openxmlformats.org/officeDocument/2006/relationships/image"/><Relationship Id="rId5" Target="../media/image156.png" Type="http://schemas.openxmlformats.org/officeDocument/2006/relationships/image"/><Relationship Id="rId6" Target="../media/image157.png" Type="http://schemas.openxmlformats.org/officeDocument/2006/relationships/image"/><Relationship Id="rId7" Target="../media/image158.png" Type="http://schemas.openxmlformats.org/officeDocument/2006/relationships/image"/><Relationship Id="rId8" Target="../media/image159.png" Type="http://schemas.openxmlformats.org/officeDocument/2006/relationships/image"/><Relationship Id="rId9" Target="../media/image16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65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2.png" Type="http://schemas.openxmlformats.org/officeDocument/2006/relationships/image"/><Relationship Id="rId11" Target="../media/image173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66.png" Type="http://schemas.openxmlformats.org/officeDocument/2006/relationships/image"/><Relationship Id="rId5" Target="../media/image167.png" Type="http://schemas.openxmlformats.org/officeDocument/2006/relationships/image"/><Relationship Id="rId6" Target="../media/image168.png" Type="http://schemas.openxmlformats.org/officeDocument/2006/relationships/image"/><Relationship Id="rId7" Target="../media/image169.png" Type="http://schemas.openxmlformats.org/officeDocument/2006/relationships/image"/><Relationship Id="rId8" Target="../media/image170.png" Type="http://schemas.openxmlformats.org/officeDocument/2006/relationships/image"/><Relationship Id="rId9" Target="../media/image17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39.png" Type="http://schemas.openxmlformats.org/officeDocument/2006/relationships/image"/><Relationship Id="rId5" Target="../media/image174.png" Type="http://schemas.openxmlformats.org/officeDocument/2006/relationships/image"/><Relationship Id="rId6" Target="../media/image175.png" Type="http://schemas.openxmlformats.org/officeDocument/2006/relationships/image"/><Relationship Id="rId7" Target="../media/image176.png" Type="http://schemas.openxmlformats.org/officeDocument/2006/relationships/image"/><Relationship Id="rId8" Target="../media/image177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78.png" Type="http://schemas.openxmlformats.org/officeDocument/2006/relationships/image"/><Relationship Id="rId5" Target="../media/image179.png" Type="http://schemas.openxmlformats.org/officeDocument/2006/relationships/image"/><Relationship Id="rId6" Target="../media/image180.png" Type="http://schemas.openxmlformats.org/officeDocument/2006/relationships/image"/><Relationship Id="rId7" Target="../media/image181.png" Type="http://schemas.openxmlformats.org/officeDocument/2006/relationships/image"/><Relationship Id="rId8" Target="../media/image182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9.png" Type="http://schemas.openxmlformats.org/officeDocument/2006/relationships/image"/><Relationship Id="rId11" Target="../media/image190.png" Type="http://schemas.openxmlformats.org/officeDocument/2006/relationships/image"/><Relationship Id="rId12" Target="../media/image12.png" Type="http://schemas.openxmlformats.org/officeDocument/2006/relationships/image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83.png" Type="http://schemas.openxmlformats.org/officeDocument/2006/relationships/image"/><Relationship Id="rId5" Target="../media/image184.png" Type="http://schemas.openxmlformats.org/officeDocument/2006/relationships/image"/><Relationship Id="rId6" Target="../media/image185.png" Type="http://schemas.openxmlformats.org/officeDocument/2006/relationships/image"/><Relationship Id="rId7" Target="../media/image186.png" Type="http://schemas.openxmlformats.org/officeDocument/2006/relationships/image"/><Relationship Id="rId8" Target="../media/image187.png" Type="http://schemas.openxmlformats.org/officeDocument/2006/relationships/image"/><Relationship Id="rId9" Target="../media/image18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91.png" Type="http://schemas.openxmlformats.org/officeDocument/2006/relationships/image"/><Relationship Id="rId5" Target="../media/image192.png" Type="http://schemas.openxmlformats.org/officeDocument/2006/relationships/image"/><Relationship Id="rId6" Target="../media/image193.png" Type="http://schemas.openxmlformats.org/officeDocument/2006/relationships/image"/><Relationship Id="rId7" Target="../media/image124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94.png" Type="http://schemas.openxmlformats.org/officeDocument/2006/relationships/image"/><Relationship Id="rId5" Target="../media/image195.png" Type="http://schemas.openxmlformats.org/officeDocument/2006/relationships/image"/><Relationship Id="rId6" Target="../media/image196.png" Type="http://schemas.openxmlformats.org/officeDocument/2006/relationships/image"/><Relationship Id="rId7" Target="../media/image197.png" Type="http://schemas.openxmlformats.org/officeDocument/2006/relationships/image"/><Relationship Id="rId8" Target="../media/image19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png" Type="http://schemas.openxmlformats.org/officeDocument/2006/relationships/image"/><Relationship Id="rId4" Target="../media/image199.png" Type="http://schemas.openxmlformats.org/officeDocument/2006/relationships/image"/><Relationship Id="rId5" Target="../media/image200.png" Type="http://schemas.openxmlformats.org/officeDocument/2006/relationships/image"/><Relationship Id="rId6" Target="../media/image201.png" Type="http://schemas.openxmlformats.org/officeDocument/2006/relationships/image"/><Relationship Id="rId7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442200" y="2095500"/>
            <a:ext cx="3746500" cy="635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874000" y="2197100"/>
            <a:ext cx="342900" cy="3810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93100" y="2197100"/>
            <a:ext cx="25400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600" b="false" i="false" u="none" strike="noStrike">
                <a:solidFill>
                  <a:srgbClr val="FFFFFF"/>
                </a:solidFill>
                <a:latin typeface="NanumSquareRoundOTF ExtraBold"/>
              </a:rPr>
              <a:t>MIRICOMPANY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03500" y="2057400"/>
            <a:ext cx="1181100" cy="1181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65500" y="4343400"/>
            <a:ext cx="1295400" cy="129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884400" y="2044700"/>
            <a:ext cx="1206500" cy="120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66900" y="6502400"/>
            <a:ext cx="1231900" cy="1231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9500" y="8585200"/>
            <a:ext cx="161290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3800" y="4216400"/>
            <a:ext cx="1270000" cy="127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884400" y="6692900"/>
            <a:ext cx="1054100" cy="1054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000500" y="3505200"/>
            <a:ext cx="102870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9000" b="false" i="false" u="none" strike="noStrike" spc="-600">
                <a:solidFill>
                  <a:srgbClr val="325ADC"/>
                </a:solidFill>
                <a:ea typeface="NanumSquare ExtraBold"/>
              </a:rPr>
              <a:t>미리컴퍼니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94200" y="6743700"/>
            <a:ext cx="95123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C2C2C2"/>
                </a:solidFill>
                <a:latin typeface="NanumSquare ExtraBold"/>
              </a:rPr>
              <a:t>Operation Performance Report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25700" y="4940300"/>
            <a:ext cx="134493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9000" b="false" i="false" u="none" strike="noStrike" spc="-400">
                <a:solidFill>
                  <a:srgbClr val="595959"/>
                </a:solidFill>
                <a:latin typeface="NanumSquare ExtraBold"/>
              </a:rPr>
              <a:t> </a:t>
            </a:r>
            <a:r>
              <a:rPr lang="ko-KR" sz="9000" b="false" i="false" u="none" strike="noStrike" spc="-400">
                <a:solidFill>
                  <a:srgbClr val="595959"/>
                </a:solidFill>
                <a:ea typeface="NanumSquare ExtraBold"/>
              </a:rPr>
              <a:t>운영</a:t>
            </a:r>
            <a:r>
              <a:rPr lang="en-US" sz="9000" b="false" i="false" u="none" strike="noStrike" spc="-4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9000" b="false" i="false" u="none" strike="noStrike" spc="-400">
                <a:solidFill>
                  <a:srgbClr val="595959"/>
                </a:solidFill>
                <a:ea typeface="NanumSquare ExtraBold"/>
              </a:rPr>
              <a:t>성과</a:t>
            </a:r>
            <a:r>
              <a:rPr lang="en-US" sz="9000" b="false" i="false" u="none" strike="noStrike" spc="-4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9000" b="false" i="false" u="none" strike="noStrike" spc="-400">
                <a:solidFill>
                  <a:srgbClr val="595959"/>
                </a:solidFill>
                <a:ea typeface="NanumSquare ExtraBold"/>
              </a:rPr>
              <a:t>리포트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56100" y="8839200"/>
            <a:ext cx="95631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true" i="false" u="none" strike="noStrike">
                <a:solidFill>
                  <a:srgbClr val="787878"/>
                </a:solidFill>
                <a:ea typeface="NanumSquare Bold"/>
              </a:rPr>
              <a:t>파트너십사업팀</a:t>
            </a:r>
            <a:r>
              <a:rPr lang="en-US" sz="2300" b="true" i="false" u="none" strike="noStrike">
                <a:solidFill>
                  <a:srgbClr val="787878"/>
                </a:solidFill>
                <a:latin typeface="NanumSquare Bold"/>
              </a:rPr>
              <a:t>  2080.06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2717800" y="2336800"/>
            <a:ext cx="3111500" cy="3263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5956300" y="2336800"/>
            <a:ext cx="3111500" cy="3263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9220200" y="2336800"/>
            <a:ext cx="3111500" cy="326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12458700" y="2336800"/>
            <a:ext cx="3111500" cy="326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0833100" y="5816600"/>
            <a:ext cx="3111500" cy="3263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7594600" y="5816600"/>
            <a:ext cx="3111500" cy="3263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4356100" y="5803900"/>
            <a:ext cx="3111500" cy="3263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목차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Table of Contents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87800" y="3416300"/>
            <a:ext cx="584200" cy="50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3200400" y="43434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09900" y="3733800"/>
            <a:ext cx="2540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회사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소개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10000" y="26162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1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226300" y="3416300"/>
            <a:ext cx="584200" cy="508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438900" y="43434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64300" y="3733800"/>
            <a:ext cx="20955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월간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추이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분석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48500" y="26162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2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77500" y="3416300"/>
            <a:ext cx="584200" cy="508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9702800" y="43434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7200" y="3733800"/>
            <a:ext cx="2844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서비스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유형별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비율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12400" y="26162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3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0" y="3416300"/>
            <a:ext cx="584200" cy="508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941300" y="43434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23800" y="3733800"/>
            <a:ext cx="2781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수익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구조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상세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50900" y="26162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4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626100" y="6896100"/>
            <a:ext cx="584200" cy="50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4838700" y="78232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21200" y="7213600"/>
            <a:ext cx="27940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지점별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목표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 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달성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현황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48300" y="60960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5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813800" y="6896100"/>
            <a:ext cx="584200" cy="508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8039100" y="78232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64500" y="7213600"/>
            <a:ext cx="20955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우수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지점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이야기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34400" y="6096000"/>
            <a:ext cx="11430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6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1092200"/>
            <a:ext cx="469900" cy="419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90400" y="6896100"/>
            <a:ext cx="584200" cy="508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11315700" y="7823200"/>
            <a:ext cx="21463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페이지의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99800" y="7213600"/>
            <a:ext cx="25781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다음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달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실행</a:t>
            </a:r>
            <a:r>
              <a:rPr lang="en-US" sz="2300" b="false" i="false" u="none" strike="noStrike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>
                <a:solidFill>
                  <a:srgbClr val="325ADC"/>
                </a:solidFill>
                <a:ea typeface="NanumSquare ExtraBold"/>
              </a:rPr>
              <a:t>계획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925300" y="6096000"/>
            <a:ext cx="9398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200" b="false" i="false" u="none" strike="noStrike">
                <a:solidFill>
                  <a:srgbClr val="325ADC"/>
                </a:solidFill>
                <a:latin typeface="NanumSquare ExtraBold"/>
              </a:rP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0300" y="1028700"/>
            <a:ext cx="546100" cy="50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37700" y="2667000"/>
            <a:ext cx="7581900" cy="609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4292600"/>
            <a:ext cx="7772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4787900"/>
            <a:ext cx="1828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회사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소개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페이지는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기업의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기초적인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정보를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한눈에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보여주는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공간입니다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회사명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대표자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설립일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임직원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등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회사의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사실들을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적어주세요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 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Company Overview</a:t>
            </a:r>
          </a:p>
        </p:txBody>
      </p:sp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0300" y="3200400"/>
            <a:ext cx="622300" cy="711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17700" y="3200400"/>
            <a:ext cx="47117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800" b="false" i="false" u="none" strike="noStrike">
                <a:solidFill>
                  <a:srgbClr val="325ADC"/>
                </a:solidFill>
                <a:latin typeface="NanumSquareRoundOTF ExtraBold"/>
              </a:rPr>
              <a:t>MIRIAUTOCARE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66900" y="4902200"/>
            <a:ext cx="88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회사명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5486400"/>
            <a:ext cx="1828800" cy="558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866900" y="5600700"/>
            <a:ext cx="88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대표자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6184900"/>
            <a:ext cx="1828800" cy="558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625600" y="6299200"/>
            <a:ext cx="13843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주요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사업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6883400"/>
            <a:ext cx="182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866900" y="6997700"/>
            <a:ext cx="88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자본금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7581900"/>
            <a:ext cx="1828800" cy="558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866900" y="7696200"/>
            <a:ext cx="88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매출액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41700" y="4838700"/>
            <a:ext cx="32385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미리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컴퍼니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441700" y="5562600"/>
            <a:ext cx="32385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김미리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41700" y="6261100"/>
            <a:ext cx="54737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렌트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세차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차량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종합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제공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41700" y="6959600"/>
            <a:ext cx="34417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000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41700" y="7658100"/>
            <a:ext cx="4495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0,000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억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원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1409700" y="8255000"/>
            <a:ext cx="1828800" cy="5588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663700" y="8369300"/>
            <a:ext cx="13208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주요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Bold"/>
              </a:rPr>
              <a:t>인증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41700" y="8331200"/>
            <a:ext cx="4495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특허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인증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기업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인증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규격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인증</a:t>
            </a:r>
          </a:p>
        </p:txBody>
      </p:sp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079500" y="2933700"/>
            <a:ext cx="7785100" cy="4191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9321800" y="2933700"/>
            <a:ext cx="7785100" cy="419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프로젝트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Project Overview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4100" y="965200"/>
            <a:ext cx="7493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302000" y="3340100"/>
            <a:ext cx="33401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프로젝트에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소개를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타이틀의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포인트에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40200" y="3403600"/>
            <a:ext cx="1676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FFFFFF"/>
                </a:solidFill>
                <a:ea typeface="NanumSquare ExtraBold"/>
              </a:rPr>
              <a:t>문제</a:t>
            </a:r>
            <a:r>
              <a:rPr lang="en-US" sz="25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FFFFFF"/>
                </a:solidFill>
                <a:ea typeface="NanumSquare ExtraBold"/>
              </a:rPr>
              <a:t>상황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9900" y="4305300"/>
            <a:ext cx="6311900" cy="236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비효율적인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프로세스로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전반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생산성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속도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저하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노후화된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시스템으로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안정성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확장성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확보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어려움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급변하는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시장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환경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변화에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신속히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대응하지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못함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체계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미흡으로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정확한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분석과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의사결정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한계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협업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부족으로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중복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커뮤니케이션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비용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증가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56800" y="4305300"/>
            <a:ext cx="6997700" cy="2362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자동화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시스템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도입으로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효율성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속도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개선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사용자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중심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UI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개편으로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사용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편의성과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접근성을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대폭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강화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협업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플랫폼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구축을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부서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소통과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연계를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체계화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의사결정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체계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도입으로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효율성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강화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표준화된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프로세스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정립으로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품질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편차를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줄이고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안정성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확보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24900" y="4597400"/>
            <a:ext cx="838200" cy="838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447800" y="7747000"/>
            <a:ext cx="15392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검증된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자료와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객관적인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데이터를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근거로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제시하여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주장의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타당성을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높히세요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.</a:t>
            </a:r>
          </a:p>
          <a:p>
            <a:pPr algn="ctr" lvl="0">
              <a:lnSpc>
                <a:spcPct val="116199"/>
              </a:lnSpc>
            </a:pP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사실에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입각한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정확한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정보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제공은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독자에게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깊은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믿음을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심어줄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수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있습니다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57000" y="3340100"/>
            <a:ext cx="3340100" cy="5715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2026900" y="3403600"/>
            <a:ext cx="2374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FFFFFF"/>
                </a:solidFill>
                <a:ea typeface="NanumSquare ExtraBold"/>
              </a:rPr>
              <a:t>해결</a:t>
            </a:r>
            <a:r>
              <a:rPr lang="en-US" sz="25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FFFFFF"/>
                </a:solidFill>
                <a:ea typeface="NanumSquare ExtraBold"/>
              </a:rPr>
              <a:t>방안</a:t>
            </a:r>
            <a:r>
              <a:rPr lang="en-US" sz="25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FFFFFF"/>
                </a:solidFill>
                <a:ea typeface="NanumSquare ExtraBold"/>
              </a:rPr>
              <a:t>제언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산업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트렌드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Industry Trends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952500"/>
            <a:ext cx="6223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37200" y="5372100"/>
            <a:ext cx="7264400" cy="3632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00800" y="6261100"/>
            <a:ext cx="5537200" cy="276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788400" y="2590800"/>
            <a:ext cx="800100" cy="800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41300" y="3606800"/>
            <a:ext cx="8001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97400" y="3619500"/>
            <a:ext cx="800100" cy="800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53500" y="5143500"/>
            <a:ext cx="431800" cy="431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591300" y="6045200"/>
            <a:ext cx="431800" cy="431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15700" y="6045200"/>
            <a:ext cx="431800" cy="431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99100" y="7759700"/>
            <a:ext cx="431800" cy="431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446000" y="7759700"/>
            <a:ext cx="431800" cy="431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최신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산업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동향과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환경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변화를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검증된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자료로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활용하면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트렌드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높일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2300" y="4495800"/>
            <a:ext cx="3683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디지털화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67100" y="5054600"/>
            <a:ext cx="30480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항목에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01000" y="7251700"/>
            <a:ext cx="2336800" cy="1422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키워드</a:t>
            </a:r>
          </a:p>
          <a:p>
            <a:pPr algn="ctr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입력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40600" y="3454400"/>
            <a:ext cx="3683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자동화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08900" y="4013200"/>
            <a:ext cx="2933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항목에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06200" y="4495800"/>
            <a:ext cx="3683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고객</a:t>
            </a:r>
            <a:r>
              <a:rPr lang="en-US" sz="25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중심</a:t>
            </a:r>
            <a:r>
              <a:rPr lang="en-US" sz="25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서비스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74500" y="5054600"/>
            <a:ext cx="2933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항목에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6700" y="7442200"/>
            <a:ext cx="3683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산업</a:t>
            </a:r>
            <a:r>
              <a:rPr lang="en-US" sz="25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트렌드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54200" y="8001000"/>
            <a:ext cx="30480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항목에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71800" y="6553200"/>
            <a:ext cx="800100" cy="800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516100" y="6553200"/>
            <a:ext cx="800100" cy="800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3068300" y="7442200"/>
            <a:ext cx="3683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산업</a:t>
            </a:r>
            <a:r>
              <a:rPr lang="en-US" sz="25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500" b="false" i="false" u="none" strike="noStrike" spc="-200">
                <a:solidFill>
                  <a:srgbClr val="325ADC"/>
                </a:solidFill>
                <a:ea typeface="NanumSquare ExtraBold"/>
              </a:rPr>
              <a:t>트렌드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85800" y="8001000"/>
            <a:ext cx="30480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항목에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고객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이용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행태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Customer Behavior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1028700"/>
            <a:ext cx="6604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825500" y="5600700"/>
            <a:ext cx="57023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-10800000">
            <a:off x="2032000" y="8445500"/>
            <a:ext cx="71882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578100" y="5600700"/>
            <a:ext cx="64262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3327400" y="5511800"/>
            <a:ext cx="4940300" cy="25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행동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패턴과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선호도를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인사이트는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방향과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수립의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신뢰도를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강화합니다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85600" y="7835900"/>
            <a:ext cx="50419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고객들은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빠른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간편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예약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일관된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서비스를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중요하게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여김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000" y="5461000"/>
            <a:ext cx="11430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앱</a:t>
            </a:r>
            <a:r>
              <a:rPr lang="en-US" sz="18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다운수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6800" y="2768600"/>
            <a:ext cx="7112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높음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6800" y="8153400"/>
            <a:ext cx="7112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낮음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47100" y="8610600"/>
            <a:ext cx="698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많음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9300" y="8610600"/>
            <a:ext cx="6985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적음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18100" y="8610600"/>
            <a:ext cx="13716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NanumSquare Bold"/>
              </a:rPr>
              <a:t>이용량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 rot="0">
            <a:off x="7581900" y="3111500"/>
            <a:ext cx="1333500" cy="1333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683500" y="3644900"/>
            <a:ext cx="1143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NanumSquare ExtraBold"/>
              </a:rPr>
              <a:t>업체</a:t>
            </a:r>
            <a:r>
              <a:rPr lang="en-US" sz="1700" b="false" i="false" u="none" strike="noStrike">
                <a:solidFill>
                  <a:srgbClr val="FFFFFF"/>
                </a:solidFill>
                <a:latin typeface="NanumSquare ExtraBold"/>
              </a:rPr>
              <a:t> A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 rot="0">
            <a:off x="3505200" y="3810000"/>
            <a:ext cx="1333500" cy="13335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606800" y="4330700"/>
            <a:ext cx="1143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NanumSquare ExtraBold"/>
              </a:rPr>
              <a:t>업체</a:t>
            </a:r>
            <a:r>
              <a:rPr lang="en-US" sz="1700" b="false" i="false" u="none" strike="noStrike">
                <a:solidFill>
                  <a:srgbClr val="FFFFFF"/>
                </a:solidFill>
                <a:latin typeface="NanumSquare ExtraBold"/>
              </a:rPr>
              <a:t> B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 rot="0">
            <a:off x="2603500" y="6578600"/>
            <a:ext cx="1333500" cy="1333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alphaModFix amt="47000"/>
          </a:blip>
          <a:stretch>
            <a:fillRect/>
          </a:stretch>
        </p:blipFill>
        <p:spPr>
          <a:xfrm rot="0">
            <a:off x="10972800" y="7912100"/>
            <a:ext cx="584200" cy="5842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2603500" y="6959600"/>
            <a:ext cx="13335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NanumSquare ExtraBold"/>
              </a:rPr>
              <a:t>미리</a:t>
            </a:r>
          </a:p>
          <a:p>
            <a:pPr algn="ctr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NanumSquare ExtraBold"/>
              </a:rPr>
              <a:t>오토케어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 rot="0">
            <a:off x="10071100" y="2641600"/>
            <a:ext cx="1536700" cy="15113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0248900" y="3175000"/>
            <a:ext cx="1206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업체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88800" y="2971800"/>
            <a:ext cx="46482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고객들이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업체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A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를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많이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찾는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이유를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간단하게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 rot="0">
            <a:off x="10071100" y="4305300"/>
            <a:ext cx="1536700" cy="15113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248900" y="4838700"/>
            <a:ext cx="1206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업체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88800" y="4635500"/>
            <a:ext cx="46482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고객들이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업체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B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를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많이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찾는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이유를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간단하게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 rot="0">
            <a:off x="10071100" y="5956300"/>
            <a:ext cx="1536700" cy="15113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0248900" y="6489700"/>
            <a:ext cx="1206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업체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88800" y="6286500"/>
            <a:ext cx="46482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고객들이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업체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C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를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많이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찾는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이유를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간단하게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 rot="0">
            <a:off x="6235700" y="4622800"/>
            <a:ext cx="1333500" cy="13335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6337300" y="5156200"/>
            <a:ext cx="11430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700" b="false" i="false" u="none" strike="noStrike">
                <a:solidFill>
                  <a:srgbClr val="FFFFFF"/>
                </a:solidFill>
                <a:ea typeface="NanumSquare ExtraBold"/>
              </a:rPr>
              <a:t>업체</a:t>
            </a:r>
            <a:r>
              <a:rPr lang="en-US" sz="1700" b="false" i="false" u="none" strike="noStrike">
                <a:solidFill>
                  <a:srgbClr val="FFFFFF"/>
                </a:solidFill>
                <a:latin typeface="NanumSquare ExtraBold"/>
              </a:rPr>
              <a:t> C</a:t>
            </a:r>
          </a:p>
        </p:txBody>
      </p:sp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76800" y="3619500"/>
            <a:ext cx="9779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63900" y="5715000"/>
            <a:ext cx="42164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72100" y="5715000"/>
            <a:ext cx="495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72100" y="7810500"/>
            <a:ext cx="508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30400" y="952500"/>
            <a:ext cx="421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내부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운영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체계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현황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현재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내부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체계와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프로세스를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지표로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현황을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수치화하면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필요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영역을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명확히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보여줄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0400" y="1714500"/>
            <a:ext cx="4889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Current Operations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9500" y="3098800"/>
            <a:ext cx="3810000" cy="1054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333500" y="3403600"/>
            <a:ext cx="3289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미리오토케어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서비스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54700" y="3098800"/>
            <a:ext cx="3644900" cy="1054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112000" y="3403600"/>
            <a:ext cx="1460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어플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접수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 rot="0">
            <a:off x="9779000" y="2844800"/>
            <a:ext cx="7429500" cy="774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083800" y="3035300"/>
            <a:ext cx="6819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어플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현황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75000"/>
          </a:blip>
          <a:stretch>
            <a:fillRect/>
          </a:stretch>
        </p:blipFill>
        <p:spPr>
          <a:xfrm rot="0">
            <a:off x="5842000" y="5207000"/>
            <a:ext cx="3657600" cy="1054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781800" y="5499100"/>
            <a:ext cx="2159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고객센터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접수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 rot="0">
            <a:off x="5854700" y="7315200"/>
            <a:ext cx="3644900" cy="1054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7073900" y="7607300"/>
            <a:ext cx="1562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방문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접수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alphaModFix amt="50000"/>
          </a:blip>
          <a:stretch>
            <a:fillRect/>
          </a:stretch>
        </p:blipFill>
        <p:spPr>
          <a:xfrm rot="0">
            <a:off x="9779000" y="3759200"/>
            <a:ext cx="7429500" cy="774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0185400" y="3949700"/>
            <a:ext cx="6616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어플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현황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 rot="0">
            <a:off x="9779000" y="5346700"/>
            <a:ext cx="7429500" cy="7747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0020300" y="5549900"/>
            <a:ext cx="6946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인입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상담원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응대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 rot="0">
            <a:off x="9779000" y="7061200"/>
            <a:ext cx="7429500" cy="7747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0058400" y="7264400"/>
            <a:ext cx="68707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응대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2">
            <a:alphaModFix amt="50000"/>
          </a:blip>
          <a:stretch>
            <a:fillRect/>
          </a:stretch>
        </p:blipFill>
        <p:spPr>
          <a:xfrm rot="0">
            <a:off x="9779000" y="7988300"/>
            <a:ext cx="7429500" cy="774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451600" y="5562600"/>
            <a:ext cx="342900" cy="342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781800" y="7658100"/>
            <a:ext cx="304800" cy="368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807200" y="3441700"/>
            <a:ext cx="228600" cy="342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77900" y="1016000"/>
            <a:ext cx="660400" cy="5715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0045700" y="8178800"/>
            <a:ext cx="6908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응대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421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핵심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문제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요인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문제점과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원인을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검증된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자료로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명확하게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도출하세요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해결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설정에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제공합니다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889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Key Issues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83800" y="3721100"/>
            <a:ext cx="2857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어플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속도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저하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39400" y="4318000"/>
            <a:ext cx="50165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어플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이용에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혹은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작성하여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문제점을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3800" y="5562600"/>
            <a:ext cx="1968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전문성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9400" y="6146800"/>
            <a:ext cx="50165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상담원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응대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혹은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작성하여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문제점을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3800" y="7416800"/>
            <a:ext cx="31496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대기시간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9400" y="8013700"/>
            <a:ext cx="50165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방문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접수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혹은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작성하여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문제점을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56000" y="3721100"/>
            <a:ext cx="24892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클레임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접수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건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9664700" y="2628900"/>
            <a:ext cx="6477000" cy="723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84400" y="4292600"/>
            <a:ext cx="6438900" cy="3302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896600" y="2755900"/>
            <a:ext cx="4000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핵심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문제점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35300" y="7950200"/>
            <a:ext cx="44577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328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표에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 indent="-342900" marL="342900">
              <a:lnSpc>
                <a:spcPct val="1328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표에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2159000" y="2628900"/>
            <a:ext cx="6477000" cy="723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94900" y="5245100"/>
            <a:ext cx="5803900" cy="25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994900" y="7137400"/>
            <a:ext cx="5803900" cy="25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19200" y="990600"/>
            <a:ext cx="431800" cy="6477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390900" y="2755900"/>
            <a:ext cx="40005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불만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접수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비율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05700" y="3530600"/>
            <a:ext cx="952500" cy="304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단위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%</a:t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0300" y="1003300"/>
            <a:ext cx="520700" cy="66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30400" y="2654300"/>
            <a:ext cx="4521200" cy="28702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952500"/>
            <a:ext cx="39497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타사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개선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사례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사례를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나타난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지표를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적용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비교와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Improvement Case Study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7073900" y="2832100"/>
            <a:ext cx="94996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30400" y="5778500"/>
            <a:ext cx="4521200" cy="2882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429500" y="2895600"/>
            <a:ext cx="1016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업체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64400" y="3797300"/>
            <a:ext cx="8394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자동화를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통한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업무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처리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속도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향상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64400" y="4457700"/>
            <a:ext cx="91821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자동화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도입을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반복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최소화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후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전체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시간이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크게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단축</a:t>
            </a:r>
          </a:p>
          <a:p>
            <a:pPr algn="l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그래프상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건수와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소요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시간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지표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모두에서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효과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뚜렷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7073900" y="5956300"/>
            <a:ext cx="9499600" cy="571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429500" y="6019800"/>
            <a:ext cx="1016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업체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64400" y="6921500"/>
            <a:ext cx="71120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표준화된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운영으로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일관된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서비스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품질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확보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64400" y="7581900"/>
            <a:ext cx="8991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프로세스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표준화를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지점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담당자별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편차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최소화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후</a:t>
            </a:r>
          </a:p>
          <a:p>
            <a:pPr algn="l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품질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지표가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전반적으로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안정화되어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일관된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수준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유지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효과가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확인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0">
            <a:off x="5638800" y="3429000"/>
            <a:ext cx="3810000" cy="3810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0">
            <a:off x="8585200" y="3429000"/>
            <a:ext cx="3810000" cy="3810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952500"/>
            <a:ext cx="44450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시사점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적용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방안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사례에서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도출된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시사점과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적용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인사이트와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적용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Key Implications &amp; Action Plan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79500" y="3035300"/>
            <a:ext cx="4102100" cy="2159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3276600"/>
            <a:ext cx="2933700" cy="647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2044700" y="3365500"/>
            <a:ext cx="2171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FFFFFF"/>
                </a:solidFill>
                <a:ea typeface="NanumSquare ExtraBold"/>
              </a:rPr>
              <a:t>포인트</a:t>
            </a:r>
            <a:r>
              <a:rPr lang="en-US" sz="2800" b="false" i="false" u="none" strike="noStrike" spc="-200">
                <a:solidFill>
                  <a:srgbClr val="FFFFFF"/>
                </a:solidFill>
                <a:latin typeface="NanumSquare ExtraBold"/>
              </a:rPr>
              <a:t> 1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283200" y="5334000"/>
            <a:ext cx="3556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95200" y="5334000"/>
            <a:ext cx="355600" cy="254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311900" y="5029200"/>
            <a:ext cx="24638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00" b="false" i="false" u="none" strike="noStrike" spc="-200">
                <a:solidFill>
                  <a:srgbClr val="FFFFFF"/>
                </a:solidFill>
                <a:latin typeface="NanumSquare ExtraBold"/>
              </a:rPr>
              <a:t>A </a:t>
            </a:r>
            <a:r>
              <a:rPr lang="ko-KR" sz="3700" b="false" i="false" u="none" strike="noStrike" spc="-200">
                <a:solidFill>
                  <a:srgbClr val="FFFFFF"/>
                </a:solidFill>
                <a:ea typeface="NanumSquare ExtraBold"/>
              </a:rPr>
              <a:t>기업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98000" y="5029200"/>
            <a:ext cx="24638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700" b="false" i="false" u="none" strike="noStrike" spc="-200">
                <a:solidFill>
                  <a:srgbClr val="FFFFFF"/>
                </a:solidFill>
                <a:latin typeface="NanumSquare ExtraBold"/>
              </a:rPr>
              <a:t>B </a:t>
            </a:r>
            <a:r>
              <a:rPr lang="ko-KR" sz="3700" b="false" i="false" u="none" strike="noStrike" spc="-200">
                <a:solidFill>
                  <a:srgbClr val="FFFFFF"/>
                </a:solidFill>
                <a:ea typeface="NanumSquare ExtraBold"/>
              </a:rPr>
              <a:t>기업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47800" y="8242300"/>
            <a:ext cx="153924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개선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사례에서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도출된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포인트를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명확히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제시하고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, 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적용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가능한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개선방안을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설명하세요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4800" y="4381500"/>
            <a:ext cx="309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940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의사결정의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중요성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79500" y="5473700"/>
            <a:ext cx="4102100" cy="2159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5702300"/>
            <a:ext cx="2933700" cy="647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044700" y="5791200"/>
            <a:ext cx="2171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FFFFFF"/>
                </a:solidFill>
                <a:ea typeface="NanumSquare ExtraBold"/>
              </a:rPr>
              <a:t>포인트</a:t>
            </a:r>
            <a:r>
              <a:rPr lang="en-US" sz="2800" b="false" i="false" u="none" strike="noStrike" spc="-200">
                <a:solidFill>
                  <a:srgbClr val="FFFFFF"/>
                </a:solidFill>
                <a:latin typeface="NanumSquare ExtraBold"/>
              </a:rPr>
              <a:t> 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4800" y="6807200"/>
            <a:ext cx="309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940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가능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전략의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필요성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2903200" y="3035300"/>
            <a:ext cx="4102100" cy="2159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00100" y="3276600"/>
            <a:ext cx="2933700" cy="6477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3868400" y="3365500"/>
            <a:ext cx="2171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FFFFFF"/>
                </a:solidFill>
                <a:ea typeface="NanumSquare ExtraBold"/>
              </a:rPr>
              <a:t>포인트</a:t>
            </a:r>
            <a:r>
              <a:rPr lang="en-US" sz="2800" b="false" i="false" u="none" strike="noStrike" spc="-200">
                <a:solidFill>
                  <a:srgbClr val="FFFFFF"/>
                </a:solidFill>
                <a:latin typeface="NanumSquare ExtraBold"/>
              </a:rPr>
              <a:t>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11200" y="4381500"/>
            <a:ext cx="309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940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표준화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자동화의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효과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확인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2903200" y="5473700"/>
            <a:ext cx="4102100" cy="2159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500100" y="5702300"/>
            <a:ext cx="2933700" cy="647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4100" y="1028700"/>
            <a:ext cx="635000" cy="5969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4020800" y="5791200"/>
            <a:ext cx="18669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 spc="-200">
                <a:solidFill>
                  <a:srgbClr val="FFFFFF"/>
                </a:solidFill>
                <a:ea typeface="NanumSquare ExtraBold"/>
              </a:rPr>
              <a:t>포인트</a:t>
            </a:r>
            <a:r>
              <a:rPr lang="en-US" sz="2800" b="false" i="false" u="none" strike="noStrike" spc="-200">
                <a:solidFill>
                  <a:srgbClr val="FFFFFF"/>
                </a:solidFill>
                <a:latin typeface="NanumSquare ExtraBold"/>
              </a:rPr>
              <a:t> 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11200" y="6807200"/>
            <a:ext cx="30988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49400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41400" y="2552700"/>
          <a:ext cx="16129000" cy="6311900"/>
        </p:xfrm>
        <a:graphic>
          <a:graphicData uri="http://schemas.openxmlformats.org/drawingml/2006/table">
            <a:tbl>
              <a:tblPr/>
              <a:tblGrid>
                <a:gridCol w="4076700"/>
                <a:gridCol w="2006600"/>
                <a:gridCol w="2006600"/>
                <a:gridCol w="2006600"/>
                <a:gridCol w="2006600"/>
                <a:gridCol w="2006600"/>
                <a:gridCol w="2006600"/>
              </a:tblGrid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개선</a:t>
                      </a: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요소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1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2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3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4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5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FFFFFF"/>
                          </a:solidFill>
                          <a:latin typeface="NanumSquare Bold"/>
                        </a:rPr>
                        <a:t>6</a:t>
                      </a:r>
                      <a:r>
                        <a:rPr lang="ko-KR" sz="2000" b="false" i="false" u="none" strike="noStrike">
                          <a:solidFill>
                            <a:srgbClr val="FFFFFF"/>
                          </a:solidFill>
                          <a:ea typeface="NanumSquare Bold"/>
                        </a:rPr>
                        <a:t>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업무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자동화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시스템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도입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운영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프로세스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표준화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구축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통합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협업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시스템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개선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매장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방문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예약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시스템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고도화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매장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동선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응대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프로세스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개선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고객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방문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데이터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분석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체계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도입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현장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서비스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표준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매뉴얼</a:t>
                      </a: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정립</a:t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0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118100" y="3581400"/>
            <a:ext cx="58420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099300" y="4356100"/>
            <a:ext cx="8001000" cy="292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05400" y="5168900"/>
            <a:ext cx="5105400" cy="292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118100" y="6007100"/>
            <a:ext cx="3441700" cy="29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59800" y="6743700"/>
            <a:ext cx="7442200" cy="292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099800" y="7531100"/>
            <a:ext cx="60960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559800" y="8318500"/>
            <a:ext cx="4864100" cy="29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9500" y="901700"/>
            <a:ext cx="546100" cy="749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930400" y="952500"/>
            <a:ext cx="421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개선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계획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일정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과제와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계획을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계획의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타당성과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높일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0400" y="1714500"/>
            <a:ext cx="4889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Improvement Plan</a:t>
            </a:r>
          </a:p>
        </p:txBody>
      </p: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155700" y="6019800"/>
            <a:ext cx="3924300" cy="6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0">
            <a:off x="5194300" y="6019800"/>
            <a:ext cx="3924300" cy="62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 rot="0">
            <a:off x="9232900" y="6019800"/>
            <a:ext cx="3924300" cy="62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08000" y="6019800"/>
            <a:ext cx="3924300" cy="622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진행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단계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과정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프로젝트의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진행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단계와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추진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과정을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단계별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내용과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일정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흐름을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Project Phases &amp; Process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82900" y="3721100"/>
            <a:ext cx="4826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22800" y="6159500"/>
            <a:ext cx="1778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648700" y="6159500"/>
            <a:ext cx="177800" cy="3302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687300" y="6159500"/>
            <a:ext cx="177800" cy="330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75100" y="6159500"/>
            <a:ext cx="177800" cy="3302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778000" y="7124700"/>
            <a:ext cx="26670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단계의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9400" y="6121400"/>
            <a:ext cx="3136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문제점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취합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08800" y="3721100"/>
            <a:ext cx="482600" cy="381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5816600" y="7124700"/>
            <a:ext cx="26670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단계의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8000" y="6121400"/>
            <a:ext cx="3136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개선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방향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수립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947400" y="3721100"/>
            <a:ext cx="482600" cy="381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855200" y="7124700"/>
            <a:ext cx="26670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단계의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26600" y="6121400"/>
            <a:ext cx="3136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실행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및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적용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35200" y="3721100"/>
            <a:ext cx="482600" cy="38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54100" y="1003300"/>
            <a:ext cx="685800" cy="584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54300" y="4318000"/>
            <a:ext cx="927100" cy="1143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80200" y="4356100"/>
            <a:ext cx="939800" cy="1054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554200" y="4368800"/>
            <a:ext cx="1219200" cy="1054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64800" y="4419600"/>
            <a:ext cx="1435100" cy="9398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3830300" y="7124700"/>
            <a:ext cx="2667000" cy="1104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키워드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위주로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해당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단계의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설명을</a:t>
            </a:r>
          </a:p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간결하게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적어보세요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01700" y="6121400"/>
            <a:ext cx="3136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성과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점검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및</a:t>
            </a:r>
            <a:r>
              <a:rPr lang="en-US" sz="2400" b="false" i="false" u="none" strike="noStrike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NanumSquare ExtraBold"/>
              </a:rPr>
              <a:t>고도화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552700" y="3098800"/>
            <a:ext cx="1130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25ADC"/>
                </a:solidFill>
                <a:latin typeface="NanumSquare Extra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91300" y="3098800"/>
            <a:ext cx="1130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25ADC"/>
                </a:solidFill>
                <a:latin typeface="NanumSquare Extra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29900" y="3098800"/>
            <a:ext cx="1130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25ADC"/>
                </a:solidFill>
                <a:latin typeface="NanumSquare Extra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05000" y="3098800"/>
            <a:ext cx="11303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325ADC"/>
                </a:solidFill>
                <a:latin typeface="NanumSquare ExtraBold"/>
              </a:rPr>
              <a:t>04</a:t>
            </a:r>
          </a:p>
        </p:txBody>
      </p:sp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기대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효과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전망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Expected Impact &amp; Outlook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901700"/>
            <a:ext cx="787400" cy="78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502900" y="6578600"/>
            <a:ext cx="1981200" cy="1981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프로젝트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추진을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기대되는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효과와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전망을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포인트와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중장기적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중심으로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1079500" y="2959100"/>
            <a:ext cx="7734300" cy="723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127500" y="3098800"/>
            <a:ext cx="1625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기대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효과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0">
            <a:off x="9474200" y="2959100"/>
            <a:ext cx="7734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 rot="0">
            <a:off x="1079500" y="3987800"/>
            <a:ext cx="2108200" cy="1460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90000"/>
          </a:blip>
          <a:stretch>
            <a:fillRect/>
          </a:stretch>
        </p:blipFill>
        <p:spPr>
          <a:xfrm rot="0">
            <a:off x="1079500" y="5702300"/>
            <a:ext cx="2108200" cy="3276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1740000">
            <a:off x="10744200" y="5943600"/>
            <a:ext cx="33401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44300" y="8547100"/>
            <a:ext cx="32766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 rot="0">
            <a:off x="12890500" y="4953000"/>
            <a:ext cx="3606800" cy="3606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718800" y="3098800"/>
            <a:ext cx="5257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자사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성장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Bold"/>
              </a:rPr>
              <a:t>전망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0800" y="4254500"/>
            <a:ext cx="16256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단기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효과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0800" y="6870700"/>
            <a:ext cx="16256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중장기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효과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7600" y="4089400"/>
            <a:ext cx="44831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자동화를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통한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속도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향상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효율성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증대로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비용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절감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사용자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편의성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강화로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현장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만족도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증가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57600" y="6261100"/>
            <a:ext cx="5207000" cy="218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안정적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시스템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매출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지속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성장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정확도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경쟁력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강화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표준화된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운영으로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품질의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일관성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확보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시장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변화에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유연하게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대응할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있는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역량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강화</a:t>
            </a:r>
          </a:p>
          <a:p>
            <a:pPr algn="l" lvl="0" indent="-342900" marL="342900">
              <a:lnSpc>
                <a:spcPct val="1494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장기적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브랜드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신뢰도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충성도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제고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2200" y="4076700"/>
            <a:ext cx="42291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32800"/>
              </a:lnSpc>
              <a:buClr>
                <a:srgbClr val="595959"/>
              </a:buClr>
              <a:buFont typeface="Arial"/>
              <a:buChar char="●"/>
            </a:pP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월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평균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이용건수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10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배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증가</a:t>
            </a: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 spc="-200">
                <a:solidFill>
                  <a:srgbClr val="595959"/>
                </a:solidFill>
                <a:ea typeface="NanumSquare Bold"/>
              </a:rPr>
              <a:t>목표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95000" y="8750300"/>
            <a:ext cx="14224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20XX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82700" y="8750300"/>
            <a:ext cx="14224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300" b="false" i="false" u="none" strike="noStrike" spc="-200">
                <a:solidFill>
                  <a:srgbClr val="595959"/>
                </a:solidFill>
                <a:latin typeface="NanumSquare Bold"/>
              </a:rPr>
              <a:t>20XX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53700" y="7289800"/>
            <a:ext cx="19050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0" b="false" i="false" u="none" strike="noStrike">
                <a:solidFill>
                  <a:srgbClr val="325ADC"/>
                </a:solidFill>
                <a:latin typeface="NanumSquare ExtraBold"/>
              </a:rPr>
              <a:t>0,000</a:t>
            </a:r>
            <a:r>
              <a:rPr lang="ko-KR" sz="1400" b="false" i="false" u="none" strike="noStrike">
                <a:solidFill>
                  <a:srgbClr val="325ADC"/>
                </a:solidFill>
                <a:ea typeface="NanumSquare ExtraBold"/>
              </a:rPr>
              <a:t>건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44500" y="6299200"/>
            <a:ext cx="30988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500" b="false" i="false" u="none" strike="noStrike">
                <a:solidFill>
                  <a:srgbClr val="FFFFFF"/>
                </a:solidFill>
                <a:latin typeface="NanumSquare ExtraBold"/>
              </a:rPr>
              <a:t>00,000</a:t>
            </a:r>
            <a:r>
              <a:rPr lang="ko-KR" sz="2300" b="false" i="false" u="none" strike="noStrike">
                <a:solidFill>
                  <a:srgbClr val="FFFFFF"/>
                </a:solidFill>
                <a:ea typeface="NanumSquare ExtraBold"/>
              </a:rPr>
              <a:t>건</a:t>
            </a:r>
          </a:p>
        </p:txBody>
      </p:sp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44450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고객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의견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수집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피드백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수집된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의견을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고객의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목소리는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수립에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신뢰도를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높일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Customer Feedback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3403600" y="2400300"/>
            <a:ext cx="12865100" cy="201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251700" y="2768600"/>
            <a:ext cx="7429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접수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처리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속도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관련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불편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51700" y="3352800"/>
            <a:ext cx="84074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요청을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접수한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처리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진행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상황을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확인하기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어려워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답답했으며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작업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완료까지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예상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소요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시간을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사전에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있었으면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좋겠습니다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3403600" y="4622800"/>
            <a:ext cx="12865100" cy="2019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251700" y="4991100"/>
            <a:ext cx="7429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지점별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서비스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편차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관련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불편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51700" y="5575300"/>
            <a:ext cx="88519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지점마다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안내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방식과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절차가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달라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동일한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서비스를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받는다는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느낌이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부족했고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,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기준이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통일되었으면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좋겠습니다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3403600" y="6845300"/>
            <a:ext cx="12865100" cy="2019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901700"/>
            <a:ext cx="863600" cy="863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2540000"/>
            <a:ext cx="3810000" cy="1752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19300" y="4762500"/>
            <a:ext cx="3810000" cy="17526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19300" y="6972300"/>
            <a:ext cx="3810000" cy="1752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7251700" y="7200900"/>
            <a:ext cx="74295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시스템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커뮤니케이션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관련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불편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51700" y="7785100"/>
            <a:ext cx="8128000" cy="736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예약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변경이나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문의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시스템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사용이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복잡하고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응답이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늦어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불편했으며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,</a:t>
            </a:r>
          </a:p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보다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간편한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온라인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소통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채널이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필요하다고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느꼈습니다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61100" y="2755900"/>
            <a:ext cx="647700" cy="4445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324600" y="2819400"/>
            <a:ext cx="533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NanumSquare ExtraBold"/>
              </a:rPr>
              <a:t>01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61100" y="4978400"/>
            <a:ext cx="647700" cy="4445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6324600" y="5041900"/>
            <a:ext cx="533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NanumSquare ExtraBold"/>
              </a:rPr>
              <a:t>02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261100" y="7200900"/>
            <a:ext cx="647700" cy="4445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6324600" y="7251700"/>
            <a:ext cx="533400" cy="34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 spc="-100">
                <a:solidFill>
                  <a:srgbClr val="FFFFFF"/>
                </a:solidFill>
                <a:latin typeface="NanumSquare ExtraBold"/>
              </a:rPr>
              <a:t>03</a:t>
            </a:r>
          </a:p>
        </p:txBody>
      </p: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092200" y="5588000"/>
            <a:ext cx="2768600" cy="208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7099300" y="5588000"/>
            <a:ext cx="2768600" cy="208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시스템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필요사항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System Requirements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990600"/>
            <a:ext cx="647700" cy="622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활용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기술과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시스템을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적용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효과를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설득력이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강화됩니다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3900" y="8242300"/>
            <a:ext cx="143129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총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예상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투자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비용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X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억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,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예상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구축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기간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N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개월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,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전담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인력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00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명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충원</a:t>
            </a:r>
            <a:r>
              <a:rPr lang="en-US" sz="30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000" b="false" i="false" u="none" strike="noStrike" spc="-100">
                <a:solidFill>
                  <a:srgbClr val="325ADC"/>
                </a:solidFill>
                <a:ea typeface="NanumSquare Bold"/>
              </a:rPr>
              <a:t>필요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1811000" y="2489200"/>
            <a:ext cx="52959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 rot="0">
            <a:off x="1066800" y="2489200"/>
            <a:ext cx="88011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1092200" y="3378200"/>
            <a:ext cx="2768600" cy="2082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568700" y="2565400"/>
            <a:ext cx="3784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활용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가능한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시스템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79400" y="2565400"/>
            <a:ext cx="29718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필요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사항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300" y="39497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7099300" y="3378200"/>
            <a:ext cx="2768600" cy="2082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4089400" y="5588000"/>
            <a:ext cx="2768600" cy="2082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4089400" y="3378200"/>
            <a:ext cx="2768600" cy="2082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381500" y="39497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예약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및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접수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91400" y="39497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작업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4300" y="61595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매출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정산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0" y="61595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내용을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1400" y="61595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내용을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373100" y="3314700"/>
            <a:ext cx="22479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외부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인력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충원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91400" y="39497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작업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1811000" y="3937000"/>
            <a:ext cx="2578100" cy="15240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2115800" y="4229100"/>
            <a:ext cx="19812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AI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앱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전문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기술자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alphaModFix amt="30000"/>
          </a:blip>
          <a:stretch>
            <a:fillRect/>
          </a:stretch>
        </p:blipFill>
        <p:spPr>
          <a:xfrm rot="0">
            <a:off x="14541500" y="3937000"/>
            <a:ext cx="2578100" cy="1524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4833600" y="4229100"/>
            <a:ext cx="19812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신규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인력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 rot="0">
            <a:off x="11811000" y="5588000"/>
            <a:ext cx="5295900" cy="2082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337800" y="5346700"/>
            <a:ext cx="939800" cy="127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337800" y="5626100"/>
            <a:ext cx="939800" cy="1270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3373100" y="5930900"/>
            <a:ext cx="2171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추가</a:t>
            </a:r>
            <a:r>
              <a:rPr lang="en-US" sz="27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700" b="false" i="false" u="none" strike="noStrike" spc="-200">
                <a:solidFill>
                  <a:srgbClr val="595959"/>
                </a:solidFill>
                <a:ea typeface="NanumSquare Bold"/>
              </a:rPr>
              <a:t>예산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030200" y="6400800"/>
            <a:ext cx="28702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325ADC"/>
                </a:solidFill>
                <a:latin typeface="NanumSquare ExtraBold"/>
              </a:rPr>
              <a:t>00</a:t>
            </a:r>
            <a:r>
              <a:rPr lang="ko-KR" sz="3000" b="false" i="false" u="none" strike="noStrike">
                <a:solidFill>
                  <a:srgbClr val="325ADC"/>
                </a:solidFill>
                <a:ea typeface="NanumSquare ExtraBold"/>
              </a:rPr>
              <a:t>억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0800" y="4622800"/>
            <a:ext cx="11811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기존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시스템</a:t>
            </a:r>
          </a:p>
          <a:p>
            <a:pPr algn="ctr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피드백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제공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10800" y="5943600"/>
            <a:ext cx="11811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</a:p>
          <a:p>
            <a:pPr algn="ctr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조직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역할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Org &amp; Roles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914400"/>
            <a:ext cx="774700" cy="774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조직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역할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분담을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명시하세요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자료와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사례를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조직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타당성을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보여줄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92200" y="2552700"/>
            <a:ext cx="3759200" cy="619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079500" y="2552700"/>
            <a:ext cx="3771900" cy="228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38300" y="6096000"/>
            <a:ext cx="2667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전략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기획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조직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7500" y="7340600"/>
            <a:ext cx="2806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전략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성장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수립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기준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설정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프로젝트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분석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94000" y="6845300"/>
            <a:ext cx="3556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52600" y="3213100"/>
            <a:ext cx="2425700" cy="242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5207000" y="2552700"/>
            <a:ext cx="3759200" cy="6197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5207000" y="2552700"/>
            <a:ext cx="3771900" cy="2286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5486400" y="6096000"/>
            <a:ext cx="3213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운영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매장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관리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2300" y="7340600"/>
            <a:ext cx="2806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매장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품질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유지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프로세스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총괄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표준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프로세스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적용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908800" y="6845300"/>
            <a:ext cx="355600" cy="38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880100" y="3213100"/>
            <a:ext cx="2425700" cy="2425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9334500" y="2552700"/>
            <a:ext cx="3759200" cy="6197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9321800" y="2552700"/>
            <a:ext cx="3771900" cy="228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880600" y="6096000"/>
            <a:ext cx="2667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시스템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자동화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29800" y="7340600"/>
            <a:ext cx="2806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23600" y="6845300"/>
            <a:ext cx="355600" cy="38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94900" y="3213100"/>
            <a:ext cx="2425700" cy="2425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3449300" y="2552700"/>
            <a:ext cx="3759200" cy="6197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13436600" y="2552700"/>
            <a:ext cx="3771900" cy="228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3995400" y="6096000"/>
            <a:ext cx="2667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고객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품질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관리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44600" y="7340600"/>
            <a:ext cx="2806700" cy="97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입력하세요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51100" y="6845300"/>
            <a:ext cx="355600" cy="38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109700" y="3213100"/>
            <a:ext cx="2425700" cy="24257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조직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역할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Org &amp; Roles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16000" y="914400"/>
            <a:ext cx="774700" cy="774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조직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역할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분담을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명시하세요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객관적인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자료와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사례를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조직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타당성을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보여줄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있습니다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092200" y="4013200"/>
            <a:ext cx="5283200" cy="455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 rot="0">
            <a:off x="4025900" y="2616200"/>
            <a:ext cx="10236200" cy="92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5257800"/>
            <a:ext cx="4495800" cy="83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6261100"/>
            <a:ext cx="4495800" cy="83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3200" y="7264400"/>
            <a:ext cx="4495800" cy="8382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184400" y="4495800"/>
            <a:ext cx="3086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전략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기획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48300" y="2857500"/>
            <a:ext cx="7404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미리오토케어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조직위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6900" y="54737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전략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성장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수립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66900" y="64897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기준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설정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6900" y="74930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프로젝트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분석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 rot="0">
            <a:off x="6502400" y="4013200"/>
            <a:ext cx="5283200" cy="4559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96100" y="5257800"/>
            <a:ext cx="4495800" cy="838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96100" y="6261100"/>
            <a:ext cx="4495800" cy="838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594600" y="4495800"/>
            <a:ext cx="3086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시스템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자동화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77100" y="54737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수집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분석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환경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구축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51700" y="6489700"/>
            <a:ext cx="3810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내부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시스템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안정성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관리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1925300" y="4013200"/>
            <a:ext cx="5283200" cy="4559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0" y="5257800"/>
            <a:ext cx="4495800" cy="838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0" y="6261100"/>
            <a:ext cx="4495800" cy="83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0" y="7264400"/>
            <a:ext cx="4495800" cy="8382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08400" y="3784600"/>
            <a:ext cx="10883900" cy="25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915400" y="3759200"/>
            <a:ext cx="469900" cy="25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4439900" y="3886200"/>
            <a:ext cx="241300" cy="25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606800" y="3898900"/>
            <a:ext cx="241300" cy="254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3030200" y="4495800"/>
            <a:ext cx="3086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고객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품질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관리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부서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00000" y="54737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입력하세요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00000" y="64897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입력하세요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700000" y="7493000"/>
            <a:ext cx="37338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Bold"/>
              </a:rPr>
              <a:t>입력하세요</a:t>
            </a:r>
          </a:p>
        </p:txBody>
      </p:sp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1104900" y="2768600"/>
            <a:ext cx="7835900" cy="1943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리스크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관리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Risk &amp; Management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4900" y="1143000"/>
            <a:ext cx="596900" cy="317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리스크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요인과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대응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검증된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위험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관리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계획의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높입니다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2768600"/>
            <a:ext cx="2260600" cy="194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9321800" y="2768600"/>
            <a:ext cx="7886700" cy="1943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75700" y="3441700"/>
            <a:ext cx="749300" cy="5842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43000" y="32639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주요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리스크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29100" y="32639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29100" y="3848100"/>
            <a:ext cx="4229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8400" y="3327400"/>
            <a:ext cx="67183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리스크에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대응할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구체적이고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체계적으로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1092200" y="4826000"/>
            <a:ext cx="7835900" cy="1943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4826000"/>
            <a:ext cx="2260600" cy="1943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9309100" y="4826000"/>
            <a:ext cx="7886700" cy="1943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5499100"/>
            <a:ext cx="749300" cy="5842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30300" y="53213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주요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리스크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  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29100" y="53848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29100" y="5905500"/>
            <a:ext cx="4229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045700" y="5384800"/>
            <a:ext cx="67183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리스크에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대응할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구체적이고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체계적으로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1092200" y="6896100"/>
            <a:ext cx="7835900" cy="1943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" y="6896100"/>
            <a:ext cx="2260600" cy="1943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9309100" y="6896100"/>
            <a:ext cx="7886700" cy="1943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7569200"/>
            <a:ext cx="749300" cy="584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30300" y="7404100"/>
            <a:ext cx="2171700" cy="965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주요</a:t>
            </a:r>
          </a:p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Bold"/>
              </a:rPr>
              <a:t>리스크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Bold"/>
              </a:rPr>
              <a:t>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29100" y="74041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29100" y="7988300"/>
            <a:ext cx="42291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45700" y="7454900"/>
            <a:ext cx="67183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리스크에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대응할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구체적이고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체계적으로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운영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효율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전략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Efficiency Strategy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901700"/>
            <a:ext cx="787400" cy="787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22800" y="4165600"/>
            <a:ext cx="12484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92800" y="5524500"/>
            <a:ext cx="112141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985000" y="7023100"/>
            <a:ext cx="10134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3900" y="8750300"/>
            <a:ext cx="101346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79500" y="2616200"/>
            <a:ext cx="7175500" cy="6159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702300" y="2933700"/>
            <a:ext cx="762000" cy="76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597900" y="7467600"/>
            <a:ext cx="762000" cy="762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67500" y="4419600"/>
            <a:ext cx="762000" cy="762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32700" y="5854700"/>
            <a:ext cx="762000" cy="762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효율화를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위한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접근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사실적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실행의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신뢰도를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높이고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설득력을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강화합니다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1800" y="2857500"/>
            <a:ext cx="582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협업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커뮤니케이션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1800" y="3314700"/>
            <a:ext cx="89789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부서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지점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실시간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협업이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가능한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환경을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구축하여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정보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공유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속도와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의사결정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효율을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대폭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향상</a:t>
            </a:r>
          </a:p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원활한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커뮤니케이션을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통해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업무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누락과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지연을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최소화하고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실행력을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강화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85100" y="4343400"/>
            <a:ext cx="582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데이터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기반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의사결정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85100" y="4813300"/>
            <a:ext cx="73787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과정에서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축적되는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데이터를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체계적으로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분석하여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의사결정의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정확성과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신뢰도를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향상</a:t>
            </a:r>
          </a:p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예측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및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포인트를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사전에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도출함으로써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선제적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관리가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가능하도록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고도화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88400" y="5778500"/>
            <a:ext cx="582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표준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프로세스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정립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준수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88400" y="6235700"/>
            <a:ext cx="65913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자리에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효율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전략의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목표를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자리에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개선하고자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하는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요소와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방향을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간략히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1700" y="7391400"/>
            <a:ext cx="582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성과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지표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및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관리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체계</a:t>
            </a:r>
            <a:r>
              <a:rPr lang="en-US" sz="20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000" b="false" i="false" u="none" strike="noStrike" spc="-100">
                <a:solidFill>
                  <a:srgbClr val="325ADC"/>
                </a:solidFill>
                <a:ea typeface="NanumSquare ExtraBold"/>
              </a:rPr>
              <a:t>구축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1700" y="7848600"/>
            <a:ext cx="65913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자리에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운영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효율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전략의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목표를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자리에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개선하고자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하는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요소와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방향을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간략히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6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16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39878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성과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지표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2545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Key Performance Indicators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1400" y="1041400"/>
            <a:ext cx="635000" cy="533400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79500" y="5994400"/>
          <a:ext cx="16129000" cy="2857500"/>
        </p:xfrm>
        <a:graphic>
          <a:graphicData uri="http://schemas.openxmlformats.org/drawingml/2006/table">
            <a:tbl>
              <a:tblPr/>
              <a:tblGrid>
                <a:gridCol w="2984500"/>
                <a:gridCol w="4381500"/>
                <a:gridCol w="4381500"/>
                <a:gridCol w="4381500"/>
              </a:tblGrid>
              <a:tr h="711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 spc="-200">
                          <a:solidFill>
                            <a:srgbClr val="FFFFFF"/>
                          </a:solidFill>
                          <a:latin typeface="NanumSquare ExtraBold"/>
                        </a:rPr>
                        <a:t>KPI 1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595959"/>
                          </a:solidFill>
                          <a:latin typeface="NanumSquare Bold"/>
                        </a:rPr>
                        <a:t>00,000</a:t>
                      </a:r>
                      <a:r>
                        <a:rPr lang="ko-KR" sz="2200" b="false" i="false" u="none" strike="noStrike" spc="-100">
                          <a:solidFill>
                            <a:srgbClr val="595959"/>
                          </a:solidFill>
                          <a:ea typeface="NanumSquare Bold"/>
                        </a:rPr>
                        <a:t>명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595959"/>
                          </a:solidFill>
                          <a:latin typeface="NanumSquare Bold"/>
                        </a:rPr>
                        <a:t>00,000</a:t>
                      </a:r>
                      <a:r>
                        <a:rPr lang="ko-KR" sz="2200" b="false" i="false" u="none" strike="noStrike" spc="-100">
                          <a:solidFill>
                            <a:srgbClr val="595959"/>
                          </a:solidFill>
                          <a:ea typeface="NanumSquare Bold"/>
                        </a:rPr>
                        <a:t>명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595959"/>
                          </a:solidFill>
                          <a:latin typeface="NanumSquare Bold"/>
                        </a:rPr>
                        <a:t>00,000</a:t>
                      </a:r>
                      <a:r>
                        <a:rPr lang="ko-KR" sz="2200" b="false" i="false" u="none" strike="noStrike" spc="-100">
                          <a:solidFill>
                            <a:srgbClr val="595959"/>
                          </a:solidFill>
                          <a:ea typeface="NanumSquare Bold"/>
                        </a:rPr>
                        <a:t>명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 spc="-200">
                          <a:solidFill>
                            <a:srgbClr val="FFFFFF"/>
                          </a:solidFill>
                          <a:latin typeface="NanumSquare ExtraBold"/>
                        </a:rPr>
                        <a:t>KPI 2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00%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00%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00%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 spc="-200">
                          <a:solidFill>
                            <a:srgbClr val="FFFFFF"/>
                          </a:solidFill>
                          <a:latin typeface="NanumSquare ExtraBold"/>
                        </a:rPr>
                        <a:t>KPI 3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억원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억원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억원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400" b="false" i="false" u="none" strike="noStrike" spc="-200">
                          <a:solidFill>
                            <a:srgbClr val="FFFFFF"/>
                          </a:solidFill>
                          <a:latin typeface="NanumSquare ExtraBold"/>
                        </a:rPr>
                        <a:t>KPI 4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건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건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건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프로젝트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측정할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핵심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지표를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명확히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KPI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목표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달성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여부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판단에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중요한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0">
            <a:off x="4114800" y="5207000"/>
            <a:ext cx="42418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823200" y="5359400"/>
            <a:ext cx="203200" cy="368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483100" y="5321300"/>
            <a:ext cx="3517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FFFFFF"/>
                </a:solidFill>
                <a:latin typeface="NanumSquare ExtraBold"/>
              </a:rPr>
              <a:t>20XX</a:t>
            </a:r>
            <a:r>
              <a:rPr lang="ko-KR" sz="2700" b="false" i="false" u="none" strike="noStrike">
                <a:solidFill>
                  <a:srgbClr val="FFFFFF"/>
                </a:solidFill>
                <a:ea typeface="NanumSquare ExtraBold"/>
              </a:rPr>
              <a:t>년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0">
            <a:off x="8509000" y="5207000"/>
            <a:ext cx="4241800" cy="685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17400" y="5359400"/>
            <a:ext cx="203200" cy="3683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877300" y="5321300"/>
            <a:ext cx="3517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FFFFFF"/>
                </a:solidFill>
                <a:latin typeface="NanumSquare ExtraBold"/>
              </a:rPr>
              <a:t>20XX</a:t>
            </a:r>
            <a:r>
              <a:rPr lang="ko-KR" sz="2700" b="false" i="false" u="none" strike="noStrike">
                <a:solidFill>
                  <a:srgbClr val="FFFFFF"/>
                </a:solidFill>
                <a:ea typeface="NanumSquare ExtraBold"/>
              </a:rPr>
              <a:t>년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rot="0">
            <a:off x="12903200" y="5207000"/>
            <a:ext cx="4241800" cy="685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598900" y="5359400"/>
            <a:ext cx="2032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 rot="0">
            <a:off x="4114800" y="3683000"/>
            <a:ext cx="4241800" cy="1371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8509000" y="3352800"/>
            <a:ext cx="4241800" cy="17018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 rot="0">
            <a:off x="12903200" y="2933700"/>
            <a:ext cx="4216400" cy="2120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alphaModFix amt="47000"/>
          </a:blip>
          <a:stretch>
            <a:fillRect/>
          </a:stretch>
        </p:blipFill>
        <p:spPr>
          <a:xfrm rot="-780000">
            <a:off x="7785100" y="3200400"/>
            <a:ext cx="660400" cy="431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alphaModFix amt="47000"/>
          </a:blip>
          <a:stretch>
            <a:fillRect/>
          </a:stretch>
        </p:blipFill>
        <p:spPr>
          <a:xfrm rot="-780000">
            <a:off x="12179300" y="2870200"/>
            <a:ext cx="660400" cy="431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3258800" y="5321300"/>
            <a:ext cx="3517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FFFFFF"/>
                </a:solidFill>
                <a:latin typeface="NanumSquare ExtraBold"/>
              </a:rPr>
              <a:t>20XX</a:t>
            </a:r>
            <a:r>
              <a:rPr lang="ko-KR" sz="2700" b="false" i="false" u="none" strike="noStrike">
                <a:solidFill>
                  <a:srgbClr val="FFFFFF"/>
                </a:solidFill>
                <a:ea typeface="NanumSquare ExtraBold"/>
              </a:rPr>
              <a:t>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81500" y="3975100"/>
            <a:ext cx="37211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실적을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예상하고</a:t>
            </a:r>
          </a:p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그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결론을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요약합시다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17000" y="3810000"/>
            <a:ext cx="32258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실적을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예상하고</a:t>
            </a:r>
          </a:p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그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결론을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요약합시다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96900" y="3606800"/>
            <a:ext cx="34036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실적을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예상하고</a:t>
            </a:r>
          </a:p>
          <a:p>
            <a:pPr algn="ctr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그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결론을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>
                <a:solidFill>
                  <a:srgbClr val="595959"/>
                </a:solidFill>
                <a:ea typeface="NanumSquare Bold"/>
              </a:rPr>
              <a:t>요약합시다</a:t>
            </a:r>
            <a:r>
              <a:rPr lang="en-US" sz="22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0">
            <a:off x="1079500" y="2781300"/>
            <a:ext cx="5422900" cy="6248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6743700" y="2781300"/>
            <a:ext cx="5105400" cy="3035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2065000" y="2781300"/>
            <a:ext cx="5105400" cy="3035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6743700" y="5994400"/>
            <a:ext cx="5105400" cy="3035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0">
            <a:off x="12065000" y="5994400"/>
            <a:ext cx="5105400" cy="303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79800" y="4305300"/>
            <a:ext cx="609600" cy="60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51000" y="6299200"/>
            <a:ext cx="546100" cy="45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080500" y="6337300"/>
            <a:ext cx="4318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62100" y="3086100"/>
            <a:ext cx="711200" cy="711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66200" y="3086100"/>
            <a:ext cx="6477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4900" y="952500"/>
            <a:ext cx="711200" cy="7112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주요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지표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요약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운영성과에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지표를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 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81300" y="5334000"/>
            <a:ext cx="20193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누적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건수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5700" y="5702300"/>
            <a:ext cx="52578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200" b="false" i="false" u="none" strike="noStrike">
                <a:solidFill>
                  <a:srgbClr val="325ADC"/>
                </a:solidFill>
                <a:latin typeface="NanumSquare ExtraBold"/>
              </a:rPr>
              <a:t>12,480</a:t>
            </a:r>
            <a:r>
              <a:rPr lang="ko-KR" sz="3000" b="false" i="false" u="none" strike="noStrike">
                <a:solidFill>
                  <a:srgbClr val="325ADC"/>
                </a:solidFill>
                <a:ea typeface="NanumSquare ExtraBold"/>
              </a:rPr>
              <a:t>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70800" y="4216400"/>
            <a:ext cx="32512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200" b="false" i="false" u="none" strike="noStrike">
                <a:solidFill>
                  <a:srgbClr val="325ADC"/>
                </a:solidFill>
                <a:latin typeface="NanumSquare ExtraBold"/>
              </a:rPr>
              <a:t>82.4</a:t>
            </a:r>
            <a:r>
              <a:rPr lang="en-US" sz="3000" b="false" i="false" u="none" strike="noStrike">
                <a:solidFill>
                  <a:srgbClr val="325ADC"/>
                </a:solidFill>
                <a:latin typeface="NanumSquare ExtraBold"/>
              </a:rPr>
              <a:t>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9600" y="4203700"/>
            <a:ext cx="5143500" cy="107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6000" b="false" i="false" u="none" strike="noStrike">
                <a:solidFill>
                  <a:srgbClr val="325ADC"/>
                </a:solidFill>
                <a:latin typeface="NanumSquare ExtraBold"/>
              </a:rPr>
              <a:t>1</a:t>
            </a:r>
            <a:r>
              <a:rPr lang="ko-KR" sz="3000" b="false" i="false" u="none" strike="noStrike">
                <a:solidFill>
                  <a:srgbClr val="325ADC"/>
                </a:solidFill>
                <a:ea typeface="NanumSquare ExtraBold"/>
              </a:rPr>
              <a:t>억</a:t>
            </a:r>
            <a:r>
              <a:rPr lang="en-US" sz="6000" b="false" i="false" u="none" strike="noStrike">
                <a:solidFill>
                  <a:srgbClr val="325ADC"/>
                </a:solidFill>
                <a:latin typeface="NanumSquare ExtraBold"/>
              </a:rPr>
              <a:t> 50</a:t>
            </a:r>
            <a:r>
              <a:rPr lang="ko-KR" sz="3000" b="false" i="false" u="none" strike="noStrike">
                <a:solidFill>
                  <a:srgbClr val="325ADC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96200" y="7327900"/>
            <a:ext cx="32004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200" b="false" i="false" u="none" strike="noStrike">
                <a:solidFill>
                  <a:srgbClr val="325ADC"/>
                </a:solidFill>
                <a:latin typeface="NanumSquare ExtraBold"/>
              </a:rPr>
              <a:t>4.8/5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03200" y="7327900"/>
            <a:ext cx="3416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200" b="false" i="false" u="none" strike="noStrike">
                <a:solidFill>
                  <a:srgbClr val="325ADC"/>
                </a:solidFill>
                <a:latin typeface="NanumSquare ExtraBold"/>
              </a:rPr>
              <a:t>+73</a:t>
            </a:r>
            <a:r>
              <a:rPr lang="en-US" sz="3000" b="false" i="false" u="none" strike="noStrike">
                <a:solidFill>
                  <a:srgbClr val="325ADC"/>
                </a:solidFill>
                <a:latin typeface="NanumSquare ExtraBold"/>
              </a:rPr>
              <a:t>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93100" y="3822700"/>
            <a:ext cx="201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재방문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비율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14400" y="3822700"/>
            <a:ext cx="201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월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평균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수익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93100" y="6934200"/>
            <a:ext cx="201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만족도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14400" y="6934200"/>
            <a:ext cx="20193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리뷰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수</a:t>
            </a:r>
            <a:r>
              <a:rPr lang="en-US" sz="20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000" b="false" i="false" u="none" strike="noStrike" spc="-100">
                <a:solidFill>
                  <a:srgbClr val="595959"/>
                </a:solidFill>
                <a:ea typeface="NanumSquare Bold"/>
              </a:rPr>
              <a:t>증가율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Summary of Key Indicators</a:t>
            </a:r>
          </a:p>
        </p:txBody>
      </p:sp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7700" y="762000"/>
            <a:ext cx="1117600" cy="1117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30400" y="952500"/>
            <a:ext cx="3581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월간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추이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월간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추이를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Monthly Analysis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2336800"/>
            <a:ext cx="16344900" cy="660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114800" y="4089400"/>
            <a:ext cx="15875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407400" y="6743700"/>
            <a:ext cx="8382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220700" y="5956300"/>
            <a:ext cx="1663700" cy="38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899400" y="7480300"/>
            <a:ext cx="1879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수익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하락</a:t>
            </a:r>
          </a:p>
          <a:p>
            <a:pPr algn="ctr" lvl="0">
              <a:lnSpc>
                <a:spcPct val="116199"/>
              </a:lnSpc>
            </a:pP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장마철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방문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수</a:t>
            </a:r>
          </a:p>
          <a:p>
            <a:pPr algn="ctr" lvl="0">
              <a:lnSpc>
                <a:spcPct val="116199"/>
              </a:lnSpc>
            </a:pP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감소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87800" y="5156200"/>
            <a:ext cx="1879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800" b="false" i="false" u="none" strike="noStrike" spc="-100">
                <a:solidFill>
                  <a:srgbClr val="595959"/>
                </a:solidFill>
                <a:latin typeface="NanumSquare ExtraBold"/>
              </a:rPr>
              <a:t>1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정비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수요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급증</a:t>
            </a:r>
          </a:p>
          <a:p>
            <a:pPr algn="ctr" lvl="0">
              <a:lnSpc>
                <a:spcPct val="116199"/>
              </a:lnSpc>
            </a:pP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겨울철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타이어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,</a:t>
            </a:r>
          </a:p>
          <a:p>
            <a:pPr algn="ctr" lvl="0">
              <a:lnSpc>
                <a:spcPct val="116199"/>
              </a:lnSpc>
            </a:pP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배터리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문제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중심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1800" y="6972300"/>
            <a:ext cx="18796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수익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ExtraBold"/>
              </a:rPr>
              <a:t>증가</a:t>
            </a:r>
          </a:p>
          <a:p>
            <a:pPr algn="ctr" lvl="0">
              <a:lnSpc>
                <a:spcPct val="116199"/>
              </a:lnSpc>
            </a:pP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정비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캠페인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효과로</a:t>
            </a:r>
          </a:p>
          <a:p>
            <a:pPr algn="ctr" lvl="0">
              <a:lnSpc>
                <a:spcPct val="116199"/>
              </a:lnSpc>
            </a:pP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20%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14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400" b="false" i="false" u="none" strike="noStrike" spc="-100">
                <a:solidFill>
                  <a:srgbClr val="595959"/>
                </a:solidFill>
                <a:ea typeface="NanumSquare Bold"/>
              </a:rPr>
              <a:t>증가</a:t>
            </a:r>
          </a:p>
        </p:txBody>
      </p:sp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서비스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유형별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비율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1800" y="990600"/>
            <a:ext cx="108712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유형별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비율을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나타난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서비스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유형의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비중과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주요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특징을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Service Type Ratio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 rot="0">
            <a:off x="8712200" y="2921000"/>
            <a:ext cx="4229100" cy="422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0">
            <a:off x="11899900" y="6680200"/>
            <a:ext cx="1981200" cy="198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3119100" y="2819400"/>
            <a:ext cx="3568700" cy="3568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4160500" y="6705600"/>
            <a:ext cx="1270000" cy="12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716000" y="8242300"/>
            <a:ext cx="647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249400" y="8382000"/>
            <a:ext cx="2032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430500" y="7353300"/>
            <a:ext cx="6858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5925800" y="7531100"/>
            <a:ext cx="3429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79500" y="2667000"/>
            <a:ext cx="6616700" cy="6286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9300" y="762000"/>
            <a:ext cx="1168400" cy="1168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915400" y="4292600"/>
            <a:ext cx="3835400" cy="187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0600" b="false" i="false" u="none" strike="noStrike" spc="-100">
                <a:solidFill>
                  <a:srgbClr val="FFFFFF"/>
                </a:solidFill>
                <a:latin typeface="NanumSquare ExtraBold"/>
              </a:rPr>
              <a:t>48%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00100" y="4178300"/>
            <a:ext cx="2819400" cy="1371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7700" b="false" i="false" u="none" strike="noStrike" spc="-100">
                <a:solidFill>
                  <a:srgbClr val="FFFFFF"/>
                </a:solidFill>
                <a:latin typeface="NanumSquare ExtraBold"/>
              </a:rPr>
              <a:t>27%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41200" y="7366000"/>
            <a:ext cx="16256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4500" b="false" i="false" u="none" strike="noStrike">
                <a:solidFill>
                  <a:srgbClr val="595959"/>
                </a:solidFill>
                <a:latin typeface="NanumSquare ExtraBold"/>
              </a:rPr>
              <a:t>15%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25600" y="7137400"/>
            <a:ext cx="9779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595959"/>
                </a:solidFill>
                <a:latin typeface="NanumSquare ExtraBold"/>
              </a:rPr>
              <a:t>10%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8200" y="3721100"/>
            <a:ext cx="22098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FFFFFF"/>
                </a:solidFill>
                <a:ea typeface="NanumSquare ExtraBold"/>
              </a:rPr>
              <a:t>일반</a:t>
            </a:r>
            <a:r>
              <a:rPr lang="en-US" sz="26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FFFFFF"/>
                </a:solidFill>
                <a:ea typeface="NanumSquare ExtraBold"/>
              </a:rPr>
              <a:t>수리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63600" y="3708400"/>
            <a:ext cx="2679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FFFFFF"/>
                </a:solidFill>
                <a:ea typeface="NanumSquare ExtraBold"/>
              </a:rPr>
              <a:t>엔진</a:t>
            </a:r>
            <a:r>
              <a:rPr lang="en-US" sz="26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FFFFFF"/>
                </a:solidFill>
                <a:ea typeface="NanumSquare ExtraBold"/>
              </a:rPr>
              <a:t>및</a:t>
            </a:r>
            <a:r>
              <a:rPr lang="en-US" sz="26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FFFFFF"/>
                </a:solidFill>
                <a:ea typeface="NanumSquare ExtraBold"/>
              </a:rPr>
              <a:t>브레이크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27100" y="8559800"/>
            <a:ext cx="15748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787878"/>
                </a:solidFill>
                <a:ea typeface="NanumSquare ExtraBold"/>
              </a:rPr>
              <a:t>타이어</a:t>
            </a:r>
            <a:r>
              <a:rPr lang="en-US" sz="1800" b="false" i="false" u="none" strike="noStrike" spc="-100">
                <a:solidFill>
                  <a:srgbClr val="787878"/>
                </a:solidFill>
                <a:latin typeface="NanumSquare ExtraBold"/>
              </a:rPr>
              <a:t>/</a:t>
            </a:r>
            <a:r>
              <a:rPr lang="ko-KR" sz="1800" b="false" i="false" u="none" strike="noStrike" spc="-100">
                <a:solidFill>
                  <a:srgbClr val="787878"/>
                </a:solidFill>
                <a:ea typeface="NanumSquare ExtraBold"/>
              </a:rPr>
              <a:t>배터리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70100" y="7759700"/>
            <a:ext cx="25654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787878"/>
                </a:solidFill>
                <a:ea typeface="NanumSquare ExtraBold"/>
              </a:rPr>
              <a:t>기타</a:t>
            </a:r>
          </a:p>
          <a:p>
            <a:pPr algn="ctr" lvl="0">
              <a:lnSpc>
                <a:spcPct val="116199"/>
              </a:lnSpc>
            </a:pPr>
            <a:r>
              <a:rPr lang="en-US" sz="1400" b="false" i="false" u="none" strike="noStrike" spc="-100">
                <a:solidFill>
                  <a:srgbClr val="787878"/>
                </a:solidFill>
                <a:latin typeface="NanumSquare ExtraBold"/>
              </a:rPr>
              <a:t>(</a:t>
            </a:r>
            <a:r>
              <a:rPr lang="ko-KR" sz="1400" b="false" i="false" u="none" strike="noStrike" spc="-100">
                <a:solidFill>
                  <a:srgbClr val="787878"/>
                </a:solidFill>
                <a:ea typeface="NanumSquare ExtraBold"/>
              </a:rPr>
              <a:t>세차</a:t>
            </a:r>
            <a:r>
              <a:rPr lang="en-US" sz="1400" b="false" i="false" u="none" strike="noStrike" spc="-100">
                <a:solidFill>
                  <a:srgbClr val="787878"/>
                </a:solidFill>
                <a:latin typeface="NanumSquare ExtraBold"/>
              </a:rPr>
              <a:t>, </a:t>
            </a:r>
            <a:r>
              <a:rPr lang="ko-KR" sz="1400" b="false" i="false" u="none" strike="noStrike" spc="-100">
                <a:solidFill>
                  <a:srgbClr val="787878"/>
                </a:solidFill>
                <a:ea typeface="NanumSquare ExtraBold"/>
              </a:rPr>
              <a:t>경정비</a:t>
            </a:r>
            <a:r>
              <a:rPr lang="en-US" sz="1400" b="false" i="false" u="none" strike="noStrike" spc="-100">
                <a:solidFill>
                  <a:srgbClr val="787878"/>
                </a:solidFill>
                <a:latin typeface="NanumSquare ExtraBold"/>
              </a:rPr>
              <a:t> </a:t>
            </a:r>
            <a:r>
              <a:rPr lang="ko-KR" sz="1400" b="false" i="false" u="none" strike="noStrike" spc="-100">
                <a:solidFill>
                  <a:srgbClr val="787878"/>
                </a:solidFill>
                <a:ea typeface="NanumSquare ExtraBold"/>
              </a:rPr>
              <a:t>등</a:t>
            </a:r>
            <a:r>
              <a:rPr lang="en-US" sz="1400" b="false" i="false" u="none" strike="noStrike" spc="-100">
                <a:solidFill>
                  <a:srgbClr val="787878"/>
                </a:solidFill>
                <a:latin typeface="NanumSquare ExtraBold"/>
              </a:rPr>
              <a:t>)</a:t>
            </a:r>
          </a:p>
        </p:txBody>
      </p: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수익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구조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상세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수익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표에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나타난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월평균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수익과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비중과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점유율을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참고하여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Revenue Structure Analysis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79500" y="2552700"/>
          <a:ext cx="16129000" cy="6261100"/>
        </p:xfrm>
        <a:graphic>
          <a:graphicData uri="http://schemas.openxmlformats.org/drawingml/2006/table">
            <a:tbl>
              <a:tblPr/>
              <a:tblGrid>
                <a:gridCol w="3987800"/>
                <a:gridCol w="6769100"/>
                <a:gridCol w="5372100"/>
              </a:tblGrid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400" b="false" i="false" u="none" strike="noStrike" spc="-200">
                          <a:solidFill>
                            <a:srgbClr val="FFFFFF"/>
                          </a:solidFill>
                          <a:ea typeface="NanumSquare ExtraBold"/>
                        </a:rPr>
                        <a:t>항목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400" b="false" i="false" u="none" strike="noStrike" spc="-200">
                          <a:solidFill>
                            <a:srgbClr val="FFFFFF"/>
                          </a:solidFill>
                          <a:ea typeface="NanumSquare ExtraBold"/>
                        </a:rPr>
                        <a:t>월평균</a:t>
                      </a:r>
                      <a:r>
                        <a:rPr lang="en-US" sz="2400" b="false" i="false" u="none" strike="noStrike" spc="-200">
                          <a:solidFill>
                            <a:srgbClr val="FFFFFF"/>
                          </a:solidFill>
                          <a:latin typeface="NanumSquare ExtraBold"/>
                        </a:rPr>
                        <a:t> </a:t>
                      </a:r>
                      <a:r>
                        <a:rPr lang="ko-KR" sz="2400" b="false" i="false" u="none" strike="noStrike" spc="-200">
                          <a:solidFill>
                            <a:srgbClr val="FFFFFF"/>
                          </a:solidFill>
                          <a:ea typeface="NanumSquare ExtraBold"/>
                        </a:rPr>
                        <a:t>수익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400" b="false" i="false" u="none" strike="noStrike" spc="-200">
                          <a:solidFill>
                            <a:srgbClr val="FFFFFF"/>
                          </a:solidFill>
                          <a:ea typeface="NanumSquare ExtraBold"/>
                        </a:rPr>
                        <a:t>점유율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5ADC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일반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수리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32%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사고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수리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 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42%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부가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서비스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17%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부품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판매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9%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세차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서비스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12%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렌터카</a:t>
                      </a: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 </a:t>
                      </a: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서비스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 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5%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 spc="-100">
                          <a:solidFill>
                            <a:srgbClr val="787878"/>
                          </a:solidFill>
                          <a:ea typeface="NanumSquare Bold"/>
                        </a:rPr>
                        <a:t>기타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787878"/>
                          </a:solidFill>
                          <a:latin typeface="NanumSquare Bold"/>
                        </a:rPr>
                        <a:t>0,000</a:t>
                      </a:r>
                      <a:r>
                        <a:rPr lang="ko-KR" sz="2200" b="false" i="false" u="none" strike="noStrike">
                          <a:solidFill>
                            <a:srgbClr val="787878"/>
                          </a:solidFill>
                          <a:ea typeface="NanumSquare Bold"/>
                        </a:rPr>
                        <a:t>만원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2200" b="false" i="false" u="none" strike="noStrike" spc="-100">
                          <a:solidFill>
                            <a:srgbClr val="787878"/>
                          </a:solidFill>
                          <a:latin typeface="NanumSquare Bold"/>
                        </a:rPr>
                        <a:t>7%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65200" y="1041400"/>
            <a:ext cx="736600" cy="5588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수익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구조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상세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분석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수익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구조를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표에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나타난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월평균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수익과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비중과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점유율을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참고하여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Revenue Structure Analysis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11300" y="3251200"/>
            <a:ext cx="165100" cy="16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09600" y="3352800"/>
            <a:ext cx="203200" cy="20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09600" y="5295900"/>
            <a:ext cx="203200" cy="20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547100" y="3416300"/>
            <a:ext cx="47625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422900" y="3111500"/>
            <a:ext cx="3492500" cy="5422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159000" y="5816600"/>
            <a:ext cx="34925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648700" y="5334000"/>
            <a:ext cx="3492500" cy="318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8420100"/>
            <a:ext cx="11518900" cy="50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27100" y="800100"/>
            <a:ext cx="914400" cy="914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792200" y="3263900"/>
            <a:ext cx="3276600" cy="297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상위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2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개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지점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모두</a:t>
            </a:r>
          </a:p>
          <a:p>
            <a:pPr algn="l" lvl="0">
              <a:lnSpc>
                <a:spcPct val="116199"/>
              </a:lnSpc>
            </a:pPr>
            <a:r>
              <a:rPr lang="ko-KR" sz="3100" b="false" i="false" u="none" strike="noStrike" spc="-200">
                <a:solidFill>
                  <a:srgbClr val="595959"/>
                </a:solidFill>
                <a:ea typeface="NanumSquare ExtraBold"/>
              </a:rPr>
              <a:t>광고</a:t>
            </a:r>
            <a:r>
              <a:rPr lang="en-US" sz="3100" b="false" i="false" u="none" strike="noStrike" spc="-2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595959"/>
                </a:solidFill>
                <a:ea typeface="NanumSquare ExtraBold"/>
              </a:rPr>
              <a:t>캠페인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병행</a:t>
            </a:r>
          </a:p>
          <a:p>
            <a:pPr algn="l" lvl="0">
              <a:lnSpc>
                <a:spcPct val="116199"/>
              </a:lnSpc>
            </a:pP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전년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대비</a:t>
            </a:r>
          </a:p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매출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600" b="false" i="false" u="none" strike="noStrike" spc="-200">
                <a:solidFill>
                  <a:srgbClr val="595959"/>
                </a:solidFill>
                <a:ea typeface="NanumSquare Bold"/>
              </a:rPr>
              <a:t>상승폭</a:t>
            </a:r>
            <a:r>
              <a:rPr lang="en-US" sz="2600" b="false" i="false" u="none" strike="noStrike" spc="-2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3300" b="false" i="false" u="none" strike="noStrike" spc="-200">
                <a:solidFill>
                  <a:srgbClr val="595959"/>
                </a:solidFill>
                <a:ea typeface="NanumSquare ExtraBold"/>
              </a:rPr>
              <a:t>평균</a:t>
            </a:r>
            <a:r>
              <a:rPr lang="en-US" sz="3300" b="false" i="false" u="none" strike="noStrike" spc="-200">
                <a:solidFill>
                  <a:srgbClr val="595959"/>
                </a:solidFill>
                <a:latin typeface="NanumSquare ExtraBold"/>
              </a:rPr>
              <a:t> 18%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24700" y="32131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595959"/>
                </a:solidFill>
                <a:latin typeface="NanumSquare ExtraBold"/>
              </a:rPr>
              <a:t>1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ExtraBold"/>
              </a:rPr>
              <a:t>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86400" y="38735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595959"/>
                </a:solidFill>
                <a:latin typeface="NanumSquare ExtraBold"/>
              </a:rPr>
              <a:t>2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ExtraBold"/>
              </a:rPr>
              <a:t>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37600" y="48260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3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35400" y="53213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4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50500" y="58293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5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2500" y="65659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6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71700" y="85344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1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35400" y="85344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1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10200" y="85344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325ADC"/>
                </a:solidFill>
                <a:ea typeface="NanumSquare ExtraBold"/>
              </a:rPr>
              <a:t>비즈점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73900" y="85344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325ADC"/>
                </a:solidFill>
                <a:ea typeface="NanumSquare ExtraBold"/>
              </a:rPr>
              <a:t>미리점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01100" y="85598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스마일점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64800" y="8559800"/>
            <a:ext cx="1714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C2C2C2"/>
                </a:solidFill>
                <a:latin typeface="NanumSquare ExtraBold"/>
              </a:rPr>
              <a:t>1</a:t>
            </a:r>
            <a:r>
              <a:rPr lang="ko-KR" sz="2200" b="false" i="false" u="none" strike="noStrike" spc="-100">
                <a:solidFill>
                  <a:srgbClr val="C2C2C2"/>
                </a:solidFill>
                <a:ea typeface="NanumSquare ExtraBold"/>
              </a:rPr>
              <a:t>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80300" y="52451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892800" y="56134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05900" y="60198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18800" y="69596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1800" y="65659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16200" y="7493000"/>
            <a:ext cx="1016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461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NanumSquare ExtraBold"/>
              </a:rPr>
              <a:t>000</a:t>
            </a:r>
          </a:p>
          <a:p>
            <a:pPr algn="ctr" lvl="0">
              <a:lnSpc>
                <a:spcPct val="9461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NanumSquare ExtraBold"/>
              </a:rPr>
              <a:t>만원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90700" y="3213100"/>
            <a:ext cx="25781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700" b="false" i="false" u="none" strike="noStrike" spc="-100">
                <a:solidFill>
                  <a:srgbClr val="595959"/>
                </a:solidFill>
                <a:ea typeface="NanumSquare ExtraBold"/>
              </a:rPr>
              <a:t>전국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Extra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ExtraBold"/>
              </a:rPr>
              <a:t>평균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000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만</a:t>
            </a:r>
            <a:r>
              <a:rPr lang="en-US" sz="17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700" b="false" i="false" u="none" strike="noStrike" spc="-100">
                <a:solidFill>
                  <a:srgbClr val="595959"/>
                </a:solidFill>
                <a:ea typeface="NanumSquare Bold"/>
              </a:rPr>
              <a:t>원</a:t>
            </a:r>
          </a:p>
        </p:txBody>
      </p:sp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지점별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목표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달성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현황을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대해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Target Achievement Status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지점별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목표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 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달성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현황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0">
            <a:off x="4826000" y="8064500"/>
            <a:ext cx="5842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95500" y="3581400"/>
            <a:ext cx="3136900" cy="3556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765800" y="3581400"/>
            <a:ext cx="3136900" cy="355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48800" y="3581400"/>
            <a:ext cx="3136900" cy="355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55600" y="3581400"/>
            <a:ext cx="3136900" cy="3556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7900" y="977900"/>
            <a:ext cx="660400" cy="660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844800" y="7137400"/>
            <a:ext cx="1638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ExtraBold"/>
              </a:rPr>
              <a:t>미리점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2100" y="5080000"/>
            <a:ext cx="16637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0" b="false" i="false" u="none" strike="noStrike">
                <a:solidFill>
                  <a:srgbClr val="787878"/>
                </a:solidFill>
                <a:latin typeface="NanumSquare ExtraBold"/>
              </a:rPr>
              <a:t>138%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89700" y="7137400"/>
            <a:ext cx="1638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ExtraBold"/>
              </a:rPr>
              <a:t>비즈점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89700" y="5080000"/>
            <a:ext cx="16637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0" b="false" i="false" u="none" strike="noStrike">
                <a:solidFill>
                  <a:srgbClr val="787878"/>
                </a:solidFill>
                <a:latin typeface="NanumSquare ExtraBold"/>
              </a:rPr>
              <a:t>126%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0800" y="7162800"/>
            <a:ext cx="1638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ExtraBold"/>
              </a:rPr>
              <a:t>스마일점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72700" y="5080000"/>
            <a:ext cx="16637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0" b="false" i="false" u="none" strike="noStrike">
                <a:solidFill>
                  <a:srgbClr val="787878"/>
                </a:solidFill>
                <a:latin typeface="NanumSquare ExtraBold"/>
              </a:rPr>
              <a:t>117%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04900" y="7162800"/>
            <a:ext cx="1638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ExtraBold"/>
              </a:rPr>
              <a:t>평균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92200" y="5080000"/>
            <a:ext cx="1663700" cy="60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0" b="false" i="false" u="none" strike="noStrike">
                <a:solidFill>
                  <a:srgbClr val="787878"/>
                </a:solidFill>
                <a:latin typeface="NanumSquare ExtraBold"/>
              </a:rPr>
              <a:t>95%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72100" y="8102600"/>
            <a:ext cx="7823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200" b="false" i="false" u="none" strike="noStrike" spc="-100">
                <a:solidFill>
                  <a:srgbClr val="325ADC"/>
                </a:solidFill>
                <a:ea typeface="NanumSquare Bold"/>
              </a:rPr>
              <a:t>상위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Bold"/>
              </a:rPr>
              <a:t>지점은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ExtraBold"/>
              </a:rPr>
              <a:t> SNS 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ExtraBold"/>
              </a:rPr>
              <a:t>홍보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ExtraBold"/>
              </a:rPr>
              <a:t>/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ExtraBold"/>
              </a:rPr>
              <a:t>예약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ExtraBold"/>
              </a:rPr>
              <a:t>유입률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ExtraBold"/>
              </a:rPr>
              <a:t>연동</a:t>
            </a:r>
            <a:r>
              <a:rPr lang="en-US" sz="3200" b="false" i="false" u="none" strike="noStrike" spc="-1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200" b="false" i="false" u="none" strike="noStrike" spc="-100">
                <a:solidFill>
                  <a:srgbClr val="325ADC"/>
                </a:solidFill>
                <a:ea typeface="NanumSquare ExtraBold"/>
              </a:rPr>
              <a:t>우수</a:t>
            </a:r>
          </a:p>
        </p:txBody>
      </p: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56500" y="3073400"/>
            <a:ext cx="203200" cy="203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7912100" y="3022600"/>
            <a:ext cx="28829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매출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평균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000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만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ExtraBold"/>
              </a:rPr>
              <a:t>달성률</a:t>
            </a:r>
          </a:p>
        </p:txBody>
      </p: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월간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추이를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Success Stories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우수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지점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이야기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29900" y="2743200"/>
            <a:ext cx="4826000" cy="482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alphaModFix amt="51000"/>
          </a:blip>
          <a:stretch>
            <a:fillRect/>
          </a:stretch>
        </p:blipFill>
        <p:spPr>
          <a:xfrm rot="0">
            <a:off x="2832100" y="3086100"/>
            <a:ext cx="6680200" cy="306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29900" y="2743200"/>
            <a:ext cx="4826000" cy="4826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505200" y="3594100"/>
            <a:ext cx="4445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79500" y="939800"/>
            <a:ext cx="520700" cy="698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046200" y="9004300"/>
            <a:ext cx="3162300" cy="17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07899"/>
              </a:lnSpc>
            </a:pP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* </a:t>
            </a:r>
            <a:r>
              <a:rPr lang="ko-KR" sz="1000" b="false" i="false" u="none" strike="noStrike">
                <a:solidFill>
                  <a:srgbClr val="595959"/>
                </a:solidFill>
                <a:ea typeface="NanumSquare Bold"/>
              </a:rPr>
              <a:t>페이지</a:t>
            </a: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000" b="false" i="false" u="none" strike="noStrike">
                <a:solidFill>
                  <a:srgbClr val="595959"/>
                </a:solidFill>
                <a:ea typeface="NanumSquare Bold"/>
              </a:rPr>
              <a:t>내</a:t>
            </a: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000" b="false" i="false" u="none" strike="noStrike">
                <a:solidFill>
                  <a:srgbClr val="595959"/>
                </a:solidFill>
                <a:ea typeface="NanumSquare Bold"/>
              </a:rPr>
              <a:t>인물사진은</a:t>
            </a: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  </a:t>
            </a:r>
            <a:r>
              <a:rPr lang="ko-KR" sz="1000" b="false" i="false" u="none" strike="noStrike">
                <a:solidFill>
                  <a:srgbClr val="595959"/>
                </a:solidFill>
                <a:ea typeface="NanumSquare Bold"/>
              </a:rPr>
              <a:t>샘플이미지</a:t>
            </a: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000" b="false" i="false" u="none" strike="noStrike">
                <a:solidFill>
                  <a:srgbClr val="595959"/>
                </a:solidFill>
                <a:ea typeface="NanumSquare Bold"/>
              </a:rPr>
              <a:t>입니다</a:t>
            </a:r>
            <a:r>
              <a:rPr lang="en-US" sz="10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16400" y="3556000"/>
            <a:ext cx="47371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예약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앱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활용률을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높이고</a:t>
            </a:r>
          </a:p>
          <a:p>
            <a:pPr algn="l" lvl="0">
              <a:lnSpc>
                <a:spcPct val="124499"/>
              </a:lnSpc>
            </a:pP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퇴근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시간대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집중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운영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전략이</a:t>
            </a:r>
          </a:p>
          <a:p>
            <a:pPr algn="l" lvl="0">
              <a:lnSpc>
                <a:spcPct val="124499"/>
              </a:lnSpc>
            </a:pPr>
            <a:r>
              <a:rPr lang="ko-KR" sz="3100" b="false" i="false" u="none" strike="noStrike" spc="-200">
                <a:solidFill>
                  <a:srgbClr val="325ADC"/>
                </a:solidFill>
                <a:ea typeface="NanumSquare ExtraBold"/>
              </a:rPr>
              <a:t>주효했습니다</a:t>
            </a:r>
            <a:r>
              <a:rPr lang="en-US" sz="31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43300" y="6578600"/>
            <a:ext cx="5613400" cy="175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 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 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이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곳에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인터뷰과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관련된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내용을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Regular"/>
              </a:rPr>
              <a:t>입력해주세요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Regular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22100" y="7924800"/>
            <a:ext cx="27305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9479"/>
              </a:lnSpc>
            </a:pPr>
            <a:r>
              <a:rPr lang="ko-KR" sz="1900" b="false" i="false" u="none" strike="noStrike" spc="-100">
                <a:solidFill>
                  <a:srgbClr val="595959"/>
                </a:solidFill>
                <a:ea typeface="NanumSquare ExtraBold"/>
              </a:rPr>
              <a:t>미리점</a:t>
            </a:r>
          </a:p>
          <a:p>
            <a:pPr algn="ctr" lvl="0">
              <a:lnSpc>
                <a:spcPct val="129479"/>
              </a:lnSpc>
            </a:pPr>
            <a:r>
              <a:rPr lang="ko-KR" sz="2400" b="false" i="false" u="none" strike="noStrike" spc="-200">
                <a:solidFill>
                  <a:srgbClr val="595959"/>
                </a:solidFill>
                <a:ea typeface="NanumSquare Regular"/>
              </a:rPr>
              <a:t>강비즈</a:t>
            </a:r>
            <a:r>
              <a:rPr lang="en-US" sz="2400" b="false" i="false" u="none" strike="noStrike" spc="-200">
                <a:solidFill>
                  <a:srgbClr val="595959"/>
                </a:solidFill>
                <a:latin typeface="NanumSquare Regular"/>
              </a:rPr>
              <a:t> </a:t>
            </a:r>
            <a:r>
              <a:rPr lang="ko-KR" sz="2400" b="false" i="false" u="none" strike="noStrike" spc="-200">
                <a:solidFill>
                  <a:srgbClr val="595959"/>
                </a:solidFill>
                <a:ea typeface="NanumSquare Regular"/>
              </a:rPr>
              <a:t>점장</a:t>
            </a:r>
          </a:p>
        </p:txBody>
      </p:sp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곳에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월간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추이를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분석한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문장이나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짧게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요약해서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작성해주세요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그래프의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수치와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결과를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함께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설명하면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이해하기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쉽습니다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Action Plan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다음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달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실행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계획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079500" y="2616200"/>
            <a:ext cx="3136900" cy="6108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4318000" y="2616200"/>
            <a:ext cx="3136900" cy="6108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7543800" y="2616200"/>
            <a:ext cx="3136900" cy="6108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0782300" y="2616200"/>
            <a:ext cx="3136900" cy="6108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0">
            <a:off x="14020800" y="2616200"/>
            <a:ext cx="3136900" cy="6108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120900" y="4711700"/>
            <a:ext cx="1054100" cy="1054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13300" y="4406900"/>
            <a:ext cx="2120900" cy="166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036800" y="4749800"/>
            <a:ext cx="1092200" cy="97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74500" y="4749800"/>
            <a:ext cx="952500" cy="977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83600" y="4610100"/>
            <a:ext cx="1257300" cy="1257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6300" y="800100"/>
            <a:ext cx="977900" cy="977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57300" y="6997700"/>
            <a:ext cx="2768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예약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시스템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개선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36700" y="7518400"/>
            <a:ext cx="22098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앱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예약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오류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수정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예정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95800" y="6997700"/>
            <a:ext cx="2768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직원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응대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교육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강화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5200" y="7518400"/>
            <a:ext cx="22098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고객불만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응대</a:t>
            </a:r>
          </a:p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프로세스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도입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34300" y="6997700"/>
            <a:ext cx="2768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타겟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광고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캠페인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시작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13700" y="7518400"/>
            <a:ext cx="22098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지역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광고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집행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72800" y="6997700"/>
            <a:ext cx="2768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만족도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조사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 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실시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예정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98600" y="6997700"/>
            <a:ext cx="27686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다음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달</a:t>
            </a:r>
            <a:r>
              <a:rPr lang="en-US" sz="23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300" b="false" i="false" u="none" strike="noStrike" spc="-200">
                <a:solidFill>
                  <a:srgbClr val="325ADC"/>
                </a:solidFill>
                <a:ea typeface="NanumSquare ExtraBold"/>
              </a:rPr>
              <a:t>목표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78000" y="7518400"/>
            <a:ext cx="22098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고객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만족도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+5%p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향상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52200" y="7518400"/>
            <a:ext cx="22098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월간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만족도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조사</a:t>
            </a:r>
            <a:r>
              <a:rPr lang="en-US" sz="18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1800" b="false" i="false" u="none" strike="noStrike" spc="-100">
                <a:solidFill>
                  <a:srgbClr val="595959"/>
                </a:solidFill>
                <a:ea typeface="NanumSquare Bold"/>
              </a:rPr>
              <a:t>실시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38400" y="3581400"/>
            <a:ext cx="406400" cy="381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2324100" y="3086100"/>
            <a:ext cx="6477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595959"/>
                </a:solidFill>
                <a:latin typeface="NanumSquare ExtraBold"/>
              </a:rPr>
              <a:t>01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76900" y="3581400"/>
            <a:ext cx="406400" cy="38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5562600" y="3086100"/>
            <a:ext cx="647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595959"/>
                </a:solidFill>
                <a:latin typeface="NanumSquare ExtraBold"/>
              </a:rPr>
              <a:t>02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15400" y="3581400"/>
            <a:ext cx="406400" cy="381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8788400" y="3086100"/>
            <a:ext cx="647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595959"/>
                </a:solidFill>
                <a:latin typeface="NanumSquare ExtraBold"/>
              </a:rPr>
              <a:t>03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153900" y="3581400"/>
            <a:ext cx="406400" cy="381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2026900" y="3086100"/>
            <a:ext cx="647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595959"/>
                </a:solidFill>
                <a:latin typeface="NanumSquare ExtraBold"/>
              </a:rPr>
              <a:t>04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79700" y="3581400"/>
            <a:ext cx="406400" cy="381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5265400" y="3086100"/>
            <a:ext cx="6477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900" b="false" i="false" u="none" strike="noStrike">
                <a:solidFill>
                  <a:srgbClr val="595959"/>
                </a:solidFill>
                <a:latin typeface="NanumSquare ExtraBold"/>
              </a:rPr>
              <a:t>05</a:t>
            </a:r>
          </a:p>
        </p:txBody>
      </p:sp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40" id="4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확인된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성과와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개선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효과를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근거로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실행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지속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가능한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발전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방안을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구체적으로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Growth Scenarios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952500"/>
            <a:ext cx="38100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향후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추진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방향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92200" y="952500"/>
            <a:ext cx="5334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92200" y="2641600"/>
            <a:ext cx="5334000" cy="6197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6794500" y="2641600"/>
            <a:ext cx="10426700" cy="194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81800" y="2641600"/>
            <a:ext cx="2260600" cy="19431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972300" y="3352800"/>
            <a:ext cx="1892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추진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방향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18700" y="31496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여기에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18700" y="3733800"/>
            <a:ext cx="60325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추진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6794500" y="4762500"/>
            <a:ext cx="10426700" cy="1943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81800" y="4762500"/>
            <a:ext cx="2260600" cy="19431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918700" y="52705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여기에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8700" y="5842000"/>
            <a:ext cx="67818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추진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6794500" y="6896100"/>
            <a:ext cx="10426700" cy="1943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81800" y="6896100"/>
            <a:ext cx="2260600" cy="19431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918700" y="7404100"/>
            <a:ext cx="47117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여기에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내용을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입력해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600" b="false" i="false" u="none" strike="noStrike" spc="-200">
                <a:solidFill>
                  <a:srgbClr val="325ADC"/>
                </a:solidFill>
                <a:ea typeface="NanumSquare ExtraBold"/>
              </a:rPr>
              <a:t>주세요</a:t>
            </a:r>
            <a:r>
              <a:rPr lang="en-US" sz="2600" b="false" i="false" u="none" strike="noStrike" spc="-200">
                <a:solidFill>
                  <a:srgbClr val="325ADC"/>
                </a:solidFill>
                <a:latin typeface="NanumSquare ExtraBold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18700" y="7988300"/>
            <a:ext cx="6489700" cy="368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향후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추진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방향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관련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100" b="false" i="false" u="none" strike="noStrike" spc="-100">
                <a:solidFill>
                  <a:srgbClr val="595959"/>
                </a:solidFill>
                <a:ea typeface="NanumSquare Bold"/>
              </a:rPr>
              <a:t>주세요</a:t>
            </a:r>
            <a:r>
              <a:rPr lang="en-US" sz="21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72300" y="5473700"/>
            <a:ext cx="1892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추진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방향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2300" y="7620000"/>
            <a:ext cx="1892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추진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FFFFFF"/>
                </a:solidFill>
                <a:ea typeface="NanumSquare ExtraBold"/>
              </a:rPr>
              <a:t>방향</a:t>
            </a:r>
            <a:r>
              <a:rPr lang="en-US" sz="2700" b="false" i="false" u="none" strike="noStrike" spc="-200">
                <a:solidFill>
                  <a:srgbClr val="FFFFFF"/>
                </a:solidFill>
                <a:latin typeface="NanumSquare ExtraBold"/>
              </a:rPr>
              <a:t> 3</a:t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781800" y="990600"/>
            <a:ext cx="10452100" cy="850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중장기적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성장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전망과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시나리오를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검증된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자료로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제시하세요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현실적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전망은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전략적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의사결정의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신뢰성을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300" b="false" i="false" u="none" strike="noStrike">
                <a:solidFill>
                  <a:srgbClr val="595959"/>
                </a:solidFill>
                <a:ea typeface="NanumSquare Bold"/>
              </a:rPr>
              <a:t>강화합니다</a:t>
            </a:r>
            <a:r>
              <a:rPr lang="en-US" sz="2300" b="false" i="false" u="none" strike="noStrike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30400" y="1714500"/>
            <a:ext cx="44831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NanumSquare ExtraBold"/>
              </a:rPr>
              <a:t>Growth Scenarios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0400" y="952500"/>
            <a:ext cx="47371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중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·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장기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성장</a:t>
            </a:r>
            <a:r>
              <a:rPr lang="en-US" sz="4000" b="false" i="false" u="none" strike="noStrike" spc="-3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4000" b="false" i="false" u="none" strike="noStrike" spc="-300">
                <a:solidFill>
                  <a:srgbClr val="325ADC"/>
                </a:solidFill>
                <a:ea typeface="NanumSquare ExtraBold"/>
              </a:rPr>
              <a:t>시나리오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9800" y="876300"/>
            <a:ext cx="863600" cy="863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79500" y="2298700"/>
            <a:ext cx="16129000" cy="443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alphaModFix amt="47000"/>
          </a:blip>
          <a:stretch>
            <a:fillRect/>
          </a:stretch>
        </p:blipFill>
        <p:spPr>
          <a:xfrm rot="0">
            <a:off x="2667000" y="6870700"/>
            <a:ext cx="4635500" cy="355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alphaModFix amt="47000"/>
          </a:blip>
          <a:stretch>
            <a:fillRect/>
          </a:stretch>
        </p:blipFill>
        <p:spPr>
          <a:xfrm rot="0">
            <a:off x="7302500" y="6870700"/>
            <a:ext cx="4305300" cy="35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alphaModFix amt="47000"/>
          </a:blip>
          <a:stretch>
            <a:fillRect/>
          </a:stretch>
        </p:blipFill>
        <p:spPr>
          <a:xfrm rot="0">
            <a:off x="11620500" y="6870700"/>
            <a:ext cx="4267200" cy="355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2667000" y="7442200"/>
            <a:ext cx="4711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단기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과제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효과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67000" y="8064500"/>
            <a:ext cx="46990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자동화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·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표준화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확대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,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신규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채널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추가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,</a:t>
            </a:r>
          </a:p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데이터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기반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 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의사결정으로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지속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성장세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53300" y="7442200"/>
            <a:ext cx="3657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중장기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과제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효과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3300" y="8064500"/>
            <a:ext cx="36449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중장기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과제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효과에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20500" y="7442200"/>
            <a:ext cx="3657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중장기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과제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본격</a:t>
            </a:r>
            <a:r>
              <a:rPr lang="en-US" sz="27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700" b="false" i="false" u="none" strike="noStrike" spc="-200">
                <a:solidFill>
                  <a:srgbClr val="325ADC"/>
                </a:solidFill>
                <a:ea typeface="NanumSquare ExtraBold"/>
              </a:rPr>
              <a:t>효과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20500" y="8064500"/>
            <a:ext cx="3644900" cy="77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여기에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본격적인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효과에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대한</a:t>
            </a:r>
          </a:p>
          <a:p>
            <a:pPr algn="l" lvl="0">
              <a:lnSpc>
                <a:spcPct val="116199"/>
              </a:lnSpc>
            </a:pP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내용을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입력해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 </a:t>
            </a:r>
            <a:r>
              <a:rPr lang="ko-KR" sz="2200" b="false" i="false" u="none" strike="noStrike" spc="-100">
                <a:solidFill>
                  <a:srgbClr val="595959"/>
                </a:solidFill>
                <a:ea typeface="NanumSquare Bold"/>
              </a:rPr>
              <a:t>보세요</a:t>
            </a:r>
            <a:r>
              <a:rPr lang="en-US" sz="2200" b="false" i="false" u="none" strike="noStrike" spc="-100">
                <a:solidFill>
                  <a:srgbClr val="595959"/>
                </a:solidFill>
                <a:latin typeface="NanumSquare Bold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12700"/>
            <a:ext cx="183515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9500" y="9334500"/>
            <a:ext cx="16129000" cy="25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032500" y="4851400"/>
            <a:ext cx="6337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900" b="false" i="false" u="none" strike="noStrike" spc="-200">
                <a:solidFill>
                  <a:srgbClr val="325ADC"/>
                </a:solidFill>
                <a:ea typeface="NanumSquare Bold"/>
              </a:rPr>
              <a:t>정비소의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Bold"/>
              </a:rPr>
              <a:t>오늘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Bold"/>
              </a:rPr>
              <a:t>,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고객의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Extra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ExtraBold"/>
              </a:rPr>
              <a:t>내일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Bold"/>
              </a:rPr>
              <a:t>을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Bold"/>
              </a:rPr>
              <a:t> </a:t>
            </a:r>
            <a:r>
              <a:rPr lang="ko-KR" sz="2900" b="false" i="false" u="none" strike="noStrike" spc="-200">
                <a:solidFill>
                  <a:srgbClr val="325ADC"/>
                </a:solidFill>
                <a:ea typeface="NanumSquare Bold"/>
              </a:rPr>
              <a:t>책임집니다</a:t>
            </a:r>
            <a:r>
              <a:rPr lang="en-US" sz="2900" b="false" i="false" u="none" strike="noStrike" spc="-200">
                <a:solidFill>
                  <a:srgbClr val="325ADC"/>
                </a:solidFill>
                <a:latin typeface="NanumSquare Bold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2100" y="5448300"/>
            <a:ext cx="5080000" cy="1447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8100" b="false" i="false" u="none" strike="noStrike" spc="-500">
                <a:solidFill>
                  <a:srgbClr val="325ADC"/>
                </a:solidFill>
                <a:ea typeface="NanumSquare Bold"/>
              </a:rPr>
              <a:t>감사합니다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6600" y="6883400"/>
            <a:ext cx="41021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>
                <a:solidFill>
                  <a:srgbClr val="C2C2C2"/>
                </a:solidFill>
                <a:latin typeface="NanumSquare ExtraBold"/>
              </a:rPr>
              <a:t>Thank you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67300" y="7721600"/>
            <a:ext cx="3797300" cy="698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385300" y="7721600"/>
            <a:ext cx="3848100" cy="698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073900" y="1612900"/>
            <a:ext cx="4140200" cy="3251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892800" y="7823200"/>
            <a:ext cx="21336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3000" b="false" i="false" u="none" strike="noStrike" spc="-200">
                <a:solidFill>
                  <a:srgbClr val="FFFFFF"/>
                </a:solidFill>
                <a:ea typeface="NanumSquare ExtraBold"/>
              </a:rPr>
              <a:t>강미리</a:t>
            </a:r>
            <a:r>
              <a:rPr lang="en-US" sz="3000" b="false" i="false" u="none" strike="noStrike" spc="-200">
                <a:solidFill>
                  <a:srgbClr val="FFFFFF"/>
                </a:solidFill>
                <a:latin typeface="NanumSquare ExtraBold"/>
              </a:rPr>
              <a:t> </a:t>
            </a:r>
            <a:r>
              <a:rPr lang="ko-KR" sz="3000" b="false" i="false" u="none" strike="noStrike" spc="-200">
                <a:solidFill>
                  <a:srgbClr val="FFFFFF"/>
                </a:solidFill>
                <a:ea typeface="NanumSquare ExtraBold"/>
              </a:rPr>
              <a:t>팀장</a:t>
            </a:r>
            <a:r>
              <a:rPr lang="en-US" sz="3000" b="false" i="false" u="none" strike="noStrike" spc="-200">
                <a:solidFill>
                  <a:srgbClr val="FFFFFF"/>
                </a:solidFill>
                <a:latin typeface="NanumSquare ExtraBold"/>
              </a:rPr>
              <a:t>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9000" y="7823200"/>
            <a:ext cx="3048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FFFFFF"/>
                </a:solidFill>
                <a:latin typeface="NanumSquare ExtraBold"/>
              </a:rPr>
              <a:t>000-0000-000</a:t>
            </a:r>
          </a:p>
        </p:txBody>
      </p: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405100" y="9486900"/>
            <a:ext cx="203200" cy="228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659100" y="9486900"/>
            <a:ext cx="1498600" cy="27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500" b="false" i="false" u="none" strike="noStrike">
                <a:solidFill>
                  <a:srgbClr val="325ADC"/>
                </a:solidFill>
                <a:latin typeface="NanumSquareRoundOTF ExtraBold"/>
              </a:rPr>
              <a:t>MIRICOMPANY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