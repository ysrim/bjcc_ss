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JASO Sans Bold" charset="1" panose="020E0002060000000900"/>
      <p:regular r:id="rId20"/>
    </p:embeddedFont>
    <p:embeddedFont>
      <p:font typeface="JASO Sans" charset="1" panose="020E0002060000000900"/>
      <p:regular r:id="rId21"/>
    </p:embeddedFont>
    <p:embeddedFont>
      <p:font typeface="Poppins Bold" charset="1" panose="00000800000000000000"/>
      <p:regular r:id="rId22"/>
    </p:embeddedFont>
    <p:embeddedFont>
      <p:font typeface="Poppins Medium" charset="1" panose="00000600000000000000"/>
      <p:regular r:id="rId23"/>
    </p:embeddedFont>
    <p:embeddedFont>
      <p:font typeface="Poppins" charset="1" panose="00000500000000000000"/>
      <p:regular r:id="rId24"/>
    </p:embeddedFont>
    <p:embeddedFont>
      <p:font typeface="Poppins Semi-Bold" charset="1" panose="000007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5.png" Type="http://schemas.openxmlformats.org/officeDocument/2006/relationships/image"/><Relationship Id="rId13" Target="../media/image26.svg" Type="http://schemas.openxmlformats.org/officeDocument/2006/relationships/image"/><Relationship Id="rId14" Target="../media/image27.png" Type="http://schemas.openxmlformats.org/officeDocument/2006/relationships/image"/><Relationship Id="rId15" Target="../media/image28.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35.jpeg" Type="http://schemas.openxmlformats.org/officeDocument/2006/relationships/image"/><Relationship Id="rId5" Target="../media/image36.jpeg" Type="http://schemas.openxmlformats.org/officeDocument/2006/relationships/image"/><Relationship Id="rId6" Target="../media/image37.jpe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 Id="rId6" Target="../media/image4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45.jpeg" Type="http://schemas.openxmlformats.org/officeDocument/2006/relationships/image"/><Relationship Id="rId5" Target="../media/image46.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 Id="rId6" Target="../media/image49.png" Type="http://schemas.openxmlformats.org/officeDocument/2006/relationships/image"/><Relationship Id="rId7" Target="../media/image5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1416"/>
            <a:chOff x="0" y="0"/>
            <a:chExt cx="3762963" cy="37328"/>
          </a:xfrm>
        </p:grpSpPr>
        <p:sp>
          <p:nvSpPr>
            <p:cNvPr name="Freeform 3" id="3"/>
            <p:cNvSpPr/>
            <p:nvPr/>
          </p:nvSpPr>
          <p:spPr>
            <a:xfrm flipH="false" flipV="false" rot="0">
              <a:off x="0" y="0"/>
              <a:ext cx="3762963" cy="37328"/>
            </a:xfrm>
            <a:custGeom>
              <a:avLst/>
              <a:gdLst/>
              <a:ahLst/>
              <a:cxnLst/>
              <a:rect r="r" b="b" t="t" l="l"/>
              <a:pathLst>
                <a:path h="37328" w="3762963">
                  <a:moveTo>
                    <a:pt x="0" y="0"/>
                  </a:moveTo>
                  <a:lnTo>
                    <a:pt x="3762963" y="0"/>
                  </a:lnTo>
                  <a:lnTo>
                    <a:pt x="3762963" y="37328"/>
                  </a:lnTo>
                  <a:lnTo>
                    <a:pt x="0" y="37328"/>
                  </a:lnTo>
                  <a:close/>
                </a:path>
              </a:pathLst>
            </a:custGeom>
            <a:solidFill>
              <a:srgbClr val="416F6C"/>
            </a:solidFill>
          </p:spPr>
        </p:sp>
        <p:sp>
          <p:nvSpPr>
            <p:cNvPr name="TextBox 4" id="4"/>
            <p:cNvSpPr txBox="true"/>
            <p:nvPr/>
          </p:nvSpPr>
          <p:spPr>
            <a:xfrm>
              <a:off x="0" y="-57150"/>
              <a:ext cx="3762963" cy="94478"/>
            </a:xfrm>
            <a:prstGeom prst="rect">
              <a:avLst/>
            </a:prstGeom>
          </p:spPr>
          <p:txBody>
            <a:bodyPr anchor="ctr" rtlCol="false" tIns="50800" lIns="50800" bIns="50800" rIns="50800"/>
            <a:lstStyle/>
            <a:p>
              <a:pPr algn="ctr">
                <a:lnSpc>
                  <a:spcPts val="2541"/>
                </a:lnSpc>
              </a:pPr>
            </a:p>
          </p:txBody>
        </p:sp>
      </p:grpSp>
      <p:grpSp>
        <p:nvGrpSpPr>
          <p:cNvPr name="Group 5" id="5"/>
          <p:cNvGrpSpPr/>
          <p:nvPr/>
        </p:nvGrpSpPr>
        <p:grpSpPr>
          <a:xfrm rot="0">
            <a:off x="11666542" y="2601694"/>
            <a:ext cx="3416340" cy="3748537"/>
            <a:chOff x="0" y="0"/>
            <a:chExt cx="4555120" cy="4998050"/>
          </a:xfrm>
        </p:grpSpPr>
        <p:sp>
          <p:nvSpPr>
            <p:cNvPr name="Freeform 6" id="6"/>
            <p:cNvSpPr/>
            <p:nvPr/>
          </p:nvSpPr>
          <p:spPr>
            <a:xfrm flipH="false" flipV="false" rot="0">
              <a:off x="266489" y="0"/>
              <a:ext cx="4288631" cy="4998050"/>
            </a:xfrm>
            <a:custGeom>
              <a:avLst/>
              <a:gdLst/>
              <a:ahLst/>
              <a:cxnLst/>
              <a:rect r="r" b="b" t="t" l="l"/>
              <a:pathLst>
                <a:path h="4998050" w="4288631">
                  <a:moveTo>
                    <a:pt x="0" y="0"/>
                  </a:moveTo>
                  <a:lnTo>
                    <a:pt x="4288631" y="0"/>
                  </a:lnTo>
                  <a:lnTo>
                    <a:pt x="4288631" y="4998050"/>
                  </a:lnTo>
                  <a:lnTo>
                    <a:pt x="0" y="4998050"/>
                  </a:lnTo>
                  <a:lnTo>
                    <a:pt x="0" y="0"/>
                  </a:lnTo>
                  <a:close/>
                </a:path>
              </a:pathLst>
            </a:custGeom>
            <a:blipFill>
              <a:blip r:embed="rId2">
                <a:extLst>
                  <a:ext uri="{96DAC541-7B7A-43D3-8B79-37D633B846F1}">
                    <asvg:svgBlip xmlns:asvg="http://schemas.microsoft.com/office/drawing/2016/SVG/main" r:embed="rId3"/>
                  </a:ext>
                </a:extLst>
              </a:blip>
              <a:stretch>
                <a:fillRect l="0" t="0" r="-16967" b="0"/>
              </a:stretch>
            </a:blipFill>
          </p:spPr>
        </p:sp>
        <p:grpSp>
          <p:nvGrpSpPr>
            <p:cNvPr name="Group 7" id="7"/>
            <p:cNvGrpSpPr/>
            <p:nvPr/>
          </p:nvGrpSpPr>
          <p:grpSpPr>
            <a:xfrm rot="0">
              <a:off x="0" y="0"/>
              <a:ext cx="1072359" cy="3010627"/>
              <a:chOff x="0" y="0"/>
              <a:chExt cx="331205" cy="929850"/>
            </a:xfrm>
          </p:grpSpPr>
          <p:sp>
            <p:nvSpPr>
              <p:cNvPr name="Freeform 8" id="8"/>
              <p:cNvSpPr/>
              <p:nvPr/>
            </p:nvSpPr>
            <p:spPr>
              <a:xfrm flipH="false" flipV="false" rot="0">
                <a:off x="0" y="0"/>
                <a:ext cx="331205" cy="929850"/>
              </a:xfrm>
              <a:custGeom>
                <a:avLst/>
                <a:gdLst/>
                <a:ahLst/>
                <a:cxnLst/>
                <a:rect r="r" b="b" t="t" l="l"/>
                <a:pathLst>
                  <a:path h="929850" w="331205">
                    <a:moveTo>
                      <a:pt x="165602" y="0"/>
                    </a:moveTo>
                    <a:lnTo>
                      <a:pt x="165602" y="0"/>
                    </a:lnTo>
                    <a:cubicBezTo>
                      <a:pt x="257062" y="0"/>
                      <a:pt x="331205" y="74143"/>
                      <a:pt x="331205" y="165602"/>
                    </a:cubicBezTo>
                    <a:lnTo>
                      <a:pt x="331205" y="764247"/>
                    </a:lnTo>
                    <a:cubicBezTo>
                      <a:pt x="331205" y="808168"/>
                      <a:pt x="313757" y="850289"/>
                      <a:pt x="282701" y="881346"/>
                    </a:cubicBezTo>
                    <a:cubicBezTo>
                      <a:pt x="251644" y="912402"/>
                      <a:pt x="209523" y="929850"/>
                      <a:pt x="165602" y="929850"/>
                    </a:cubicBezTo>
                    <a:lnTo>
                      <a:pt x="165602" y="929850"/>
                    </a:lnTo>
                    <a:cubicBezTo>
                      <a:pt x="74143" y="929850"/>
                      <a:pt x="0" y="855707"/>
                      <a:pt x="0" y="764247"/>
                    </a:cubicBezTo>
                    <a:lnTo>
                      <a:pt x="0" y="165602"/>
                    </a:lnTo>
                    <a:cubicBezTo>
                      <a:pt x="0" y="121682"/>
                      <a:pt x="17447" y="79560"/>
                      <a:pt x="48504" y="48504"/>
                    </a:cubicBezTo>
                    <a:cubicBezTo>
                      <a:pt x="79560" y="17447"/>
                      <a:pt x="121682" y="0"/>
                      <a:pt x="165602" y="0"/>
                    </a:cubicBezTo>
                    <a:close/>
                  </a:path>
                </a:pathLst>
              </a:custGeom>
              <a:solidFill>
                <a:srgbClr val="FAFAFA"/>
              </a:solidFill>
            </p:spPr>
          </p:sp>
          <p:sp>
            <p:nvSpPr>
              <p:cNvPr name="TextBox 9" id="9"/>
              <p:cNvSpPr txBox="true"/>
              <p:nvPr/>
            </p:nvSpPr>
            <p:spPr>
              <a:xfrm>
                <a:off x="0" y="-57150"/>
                <a:ext cx="331205" cy="987000"/>
              </a:xfrm>
              <a:prstGeom prst="rect">
                <a:avLst/>
              </a:prstGeom>
            </p:spPr>
            <p:txBody>
              <a:bodyPr anchor="ctr" rtlCol="false" tIns="50800" lIns="50800" bIns="50800" rIns="50800"/>
              <a:lstStyle/>
              <a:p>
                <a:pPr algn="ctr">
                  <a:lnSpc>
                    <a:spcPts val="2541"/>
                  </a:lnSpc>
                </a:pPr>
              </a:p>
            </p:txBody>
          </p:sp>
        </p:grpSp>
        <p:grpSp>
          <p:nvGrpSpPr>
            <p:cNvPr name="Group 10" id="10"/>
            <p:cNvGrpSpPr/>
            <p:nvPr/>
          </p:nvGrpSpPr>
          <p:grpSpPr>
            <a:xfrm rot="0">
              <a:off x="2237726" y="4232518"/>
              <a:ext cx="1072359" cy="765532"/>
              <a:chOff x="0" y="0"/>
              <a:chExt cx="331205" cy="236439"/>
            </a:xfrm>
          </p:grpSpPr>
          <p:sp>
            <p:nvSpPr>
              <p:cNvPr name="Freeform 11" id="11"/>
              <p:cNvSpPr/>
              <p:nvPr/>
            </p:nvSpPr>
            <p:spPr>
              <a:xfrm flipH="false" flipV="false" rot="0">
                <a:off x="0" y="0"/>
                <a:ext cx="331205" cy="236439"/>
              </a:xfrm>
              <a:custGeom>
                <a:avLst/>
                <a:gdLst/>
                <a:ahLst/>
                <a:cxnLst/>
                <a:rect r="r" b="b" t="t" l="l"/>
                <a:pathLst>
                  <a:path h="236439" w="331205">
                    <a:moveTo>
                      <a:pt x="118220" y="0"/>
                    </a:moveTo>
                    <a:lnTo>
                      <a:pt x="212985" y="0"/>
                    </a:lnTo>
                    <a:cubicBezTo>
                      <a:pt x="244339" y="0"/>
                      <a:pt x="274408" y="12455"/>
                      <a:pt x="296579" y="34626"/>
                    </a:cubicBezTo>
                    <a:cubicBezTo>
                      <a:pt x="318749" y="56796"/>
                      <a:pt x="331205" y="86866"/>
                      <a:pt x="331205" y="118220"/>
                    </a:cubicBezTo>
                    <a:lnTo>
                      <a:pt x="331205" y="118220"/>
                    </a:lnTo>
                    <a:cubicBezTo>
                      <a:pt x="331205" y="149573"/>
                      <a:pt x="318749" y="179643"/>
                      <a:pt x="296579" y="201813"/>
                    </a:cubicBezTo>
                    <a:cubicBezTo>
                      <a:pt x="274408" y="223984"/>
                      <a:pt x="244339" y="236439"/>
                      <a:pt x="212985" y="236439"/>
                    </a:cubicBezTo>
                    <a:lnTo>
                      <a:pt x="118220" y="236439"/>
                    </a:lnTo>
                    <a:cubicBezTo>
                      <a:pt x="86866" y="236439"/>
                      <a:pt x="56796" y="223984"/>
                      <a:pt x="34626" y="201813"/>
                    </a:cubicBezTo>
                    <a:cubicBezTo>
                      <a:pt x="12455" y="179643"/>
                      <a:pt x="0" y="149573"/>
                      <a:pt x="0" y="118220"/>
                    </a:cubicBezTo>
                    <a:lnTo>
                      <a:pt x="0" y="118220"/>
                    </a:lnTo>
                    <a:cubicBezTo>
                      <a:pt x="0" y="86866"/>
                      <a:pt x="12455" y="56796"/>
                      <a:pt x="34626" y="34626"/>
                    </a:cubicBezTo>
                    <a:cubicBezTo>
                      <a:pt x="56796" y="12455"/>
                      <a:pt x="86866" y="0"/>
                      <a:pt x="118220" y="0"/>
                    </a:cubicBezTo>
                    <a:close/>
                  </a:path>
                </a:pathLst>
              </a:custGeom>
              <a:solidFill>
                <a:srgbClr val="FAFAFA"/>
              </a:solidFill>
            </p:spPr>
          </p:sp>
          <p:sp>
            <p:nvSpPr>
              <p:cNvPr name="TextBox 12" id="12"/>
              <p:cNvSpPr txBox="true"/>
              <p:nvPr/>
            </p:nvSpPr>
            <p:spPr>
              <a:xfrm>
                <a:off x="0" y="-57150"/>
                <a:ext cx="331205" cy="293589"/>
              </a:xfrm>
              <a:prstGeom prst="rect">
                <a:avLst/>
              </a:prstGeom>
            </p:spPr>
            <p:txBody>
              <a:bodyPr anchor="ctr" rtlCol="false" tIns="50800" lIns="50800" bIns="50800" rIns="50800"/>
              <a:lstStyle/>
              <a:p>
                <a:pPr algn="ctr">
                  <a:lnSpc>
                    <a:spcPts val="2541"/>
                  </a:lnSpc>
                </a:pPr>
              </a:p>
            </p:txBody>
          </p:sp>
        </p:grpSp>
      </p:grpSp>
      <p:grpSp>
        <p:nvGrpSpPr>
          <p:cNvPr name="Group 13" id="13"/>
          <p:cNvGrpSpPr/>
          <p:nvPr/>
        </p:nvGrpSpPr>
        <p:grpSpPr>
          <a:xfrm rot="0">
            <a:off x="12125320" y="2959578"/>
            <a:ext cx="410893" cy="41089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6200" cap="sq">
              <a:solidFill>
                <a:srgbClr val="000000">
                  <a:alpha val="21961"/>
                </a:srgbClr>
              </a:solidFill>
              <a:prstDash val="solid"/>
              <a:miter/>
            </a:ln>
          </p:spPr>
        </p:sp>
        <p:sp>
          <p:nvSpPr>
            <p:cNvPr name="TextBox 15" id="15"/>
            <p:cNvSpPr txBox="true"/>
            <p:nvPr/>
          </p:nvSpPr>
          <p:spPr>
            <a:xfrm>
              <a:off x="76200" y="19050"/>
              <a:ext cx="660400" cy="717550"/>
            </a:xfrm>
            <a:prstGeom prst="rect">
              <a:avLst/>
            </a:prstGeom>
          </p:spPr>
          <p:txBody>
            <a:bodyPr anchor="ctr" rtlCol="false" tIns="50800" lIns="50800" bIns="50800" rIns="50800"/>
            <a:lstStyle/>
            <a:p>
              <a:pPr algn="ctr" marL="0" indent="0" lvl="0">
                <a:lnSpc>
                  <a:spcPts val="2541"/>
                </a:lnSpc>
                <a:spcBef>
                  <a:spcPct val="0"/>
                </a:spcBef>
              </a:pPr>
            </a:p>
          </p:txBody>
        </p:sp>
      </p:grpSp>
      <p:grpSp>
        <p:nvGrpSpPr>
          <p:cNvPr name="Group 16" id="16"/>
          <p:cNvGrpSpPr/>
          <p:nvPr/>
        </p:nvGrpSpPr>
        <p:grpSpPr>
          <a:xfrm rot="0">
            <a:off x="15288328" y="5400726"/>
            <a:ext cx="410893" cy="410893"/>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6200" cap="sq">
              <a:solidFill>
                <a:srgbClr val="000000">
                  <a:alpha val="21961"/>
                </a:srgbClr>
              </a:solidFill>
              <a:prstDash val="solid"/>
              <a:miter/>
            </a:ln>
          </p:spPr>
        </p:sp>
        <p:sp>
          <p:nvSpPr>
            <p:cNvPr name="TextBox 18" id="18"/>
            <p:cNvSpPr txBox="true"/>
            <p:nvPr/>
          </p:nvSpPr>
          <p:spPr>
            <a:xfrm>
              <a:off x="76200" y="19050"/>
              <a:ext cx="660400" cy="717550"/>
            </a:xfrm>
            <a:prstGeom prst="rect">
              <a:avLst/>
            </a:prstGeom>
          </p:spPr>
          <p:txBody>
            <a:bodyPr anchor="ctr" rtlCol="false" tIns="50800" lIns="50800" bIns="50800" rIns="50800"/>
            <a:lstStyle/>
            <a:p>
              <a:pPr algn="ctr">
                <a:lnSpc>
                  <a:spcPts val="2541"/>
                </a:lnSpc>
              </a:pPr>
            </a:p>
          </p:txBody>
        </p:sp>
      </p:grpSp>
      <p:sp>
        <p:nvSpPr>
          <p:cNvPr name="Freeform 19" id="19"/>
          <p:cNvSpPr/>
          <p:nvPr/>
        </p:nvSpPr>
        <p:spPr>
          <a:xfrm flipH="false" flipV="false" rot="0">
            <a:off x="15288328" y="2959578"/>
            <a:ext cx="410893" cy="410893"/>
          </a:xfrm>
          <a:custGeom>
            <a:avLst/>
            <a:gdLst/>
            <a:ahLst/>
            <a:cxnLst/>
            <a:rect r="r" b="b" t="t" l="l"/>
            <a:pathLst>
              <a:path h="410893" w="410893">
                <a:moveTo>
                  <a:pt x="0" y="0"/>
                </a:moveTo>
                <a:lnTo>
                  <a:pt x="410892" y="0"/>
                </a:lnTo>
                <a:lnTo>
                  <a:pt x="410892" y="410892"/>
                </a:lnTo>
                <a:lnTo>
                  <a:pt x="0" y="4108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14458402" y="5939339"/>
            <a:ext cx="410893" cy="410893"/>
          </a:xfrm>
          <a:custGeom>
            <a:avLst/>
            <a:gdLst/>
            <a:ahLst/>
            <a:cxnLst/>
            <a:rect r="r" b="b" t="t" l="l"/>
            <a:pathLst>
              <a:path h="410893" w="410893">
                <a:moveTo>
                  <a:pt x="0" y="0"/>
                </a:moveTo>
                <a:lnTo>
                  <a:pt x="410893" y="0"/>
                </a:lnTo>
                <a:lnTo>
                  <a:pt x="410893" y="410893"/>
                </a:lnTo>
                <a:lnTo>
                  <a:pt x="0" y="4108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1461095" y="4330118"/>
            <a:ext cx="410893" cy="410893"/>
          </a:xfrm>
          <a:custGeom>
            <a:avLst/>
            <a:gdLst/>
            <a:ahLst/>
            <a:cxnLst/>
            <a:rect r="r" b="b" t="t" l="l"/>
            <a:pathLst>
              <a:path h="410893" w="410893">
                <a:moveTo>
                  <a:pt x="0" y="0"/>
                </a:moveTo>
                <a:lnTo>
                  <a:pt x="410893" y="0"/>
                </a:lnTo>
                <a:lnTo>
                  <a:pt x="410893" y="410892"/>
                </a:lnTo>
                <a:lnTo>
                  <a:pt x="0" y="4108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2607656" y="2580742"/>
            <a:ext cx="7832871" cy="1364402"/>
          </a:xfrm>
          <a:prstGeom prst="rect">
            <a:avLst/>
          </a:prstGeom>
        </p:spPr>
        <p:txBody>
          <a:bodyPr anchor="t" rtlCol="false" tIns="0" lIns="0" bIns="0" rIns="0">
            <a:spAutoFit/>
          </a:bodyPr>
          <a:lstStyle/>
          <a:p>
            <a:pPr algn="l" marL="0" indent="0" lvl="0">
              <a:lnSpc>
                <a:spcPts val="10314"/>
              </a:lnSpc>
            </a:pPr>
            <a:r>
              <a:rPr lang="en-US" b="true" sz="10112" spc="-202">
                <a:solidFill>
                  <a:srgbClr val="333333"/>
                </a:solidFill>
                <a:latin typeface="JASO Sans Bold"/>
                <a:ea typeface="JASO Sans Bold"/>
                <a:cs typeface="JASO Sans Bold"/>
                <a:sym typeface="JASO Sans Bold"/>
              </a:rPr>
              <a:t>프로젝트</a:t>
            </a:r>
          </a:p>
        </p:txBody>
      </p:sp>
      <p:sp>
        <p:nvSpPr>
          <p:cNvPr name="TextBox 23" id="23"/>
          <p:cNvSpPr txBox="true"/>
          <p:nvPr/>
        </p:nvSpPr>
        <p:spPr>
          <a:xfrm rot="0">
            <a:off x="2607656" y="3979603"/>
            <a:ext cx="8553655" cy="1364402"/>
          </a:xfrm>
          <a:prstGeom prst="rect">
            <a:avLst/>
          </a:prstGeom>
        </p:spPr>
        <p:txBody>
          <a:bodyPr anchor="t" rtlCol="false" tIns="0" lIns="0" bIns="0" rIns="0">
            <a:spAutoFit/>
          </a:bodyPr>
          <a:lstStyle/>
          <a:p>
            <a:pPr algn="l" marL="0" indent="0" lvl="0">
              <a:lnSpc>
                <a:spcPts val="10314"/>
              </a:lnSpc>
            </a:pPr>
            <a:r>
              <a:rPr lang="en-US" b="true" sz="10112" spc="-202">
                <a:solidFill>
                  <a:srgbClr val="416F6C"/>
                </a:solidFill>
                <a:latin typeface="JASO Sans Bold"/>
                <a:ea typeface="JASO Sans Bold"/>
                <a:cs typeface="JASO Sans Bold"/>
                <a:sym typeface="JASO Sans Bold"/>
              </a:rPr>
              <a:t>성장전략보고서</a:t>
            </a:r>
          </a:p>
        </p:txBody>
      </p:sp>
      <p:sp>
        <p:nvSpPr>
          <p:cNvPr name="TextBox 24" id="24"/>
          <p:cNvSpPr txBox="true"/>
          <p:nvPr/>
        </p:nvSpPr>
        <p:spPr>
          <a:xfrm rot="0">
            <a:off x="2664806" y="6050026"/>
            <a:ext cx="7957893" cy="300206"/>
          </a:xfrm>
          <a:prstGeom prst="rect">
            <a:avLst/>
          </a:prstGeom>
        </p:spPr>
        <p:txBody>
          <a:bodyPr anchor="t" rtlCol="false" tIns="0" lIns="0" bIns="0" rIns="0">
            <a:spAutoFit/>
          </a:bodyPr>
          <a:lstStyle/>
          <a:p>
            <a:pPr algn="l">
              <a:lnSpc>
                <a:spcPts val="2541"/>
              </a:lnSpc>
            </a:pPr>
            <a:r>
              <a:rPr lang="en-US" sz="1650" spc="-16">
                <a:solidFill>
                  <a:srgbClr val="333333">
                    <a:alpha val="45882"/>
                  </a:srgbClr>
                </a:solidFill>
                <a:latin typeface="JASO Sans"/>
                <a:ea typeface="JASO Sans"/>
                <a:cs typeface="JASO Sans"/>
                <a:sym typeface="JASO Sans"/>
              </a:rPr>
              <a:t>데이터 기반 퍼널 최적화로 도달·참여·전환을 확대하고 정량적 ROI를 보장합니다.</a:t>
            </a:r>
          </a:p>
        </p:txBody>
      </p:sp>
      <p:sp>
        <p:nvSpPr>
          <p:cNvPr name="TextBox 25" id="25"/>
          <p:cNvSpPr txBox="true"/>
          <p:nvPr/>
        </p:nvSpPr>
        <p:spPr>
          <a:xfrm rot="0">
            <a:off x="2645756" y="5548757"/>
            <a:ext cx="7287980" cy="377444"/>
          </a:xfrm>
          <a:prstGeom prst="rect">
            <a:avLst/>
          </a:prstGeom>
        </p:spPr>
        <p:txBody>
          <a:bodyPr anchor="t" rtlCol="false" tIns="0" lIns="0" bIns="0" rIns="0">
            <a:spAutoFit/>
          </a:bodyPr>
          <a:lstStyle/>
          <a:p>
            <a:pPr algn="l">
              <a:lnSpc>
                <a:spcPts val="3012"/>
              </a:lnSpc>
            </a:pPr>
            <a:r>
              <a:rPr lang="en-US" b="true" sz="2299" spc="-94">
                <a:solidFill>
                  <a:srgbClr val="333333">
                    <a:alpha val="93725"/>
                  </a:srgbClr>
                </a:solidFill>
                <a:latin typeface="JASO Sans Bold"/>
                <a:ea typeface="JASO Sans Bold"/>
                <a:cs typeface="JASO Sans Bold"/>
                <a:sym typeface="JASO Sans Bold"/>
              </a:rPr>
              <a:t>쉽게 따라 할 수 있는 다양한 레이아웃 가이드</a:t>
            </a:r>
          </a:p>
        </p:txBody>
      </p:sp>
      <p:sp>
        <p:nvSpPr>
          <p:cNvPr name="Freeform 26" id="26"/>
          <p:cNvSpPr/>
          <p:nvPr/>
        </p:nvSpPr>
        <p:spPr>
          <a:xfrm flipH="false" flipV="false" rot="-10800000">
            <a:off x="1186691" y="8788472"/>
            <a:ext cx="501641" cy="137723"/>
          </a:xfrm>
          <a:custGeom>
            <a:avLst/>
            <a:gdLst/>
            <a:ahLst/>
            <a:cxnLst/>
            <a:rect r="r" b="b" t="t" l="l"/>
            <a:pathLst>
              <a:path h="137723" w="501641">
                <a:moveTo>
                  <a:pt x="0" y="0"/>
                </a:moveTo>
                <a:lnTo>
                  <a:pt x="501641" y="0"/>
                </a:lnTo>
                <a:lnTo>
                  <a:pt x="501641" y="137724"/>
                </a:lnTo>
                <a:lnTo>
                  <a:pt x="0" y="1377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822526" y="8740045"/>
            <a:ext cx="5905755" cy="293575"/>
          </a:xfrm>
          <a:prstGeom prst="rect">
            <a:avLst/>
          </a:prstGeom>
        </p:spPr>
        <p:txBody>
          <a:bodyPr anchor="t" rtlCol="false" tIns="0" lIns="0" bIns="0" rIns="0">
            <a:spAutoFit/>
          </a:bodyPr>
          <a:lstStyle/>
          <a:p>
            <a:pPr algn="l">
              <a:lnSpc>
                <a:spcPts val="1989"/>
              </a:lnSpc>
            </a:pPr>
            <a:r>
              <a:rPr lang="en-US" sz="2397" b="true">
                <a:solidFill>
                  <a:srgbClr val="333333"/>
                </a:solidFill>
                <a:latin typeface="Poppins Bold"/>
                <a:ea typeface="Poppins Bold"/>
                <a:cs typeface="Poppins Bold"/>
                <a:sym typeface="Poppins Bold"/>
              </a:rPr>
              <a:t>Growth Roadmap</a:t>
            </a:r>
          </a:p>
        </p:txBody>
      </p:sp>
      <p:sp>
        <p:nvSpPr>
          <p:cNvPr name="TextBox 28" id="28"/>
          <p:cNvSpPr txBox="true"/>
          <p:nvPr/>
        </p:nvSpPr>
        <p:spPr>
          <a:xfrm rot="0">
            <a:off x="1186691" y="9165860"/>
            <a:ext cx="6443831" cy="336822"/>
          </a:xfrm>
          <a:prstGeom prst="rect">
            <a:avLst/>
          </a:prstGeom>
        </p:spPr>
        <p:txBody>
          <a:bodyPr anchor="t" rtlCol="false" tIns="0" lIns="0" bIns="0" rIns="0">
            <a:spAutoFit/>
          </a:bodyPr>
          <a:lstStyle/>
          <a:p>
            <a:pPr algn="l">
              <a:lnSpc>
                <a:spcPts val="1382"/>
              </a:lnSpc>
            </a:pPr>
            <a:r>
              <a:rPr lang="en-US" b="true" sz="987" spc="16">
                <a:solidFill>
                  <a:srgbClr val="333333">
                    <a:alpha val="30980"/>
                  </a:srgbClr>
                </a:solidFill>
                <a:latin typeface="Poppins Medium"/>
                <a:ea typeface="Poppins Medium"/>
                <a:cs typeface="Poppins Medium"/>
                <a:sym typeface="Poppins Medium"/>
              </a:rPr>
              <a:t>This report focuses on defining growth directions for ongoing projects and outlining actionable strategies to drive sustainable expansion in the coming phase.</a:t>
            </a:r>
          </a:p>
        </p:txBody>
      </p:sp>
      <p:sp>
        <p:nvSpPr>
          <p:cNvPr name="AutoShape 29" id="29"/>
          <p:cNvSpPr/>
          <p:nvPr/>
        </p:nvSpPr>
        <p:spPr>
          <a:xfrm>
            <a:off x="1177166" y="8332762"/>
            <a:ext cx="15933668" cy="0"/>
          </a:xfrm>
          <a:prstGeom prst="line">
            <a:avLst/>
          </a:prstGeom>
          <a:ln cap="flat" w="9525">
            <a:solidFill>
              <a:srgbClr val="416F6C"/>
            </a:solidFill>
            <a:prstDash val="solid"/>
            <a:headEnd type="none" len="sm" w="sm"/>
            <a:tailEnd type="none" len="sm" w="sm"/>
          </a:ln>
        </p:spPr>
      </p:sp>
      <p:sp>
        <p:nvSpPr>
          <p:cNvPr name="AutoShape 30" id="30"/>
          <p:cNvSpPr/>
          <p:nvPr/>
        </p:nvSpPr>
        <p:spPr>
          <a:xfrm flipV="true">
            <a:off x="13618289" y="8332762"/>
            <a:ext cx="0" cy="1151621"/>
          </a:xfrm>
          <a:prstGeom prst="line">
            <a:avLst/>
          </a:prstGeom>
          <a:ln cap="flat" w="9525">
            <a:solidFill>
              <a:srgbClr val="416F6C"/>
            </a:solidFill>
            <a:prstDash val="solid"/>
            <a:headEnd type="none" len="sm" w="sm"/>
            <a:tailEnd type="none" len="sm" w="sm"/>
          </a:ln>
        </p:spPr>
      </p:sp>
      <p:sp>
        <p:nvSpPr>
          <p:cNvPr name="TextBox 31" id="31"/>
          <p:cNvSpPr txBox="true"/>
          <p:nvPr/>
        </p:nvSpPr>
        <p:spPr>
          <a:xfrm rot="0">
            <a:off x="15067508" y="8745378"/>
            <a:ext cx="2043327" cy="244885"/>
          </a:xfrm>
          <a:prstGeom prst="rect">
            <a:avLst/>
          </a:prstGeom>
        </p:spPr>
        <p:txBody>
          <a:bodyPr anchor="t" rtlCol="false" tIns="0" lIns="0" bIns="0" rIns="0">
            <a:spAutoFit/>
          </a:bodyPr>
          <a:lstStyle/>
          <a:p>
            <a:pPr algn="r">
              <a:lnSpc>
                <a:spcPts val="2047"/>
              </a:lnSpc>
            </a:pPr>
            <a:r>
              <a:rPr lang="en-US" sz="1563" spc="-31">
                <a:solidFill>
                  <a:srgbClr val="333333"/>
                </a:solidFill>
                <a:latin typeface="JASO Sans"/>
                <a:ea typeface="JASO Sans"/>
                <a:cs typeface="JASO Sans"/>
                <a:sym typeface="JASO Sans"/>
              </a:rPr>
              <a:t>라라나 마케팅 1팀 이수진</a:t>
            </a:r>
          </a:p>
        </p:txBody>
      </p:sp>
      <p:sp>
        <p:nvSpPr>
          <p:cNvPr name="TextBox 32" id="32"/>
          <p:cNvSpPr txBox="true"/>
          <p:nvPr/>
        </p:nvSpPr>
        <p:spPr>
          <a:xfrm rot="0">
            <a:off x="14750595" y="9132253"/>
            <a:ext cx="2360239" cy="180086"/>
          </a:xfrm>
          <a:prstGeom prst="rect">
            <a:avLst/>
          </a:prstGeom>
        </p:spPr>
        <p:txBody>
          <a:bodyPr anchor="t" rtlCol="false" tIns="0" lIns="0" bIns="0" rIns="0">
            <a:spAutoFit/>
          </a:bodyPr>
          <a:lstStyle/>
          <a:p>
            <a:pPr algn="r">
              <a:lnSpc>
                <a:spcPts val="1162"/>
              </a:lnSpc>
            </a:pPr>
            <a:r>
              <a:rPr lang="en-US" sz="1400" spc="23">
                <a:solidFill>
                  <a:srgbClr val="416F6C"/>
                </a:solidFill>
                <a:latin typeface="Poppins"/>
                <a:ea typeface="Poppins"/>
                <a:cs typeface="Poppins"/>
                <a:sym typeface="Poppins"/>
              </a:rPr>
              <a:t>www.reallygreatsite.com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416F6C"/>
        </a:solidFill>
      </p:bgPr>
    </p:bg>
    <p:spTree>
      <p:nvGrpSpPr>
        <p:cNvPr id="1" name=""/>
        <p:cNvGrpSpPr/>
        <p:nvPr/>
      </p:nvGrpSpPr>
      <p:grpSpPr>
        <a:xfrm>
          <a:off x="0" y="0"/>
          <a:ext cx="0" cy="0"/>
          <a:chOff x="0" y="0"/>
          <a:chExt cx="0" cy="0"/>
        </a:xfrm>
      </p:grpSpPr>
      <p:sp>
        <p:nvSpPr>
          <p:cNvPr name="Freeform 2" id="2"/>
          <p:cNvSpPr/>
          <p:nvPr/>
        </p:nvSpPr>
        <p:spPr>
          <a:xfrm flipH="false" flipV="false" rot="0">
            <a:off x="8211592" y="920213"/>
            <a:ext cx="1864817" cy="1885385"/>
          </a:xfrm>
          <a:custGeom>
            <a:avLst/>
            <a:gdLst/>
            <a:ahLst/>
            <a:cxnLst/>
            <a:rect r="r" b="b" t="t" l="l"/>
            <a:pathLst>
              <a:path h="1885385" w="1864817">
                <a:moveTo>
                  <a:pt x="0" y="0"/>
                </a:moveTo>
                <a:lnTo>
                  <a:pt x="1864816" y="0"/>
                </a:lnTo>
                <a:lnTo>
                  <a:pt x="1864816" y="1885384"/>
                </a:lnTo>
                <a:lnTo>
                  <a:pt x="0" y="18853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505467" y="2940248"/>
            <a:ext cx="3277067" cy="1114381"/>
          </a:xfrm>
          <a:prstGeom prst="rect">
            <a:avLst/>
          </a:prstGeom>
        </p:spPr>
        <p:txBody>
          <a:bodyPr anchor="t" rtlCol="false" tIns="0" lIns="0" bIns="0" rIns="0">
            <a:spAutoFit/>
          </a:bodyPr>
          <a:lstStyle/>
          <a:p>
            <a:pPr algn="ctr">
              <a:lnSpc>
                <a:spcPts val="8347"/>
              </a:lnSpc>
            </a:pPr>
            <a:r>
              <a:rPr lang="en-US" b="true" sz="6955">
                <a:solidFill>
                  <a:srgbClr val="FAFAFA"/>
                </a:solidFill>
                <a:latin typeface="Poppins Bold"/>
                <a:ea typeface="Poppins Bold"/>
                <a:cs typeface="Poppins Bold"/>
                <a:sym typeface="Poppins Bold"/>
              </a:rPr>
              <a:t>INDEX</a:t>
            </a:r>
          </a:p>
        </p:txBody>
      </p:sp>
      <p:sp>
        <p:nvSpPr>
          <p:cNvPr name="TextBox 4" id="4"/>
          <p:cNvSpPr txBox="true"/>
          <p:nvPr/>
        </p:nvSpPr>
        <p:spPr>
          <a:xfrm rot="0">
            <a:off x="7196946" y="3996408"/>
            <a:ext cx="3894108" cy="268605"/>
          </a:xfrm>
          <a:prstGeom prst="rect">
            <a:avLst/>
          </a:prstGeom>
        </p:spPr>
        <p:txBody>
          <a:bodyPr anchor="t" rtlCol="false" tIns="0" lIns="0" bIns="0" rIns="0">
            <a:spAutoFit/>
          </a:bodyPr>
          <a:lstStyle/>
          <a:p>
            <a:pPr algn="ctr">
              <a:lnSpc>
                <a:spcPts val="2310"/>
              </a:lnSpc>
            </a:pPr>
            <a:r>
              <a:rPr lang="en-US" sz="1500" spc="-15">
                <a:solidFill>
                  <a:srgbClr val="333333">
                    <a:alpha val="67843"/>
                  </a:srgbClr>
                </a:solidFill>
                <a:latin typeface="JASO Sans"/>
                <a:ea typeface="JASO Sans"/>
                <a:cs typeface="JASO Sans"/>
                <a:sym typeface="JASO Sans"/>
              </a:rPr>
              <a:t>메인타이틀에 대한 세부 설명을 입력해 주세요.</a:t>
            </a:r>
          </a:p>
        </p:txBody>
      </p:sp>
      <p:sp>
        <p:nvSpPr>
          <p:cNvPr name="TextBox 5" id="5"/>
          <p:cNvSpPr txBox="true"/>
          <p:nvPr/>
        </p:nvSpPr>
        <p:spPr>
          <a:xfrm rot="0">
            <a:off x="2117079" y="6071935"/>
            <a:ext cx="3806749" cy="209506"/>
          </a:xfrm>
          <a:prstGeom prst="rect">
            <a:avLst/>
          </a:prstGeom>
        </p:spPr>
        <p:txBody>
          <a:bodyPr anchor="t" rtlCol="false" tIns="0" lIns="0" bIns="0" rIns="0">
            <a:spAutoFit/>
          </a:bodyPr>
          <a:lstStyle/>
          <a:p>
            <a:pPr algn="ctr">
              <a:lnSpc>
                <a:spcPts val="1620"/>
              </a:lnSpc>
            </a:pPr>
            <a:r>
              <a:rPr lang="en-US" sz="1350" spc="-62">
                <a:solidFill>
                  <a:srgbClr val="FAFAFA">
                    <a:alpha val="36863"/>
                  </a:srgbClr>
                </a:solidFill>
                <a:latin typeface="JASO Sans"/>
                <a:ea typeface="JASO Sans"/>
                <a:cs typeface="JASO Sans"/>
                <a:sym typeface="JASO Sans"/>
              </a:rPr>
              <a:t>타이틀을 설명해 줄 수 있는 문장을 입력해주세요.</a:t>
            </a:r>
          </a:p>
        </p:txBody>
      </p:sp>
      <p:sp>
        <p:nvSpPr>
          <p:cNvPr name="TextBox 6" id="6"/>
          <p:cNvSpPr txBox="true"/>
          <p:nvPr/>
        </p:nvSpPr>
        <p:spPr>
          <a:xfrm rot="0">
            <a:off x="2117079" y="8089101"/>
            <a:ext cx="3806749" cy="209506"/>
          </a:xfrm>
          <a:prstGeom prst="rect">
            <a:avLst/>
          </a:prstGeom>
        </p:spPr>
        <p:txBody>
          <a:bodyPr anchor="t" rtlCol="false" tIns="0" lIns="0" bIns="0" rIns="0">
            <a:spAutoFit/>
          </a:bodyPr>
          <a:lstStyle/>
          <a:p>
            <a:pPr algn="ctr">
              <a:lnSpc>
                <a:spcPts val="1620"/>
              </a:lnSpc>
            </a:pPr>
            <a:r>
              <a:rPr lang="en-US" sz="1350" spc="-62">
                <a:solidFill>
                  <a:srgbClr val="FAFAFA">
                    <a:alpha val="36863"/>
                  </a:srgbClr>
                </a:solidFill>
                <a:latin typeface="JASO Sans"/>
                <a:ea typeface="JASO Sans"/>
                <a:cs typeface="JASO Sans"/>
                <a:sym typeface="JASO Sans"/>
              </a:rPr>
              <a:t>타이틀을 설명해 줄 수 있는 문장을 입력해주세요.</a:t>
            </a:r>
          </a:p>
        </p:txBody>
      </p:sp>
      <p:sp>
        <p:nvSpPr>
          <p:cNvPr name="TextBox 7" id="7"/>
          <p:cNvSpPr txBox="true"/>
          <p:nvPr/>
        </p:nvSpPr>
        <p:spPr>
          <a:xfrm rot="0">
            <a:off x="7238470" y="6071935"/>
            <a:ext cx="3806749" cy="209506"/>
          </a:xfrm>
          <a:prstGeom prst="rect">
            <a:avLst/>
          </a:prstGeom>
        </p:spPr>
        <p:txBody>
          <a:bodyPr anchor="t" rtlCol="false" tIns="0" lIns="0" bIns="0" rIns="0">
            <a:spAutoFit/>
          </a:bodyPr>
          <a:lstStyle/>
          <a:p>
            <a:pPr algn="ctr">
              <a:lnSpc>
                <a:spcPts val="1620"/>
              </a:lnSpc>
            </a:pPr>
            <a:r>
              <a:rPr lang="en-US" sz="1350" spc="-62">
                <a:solidFill>
                  <a:srgbClr val="FAFAFA">
                    <a:alpha val="36863"/>
                  </a:srgbClr>
                </a:solidFill>
                <a:latin typeface="JASO Sans"/>
                <a:ea typeface="JASO Sans"/>
                <a:cs typeface="JASO Sans"/>
                <a:sym typeface="JASO Sans"/>
              </a:rPr>
              <a:t>타이틀을 설명해 줄 수 있는 문장을 입력해주세요.</a:t>
            </a:r>
          </a:p>
        </p:txBody>
      </p:sp>
      <p:sp>
        <p:nvSpPr>
          <p:cNvPr name="TextBox 8" id="8"/>
          <p:cNvSpPr txBox="true"/>
          <p:nvPr/>
        </p:nvSpPr>
        <p:spPr>
          <a:xfrm rot="0">
            <a:off x="7238470" y="8089101"/>
            <a:ext cx="3806749" cy="209506"/>
          </a:xfrm>
          <a:prstGeom prst="rect">
            <a:avLst/>
          </a:prstGeom>
        </p:spPr>
        <p:txBody>
          <a:bodyPr anchor="t" rtlCol="false" tIns="0" lIns="0" bIns="0" rIns="0">
            <a:spAutoFit/>
          </a:bodyPr>
          <a:lstStyle/>
          <a:p>
            <a:pPr algn="ctr">
              <a:lnSpc>
                <a:spcPts val="1620"/>
              </a:lnSpc>
            </a:pPr>
            <a:r>
              <a:rPr lang="en-US" sz="1350" spc="-62">
                <a:solidFill>
                  <a:srgbClr val="FAFAFA">
                    <a:alpha val="36863"/>
                  </a:srgbClr>
                </a:solidFill>
                <a:latin typeface="JASO Sans"/>
                <a:ea typeface="JASO Sans"/>
                <a:cs typeface="JASO Sans"/>
                <a:sym typeface="JASO Sans"/>
              </a:rPr>
              <a:t>타이틀을 설명해 줄 수 있는 문장을 입력해주세요.</a:t>
            </a:r>
          </a:p>
        </p:txBody>
      </p:sp>
      <p:sp>
        <p:nvSpPr>
          <p:cNvPr name="TextBox 9" id="9"/>
          <p:cNvSpPr txBox="true"/>
          <p:nvPr/>
        </p:nvSpPr>
        <p:spPr>
          <a:xfrm rot="0">
            <a:off x="12358974" y="6071935"/>
            <a:ext cx="3806749" cy="209506"/>
          </a:xfrm>
          <a:prstGeom prst="rect">
            <a:avLst/>
          </a:prstGeom>
        </p:spPr>
        <p:txBody>
          <a:bodyPr anchor="t" rtlCol="false" tIns="0" lIns="0" bIns="0" rIns="0">
            <a:spAutoFit/>
          </a:bodyPr>
          <a:lstStyle/>
          <a:p>
            <a:pPr algn="ctr">
              <a:lnSpc>
                <a:spcPts val="1620"/>
              </a:lnSpc>
            </a:pPr>
            <a:r>
              <a:rPr lang="en-US" sz="1350" spc="-62">
                <a:solidFill>
                  <a:srgbClr val="FAFAFA">
                    <a:alpha val="36863"/>
                  </a:srgbClr>
                </a:solidFill>
                <a:latin typeface="JASO Sans"/>
                <a:ea typeface="JASO Sans"/>
                <a:cs typeface="JASO Sans"/>
                <a:sym typeface="JASO Sans"/>
              </a:rPr>
              <a:t>타이틀을 설명해 줄 수 있는 문장을 입력해주세요.</a:t>
            </a:r>
          </a:p>
        </p:txBody>
      </p:sp>
      <p:sp>
        <p:nvSpPr>
          <p:cNvPr name="TextBox 10" id="10"/>
          <p:cNvSpPr txBox="true"/>
          <p:nvPr/>
        </p:nvSpPr>
        <p:spPr>
          <a:xfrm rot="0">
            <a:off x="12358974" y="8089101"/>
            <a:ext cx="3806749" cy="209506"/>
          </a:xfrm>
          <a:prstGeom prst="rect">
            <a:avLst/>
          </a:prstGeom>
        </p:spPr>
        <p:txBody>
          <a:bodyPr anchor="t" rtlCol="false" tIns="0" lIns="0" bIns="0" rIns="0">
            <a:spAutoFit/>
          </a:bodyPr>
          <a:lstStyle/>
          <a:p>
            <a:pPr algn="ctr">
              <a:lnSpc>
                <a:spcPts val="1620"/>
              </a:lnSpc>
            </a:pPr>
            <a:r>
              <a:rPr lang="en-US" sz="1350" spc="-62">
                <a:solidFill>
                  <a:srgbClr val="FAFAFA">
                    <a:alpha val="36863"/>
                  </a:srgbClr>
                </a:solidFill>
                <a:latin typeface="JASO Sans"/>
                <a:ea typeface="JASO Sans"/>
                <a:cs typeface="JASO Sans"/>
                <a:sym typeface="JASO Sans"/>
              </a:rPr>
              <a:t>타이틀을 설명해 줄 수 있는 문장을 입력해주세요.</a:t>
            </a:r>
          </a:p>
        </p:txBody>
      </p:sp>
      <p:sp>
        <p:nvSpPr>
          <p:cNvPr name="TextBox 11" id="11"/>
          <p:cNvSpPr txBox="true"/>
          <p:nvPr/>
        </p:nvSpPr>
        <p:spPr>
          <a:xfrm rot="0">
            <a:off x="2117079" y="5575664"/>
            <a:ext cx="3806749" cy="405914"/>
          </a:xfrm>
          <a:prstGeom prst="rect">
            <a:avLst/>
          </a:prstGeom>
        </p:spPr>
        <p:txBody>
          <a:bodyPr anchor="t" rtlCol="false" tIns="0" lIns="0" bIns="0" rIns="0">
            <a:spAutoFit/>
          </a:bodyPr>
          <a:lstStyle/>
          <a:p>
            <a:pPr algn="ctr">
              <a:lnSpc>
                <a:spcPts val="3163"/>
              </a:lnSpc>
            </a:pPr>
            <a:r>
              <a:rPr lang="en-US" b="true" sz="2799" spc="-128">
                <a:solidFill>
                  <a:srgbClr val="FAFAFA"/>
                </a:solidFill>
                <a:latin typeface="JASO Sans Bold"/>
                <a:ea typeface="JASO Sans Bold"/>
                <a:cs typeface="JASO Sans Bold"/>
                <a:sym typeface="JASO Sans Bold"/>
              </a:rPr>
              <a:t>보고서 개요 및 작성 목적</a:t>
            </a:r>
          </a:p>
        </p:txBody>
      </p:sp>
      <p:sp>
        <p:nvSpPr>
          <p:cNvPr name="TextBox 12" id="12"/>
          <p:cNvSpPr txBox="true"/>
          <p:nvPr/>
        </p:nvSpPr>
        <p:spPr>
          <a:xfrm rot="0">
            <a:off x="2117079" y="7592830"/>
            <a:ext cx="3806749" cy="405914"/>
          </a:xfrm>
          <a:prstGeom prst="rect">
            <a:avLst/>
          </a:prstGeom>
        </p:spPr>
        <p:txBody>
          <a:bodyPr anchor="t" rtlCol="false" tIns="0" lIns="0" bIns="0" rIns="0">
            <a:spAutoFit/>
          </a:bodyPr>
          <a:lstStyle/>
          <a:p>
            <a:pPr algn="ctr">
              <a:lnSpc>
                <a:spcPts val="3163"/>
              </a:lnSpc>
            </a:pPr>
            <a:r>
              <a:rPr lang="en-US" b="true" sz="2799" spc="-128">
                <a:solidFill>
                  <a:srgbClr val="FAFAFA"/>
                </a:solidFill>
                <a:latin typeface="JASO Sans Bold"/>
                <a:ea typeface="JASO Sans Bold"/>
                <a:cs typeface="JASO Sans Bold"/>
                <a:sym typeface="JASO Sans Bold"/>
              </a:rPr>
              <a:t>문제점 및 개선 필요 영역</a:t>
            </a:r>
          </a:p>
        </p:txBody>
      </p:sp>
      <p:sp>
        <p:nvSpPr>
          <p:cNvPr name="TextBox 13" id="13"/>
          <p:cNvSpPr txBox="true"/>
          <p:nvPr/>
        </p:nvSpPr>
        <p:spPr>
          <a:xfrm rot="0">
            <a:off x="7238470" y="5575664"/>
            <a:ext cx="3806749" cy="405914"/>
          </a:xfrm>
          <a:prstGeom prst="rect">
            <a:avLst/>
          </a:prstGeom>
        </p:spPr>
        <p:txBody>
          <a:bodyPr anchor="t" rtlCol="false" tIns="0" lIns="0" bIns="0" rIns="0">
            <a:spAutoFit/>
          </a:bodyPr>
          <a:lstStyle/>
          <a:p>
            <a:pPr algn="ctr">
              <a:lnSpc>
                <a:spcPts val="3163"/>
              </a:lnSpc>
            </a:pPr>
            <a:r>
              <a:rPr lang="en-US" b="true" sz="2799" spc="-128">
                <a:solidFill>
                  <a:srgbClr val="FAFAFA"/>
                </a:solidFill>
                <a:latin typeface="JASO Sans Bold"/>
                <a:ea typeface="JASO Sans Bold"/>
                <a:cs typeface="JASO Sans Bold"/>
                <a:sym typeface="JASO Sans Bold"/>
              </a:rPr>
              <a:t>전년도 업무 성과 요약</a:t>
            </a:r>
          </a:p>
        </p:txBody>
      </p:sp>
      <p:sp>
        <p:nvSpPr>
          <p:cNvPr name="TextBox 14" id="14"/>
          <p:cNvSpPr txBox="true"/>
          <p:nvPr/>
        </p:nvSpPr>
        <p:spPr>
          <a:xfrm rot="0">
            <a:off x="7238470" y="7592830"/>
            <a:ext cx="3806749" cy="405914"/>
          </a:xfrm>
          <a:prstGeom prst="rect">
            <a:avLst/>
          </a:prstGeom>
        </p:spPr>
        <p:txBody>
          <a:bodyPr anchor="t" rtlCol="false" tIns="0" lIns="0" bIns="0" rIns="0">
            <a:spAutoFit/>
          </a:bodyPr>
          <a:lstStyle/>
          <a:p>
            <a:pPr algn="ctr">
              <a:lnSpc>
                <a:spcPts val="3163"/>
              </a:lnSpc>
            </a:pPr>
            <a:r>
              <a:rPr lang="en-US" b="true" sz="2799" spc="-128">
                <a:solidFill>
                  <a:srgbClr val="FAFAFA"/>
                </a:solidFill>
                <a:latin typeface="JASO Sans Bold"/>
                <a:ea typeface="JASO Sans Bold"/>
                <a:cs typeface="JASO Sans Bold"/>
                <a:sym typeface="JASO Sans Bold"/>
              </a:rPr>
              <a:t>2026년 업무 목표 설정</a:t>
            </a:r>
          </a:p>
        </p:txBody>
      </p:sp>
      <p:sp>
        <p:nvSpPr>
          <p:cNvPr name="TextBox 15" id="15"/>
          <p:cNvSpPr txBox="true"/>
          <p:nvPr/>
        </p:nvSpPr>
        <p:spPr>
          <a:xfrm rot="0">
            <a:off x="12358974" y="5575664"/>
            <a:ext cx="3806749" cy="405914"/>
          </a:xfrm>
          <a:prstGeom prst="rect">
            <a:avLst/>
          </a:prstGeom>
        </p:spPr>
        <p:txBody>
          <a:bodyPr anchor="t" rtlCol="false" tIns="0" lIns="0" bIns="0" rIns="0">
            <a:spAutoFit/>
          </a:bodyPr>
          <a:lstStyle/>
          <a:p>
            <a:pPr algn="ctr">
              <a:lnSpc>
                <a:spcPts val="3163"/>
              </a:lnSpc>
            </a:pPr>
            <a:r>
              <a:rPr lang="en-US" b="true" sz="2799" spc="-128">
                <a:solidFill>
                  <a:srgbClr val="FAFAFA"/>
                </a:solidFill>
                <a:latin typeface="JASO Sans Bold"/>
                <a:ea typeface="JASO Sans Bold"/>
                <a:cs typeface="JASO Sans Bold"/>
                <a:sym typeface="JASO Sans Bold"/>
              </a:rPr>
              <a:t>성과 분석 및 인사이트</a:t>
            </a:r>
          </a:p>
        </p:txBody>
      </p:sp>
      <p:sp>
        <p:nvSpPr>
          <p:cNvPr name="TextBox 16" id="16"/>
          <p:cNvSpPr txBox="true"/>
          <p:nvPr/>
        </p:nvSpPr>
        <p:spPr>
          <a:xfrm rot="0">
            <a:off x="12358974" y="7592830"/>
            <a:ext cx="3806749" cy="405914"/>
          </a:xfrm>
          <a:prstGeom prst="rect">
            <a:avLst/>
          </a:prstGeom>
        </p:spPr>
        <p:txBody>
          <a:bodyPr anchor="t" rtlCol="false" tIns="0" lIns="0" bIns="0" rIns="0">
            <a:spAutoFit/>
          </a:bodyPr>
          <a:lstStyle/>
          <a:p>
            <a:pPr algn="ctr">
              <a:lnSpc>
                <a:spcPts val="3163"/>
              </a:lnSpc>
            </a:pPr>
            <a:r>
              <a:rPr lang="en-US" b="true" sz="2799" spc="-128">
                <a:solidFill>
                  <a:srgbClr val="FAFAFA"/>
                </a:solidFill>
                <a:latin typeface="JASO Sans Bold"/>
                <a:ea typeface="JASO Sans Bold"/>
                <a:cs typeface="JASO Sans Bold"/>
                <a:sym typeface="JASO Sans Bold"/>
              </a:rPr>
              <a:t>실행 전략 및 추진 방향</a:t>
            </a:r>
          </a:p>
        </p:txBody>
      </p:sp>
      <p:sp>
        <p:nvSpPr>
          <p:cNvPr name="Freeform 17" id="17"/>
          <p:cNvSpPr/>
          <p:nvPr/>
        </p:nvSpPr>
        <p:spPr>
          <a:xfrm flipH="false" flipV="false" rot="-10800000">
            <a:off x="3769633" y="5074638"/>
            <a:ext cx="501641" cy="137723"/>
          </a:xfrm>
          <a:custGeom>
            <a:avLst/>
            <a:gdLst/>
            <a:ahLst/>
            <a:cxnLst/>
            <a:rect r="r" b="b" t="t" l="l"/>
            <a:pathLst>
              <a:path h="137723" w="501641">
                <a:moveTo>
                  <a:pt x="0" y="0"/>
                </a:moveTo>
                <a:lnTo>
                  <a:pt x="501642" y="0"/>
                </a:lnTo>
                <a:lnTo>
                  <a:pt x="501642" y="137724"/>
                </a:lnTo>
                <a:lnTo>
                  <a:pt x="0" y="1377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10800000">
            <a:off x="3769633" y="7148216"/>
            <a:ext cx="501641" cy="137723"/>
          </a:xfrm>
          <a:custGeom>
            <a:avLst/>
            <a:gdLst/>
            <a:ahLst/>
            <a:cxnLst/>
            <a:rect r="r" b="b" t="t" l="l"/>
            <a:pathLst>
              <a:path h="137723" w="501641">
                <a:moveTo>
                  <a:pt x="0" y="0"/>
                </a:moveTo>
                <a:lnTo>
                  <a:pt x="501642" y="0"/>
                </a:lnTo>
                <a:lnTo>
                  <a:pt x="501642" y="137723"/>
                </a:lnTo>
                <a:lnTo>
                  <a:pt x="0" y="1377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10800000">
            <a:off x="8893179" y="5074638"/>
            <a:ext cx="501641" cy="137723"/>
          </a:xfrm>
          <a:custGeom>
            <a:avLst/>
            <a:gdLst/>
            <a:ahLst/>
            <a:cxnLst/>
            <a:rect r="r" b="b" t="t" l="l"/>
            <a:pathLst>
              <a:path h="137723" w="501641">
                <a:moveTo>
                  <a:pt x="0" y="0"/>
                </a:moveTo>
                <a:lnTo>
                  <a:pt x="501642" y="0"/>
                </a:lnTo>
                <a:lnTo>
                  <a:pt x="501642" y="137724"/>
                </a:lnTo>
                <a:lnTo>
                  <a:pt x="0" y="1377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10800000">
            <a:off x="8893179" y="7148216"/>
            <a:ext cx="501641" cy="137723"/>
          </a:xfrm>
          <a:custGeom>
            <a:avLst/>
            <a:gdLst/>
            <a:ahLst/>
            <a:cxnLst/>
            <a:rect r="r" b="b" t="t" l="l"/>
            <a:pathLst>
              <a:path h="137723" w="501641">
                <a:moveTo>
                  <a:pt x="0" y="0"/>
                </a:moveTo>
                <a:lnTo>
                  <a:pt x="501642" y="0"/>
                </a:lnTo>
                <a:lnTo>
                  <a:pt x="501642" y="137723"/>
                </a:lnTo>
                <a:lnTo>
                  <a:pt x="0" y="1377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10800000">
            <a:off x="14011528" y="5074638"/>
            <a:ext cx="501641" cy="137723"/>
          </a:xfrm>
          <a:custGeom>
            <a:avLst/>
            <a:gdLst/>
            <a:ahLst/>
            <a:cxnLst/>
            <a:rect r="r" b="b" t="t" l="l"/>
            <a:pathLst>
              <a:path h="137723" w="501641">
                <a:moveTo>
                  <a:pt x="0" y="0"/>
                </a:moveTo>
                <a:lnTo>
                  <a:pt x="501641" y="0"/>
                </a:lnTo>
                <a:lnTo>
                  <a:pt x="501641" y="137724"/>
                </a:lnTo>
                <a:lnTo>
                  <a:pt x="0" y="1377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10800000">
            <a:off x="14011528" y="7148216"/>
            <a:ext cx="501641" cy="137723"/>
          </a:xfrm>
          <a:custGeom>
            <a:avLst/>
            <a:gdLst/>
            <a:ahLst/>
            <a:cxnLst/>
            <a:rect r="r" b="b" t="t" l="l"/>
            <a:pathLst>
              <a:path h="137723" w="501641">
                <a:moveTo>
                  <a:pt x="0" y="0"/>
                </a:moveTo>
                <a:lnTo>
                  <a:pt x="501641" y="0"/>
                </a:lnTo>
                <a:lnTo>
                  <a:pt x="501641" y="137723"/>
                </a:lnTo>
                <a:lnTo>
                  <a:pt x="0" y="1377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3" id="23"/>
          <p:cNvGrpSpPr/>
          <p:nvPr/>
        </p:nvGrpSpPr>
        <p:grpSpPr>
          <a:xfrm rot="0">
            <a:off x="10163128" y="1155797"/>
            <a:ext cx="250926" cy="25092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FAFAFA"/>
              </a:solidFill>
              <a:prstDash val="solid"/>
              <a:miter/>
            </a:ln>
          </p:spPr>
        </p:sp>
        <p:sp>
          <p:nvSpPr>
            <p:cNvPr name="TextBox 25" id="25"/>
            <p:cNvSpPr txBox="true"/>
            <p:nvPr/>
          </p:nvSpPr>
          <p:spPr>
            <a:xfrm>
              <a:off x="76200" y="19050"/>
              <a:ext cx="660400" cy="717550"/>
            </a:xfrm>
            <a:prstGeom prst="rect">
              <a:avLst/>
            </a:prstGeom>
          </p:spPr>
          <p:txBody>
            <a:bodyPr anchor="ctr" rtlCol="false" tIns="50800" lIns="50800" bIns="50800" rIns="50800"/>
            <a:lstStyle/>
            <a:p>
              <a:pPr algn="ctr" marL="0" indent="0" lvl="0">
                <a:lnSpc>
                  <a:spcPts val="2541"/>
                </a:lnSpc>
                <a:spcBef>
                  <a:spcPct val="0"/>
                </a:spcBef>
              </a:pPr>
            </a:p>
          </p:txBody>
        </p:sp>
      </p:grpSp>
      <p:sp>
        <p:nvSpPr>
          <p:cNvPr name="Freeform 26" id="26"/>
          <p:cNvSpPr/>
          <p:nvPr/>
        </p:nvSpPr>
        <p:spPr>
          <a:xfrm flipH="false" flipV="false" rot="0">
            <a:off x="7713946" y="2196885"/>
            <a:ext cx="250926" cy="250926"/>
          </a:xfrm>
          <a:custGeom>
            <a:avLst/>
            <a:gdLst/>
            <a:ahLst/>
            <a:cxnLst/>
            <a:rect r="r" b="b" t="t" l="l"/>
            <a:pathLst>
              <a:path h="250926" w="250926">
                <a:moveTo>
                  <a:pt x="0" y="0"/>
                </a:moveTo>
                <a:lnTo>
                  <a:pt x="250926" y="0"/>
                </a:lnTo>
                <a:lnTo>
                  <a:pt x="250926" y="250926"/>
                </a:lnTo>
                <a:lnTo>
                  <a:pt x="0" y="2509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1416"/>
            <a:chOff x="0" y="0"/>
            <a:chExt cx="3762963" cy="37328"/>
          </a:xfrm>
        </p:grpSpPr>
        <p:sp>
          <p:nvSpPr>
            <p:cNvPr name="Freeform 3" id="3"/>
            <p:cNvSpPr/>
            <p:nvPr/>
          </p:nvSpPr>
          <p:spPr>
            <a:xfrm flipH="false" flipV="false" rot="0">
              <a:off x="0" y="0"/>
              <a:ext cx="3762963" cy="37328"/>
            </a:xfrm>
            <a:custGeom>
              <a:avLst/>
              <a:gdLst/>
              <a:ahLst/>
              <a:cxnLst/>
              <a:rect r="r" b="b" t="t" l="l"/>
              <a:pathLst>
                <a:path h="37328" w="3762963">
                  <a:moveTo>
                    <a:pt x="0" y="0"/>
                  </a:moveTo>
                  <a:lnTo>
                    <a:pt x="3762963" y="0"/>
                  </a:lnTo>
                  <a:lnTo>
                    <a:pt x="3762963" y="37328"/>
                  </a:lnTo>
                  <a:lnTo>
                    <a:pt x="0" y="37328"/>
                  </a:lnTo>
                  <a:close/>
                </a:path>
              </a:pathLst>
            </a:custGeom>
            <a:solidFill>
              <a:srgbClr val="416F6C"/>
            </a:solidFill>
          </p:spPr>
        </p:sp>
        <p:sp>
          <p:nvSpPr>
            <p:cNvPr name="TextBox 4" id="4"/>
            <p:cNvSpPr txBox="true"/>
            <p:nvPr/>
          </p:nvSpPr>
          <p:spPr>
            <a:xfrm>
              <a:off x="0" y="-57150"/>
              <a:ext cx="3762963" cy="94478"/>
            </a:xfrm>
            <a:prstGeom prst="rect">
              <a:avLst/>
            </a:prstGeom>
          </p:spPr>
          <p:txBody>
            <a:bodyPr anchor="ctr" rtlCol="false" tIns="50800" lIns="50800" bIns="50800" rIns="50800"/>
            <a:lstStyle/>
            <a:p>
              <a:pPr algn="ctr">
                <a:lnSpc>
                  <a:spcPts val="2541"/>
                </a:lnSpc>
              </a:pPr>
            </a:p>
          </p:txBody>
        </p:sp>
      </p:grpSp>
      <p:sp>
        <p:nvSpPr>
          <p:cNvPr name="AutoShape 5" id="5"/>
          <p:cNvSpPr/>
          <p:nvPr/>
        </p:nvSpPr>
        <p:spPr>
          <a:xfrm>
            <a:off x="844732" y="2064885"/>
            <a:ext cx="16598535" cy="0"/>
          </a:xfrm>
          <a:prstGeom prst="line">
            <a:avLst/>
          </a:prstGeom>
          <a:ln cap="flat" w="9525">
            <a:solidFill>
              <a:srgbClr val="416F6C"/>
            </a:solidFill>
            <a:prstDash val="solid"/>
            <a:headEnd type="none" len="sm" w="sm"/>
            <a:tailEnd type="none" len="sm" w="sm"/>
          </a:ln>
        </p:spPr>
      </p:sp>
      <p:sp>
        <p:nvSpPr>
          <p:cNvPr name="TextBox 6" id="6"/>
          <p:cNvSpPr txBox="true"/>
          <p:nvPr/>
        </p:nvSpPr>
        <p:spPr>
          <a:xfrm rot="0">
            <a:off x="1601101" y="917525"/>
            <a:ext cx="8231589" cy="733022"/>
          </a:xfrm>
          <a:prstGeom prst="rect">
            <a:avLst/>
          </a:prstGeom>
        </p:spPr>
        <p:txBody>
          <a:bodyPr anchor="t" rtlCol="false" tIns="0" lIns="0" bIns="0" rIns="0">
            <a:spAutoFit/>
          </a:bodyPr>
          <a:lstStyle/>
          <a:p>
            <a:pPr algn="l" marL="0" indent="0" lvl="0">
              <a:lnSpc>
                <a:spcPts val="5508"/>
              </a:lnSpc>
            </a:pPr>
            <a:r>
              <a:rPr lang="en-US" b="true" sz="5400" spc="-108">
                <a:solidFill>
                  <a:srgbClr val="333333"/>
                </a:solidFill>
                <a:latin typeface="JASO Sans Bold"/>
                <a:ea typeface="JASO Sans Bold"/>
                <a:cs typeface="JASO Sans Bold"/>
                <a:sym typeface="JASO Sans Bold"/>
              </a:rPr>
              <a:t>마케팅 과제와 경쟁 현황</a:t>
            </a:r>
          </a:p>
        </p:txBody>
      </p:sp>
      <p:sp>
        <p:nvSpPr>
          <p:cNvPr name="TextBox 7" id="7"/>
          <p:cNvSpPr txBox="true"/>
          <p:nvPr/>
        </p:nvSpPr>
        <p:spPr>
          <a:xfrm rot="0">
            <a:off x="8425750" y="1328115"/>
            <a:ext cx="4543751" cy="228644"/>
          </a:xfrm>
          <a:prstGeom prst="rect">
            <a:avLst/>
          </a:prstGeom>
        </p:spPr>
        <p:txBody>
          <a:bodyPr anchor="t" rtlCol="false" tIns="0" lIns="0" bIns="0" rIns="0">
            <a:spAutoFit/>
          </a:bodyPr>
          <a:lstStyle/>
          <a:p>
            <a:pPr algn="l">
              <a:lnSpc>
                <a:spcPts val="1800"/>
              </a:lnSpc>
            </a:pPr>
            <a:r>
              <a:rPr lang="en-US" sz="1500" spc="-30">
                <a:solidFill>
                  <a:srgbClr val="333333">
                    <a:alpha val="32941"/>
                  </a:srgbClr>
                </a:solidFill>
                <a:latin typeface="JASO Sans"/>
                <a:ea typeface="JASO Sans"/>
                <a:cs typeface="JASO Sans"/>
                <a:sym typeface="JASO Sans"/>
              </a:rPr>
              <a:t>메인타이틀에 대한 세부 설명을 입력해 주세요.</a:t>
            </a:r>
          </a:p>
        </p:txBody>
      </p:sp>
      <p:sp>
        <p:nvSpPr>
          <p:cNvPr name="Freeform 8" id="8"/>
          <p:cNvSpPr/>
          <p:nvPr/>
        </p:nvSpPr>
        <p:spPr>
          <a:xfrm flipH="false" flipV="false" rot="0">
            <a:off x="1028700" y="1059829"/>
            <a:ext cx="362690" cy="362690"/>
          </a:xfrm>
          <a:custGeom>
            <a:avLst/>
            <a:gdLst/>
            <a:ahLst/>
            <a:cxnLst/>
            <a:rect r="r" b="b" t="t" l="l"/>
            <a:pathLst>
              <a:path h="362690" w="362690">
                <a:moveTo>
                  <a:pt x="0" y="0"/>
                </a:moveTo>
                <a:lnTo>
                  <a:pt x="362690" y="0"/>
                </a:lnTo>
                <a:lnTo>
                  <a:pt x="362690" y="362690"/>
                </a:lnTo>
                <a:lnTo>
                  <a:pt x="0" y="362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717296" y="3069773"/>
            <a:ext cx="14862932" cy="1133475"/>
          </a:xfrm>
          <a:prstGeom prst="rect">
            <a:avLst/>
          </a:prstGeom>
        </p:spPr>
        <p:txBody>
          <a:bodyPr anchor="t" rtlCol="false" tIns="0" lIns="0" bIns="0" rIns="0">
            <a:spAutoFit/>
          </a:bodyPr>
          <a:lstStyle/>
          <a:p>
            <a:pPr algn="ctr" marL="0" indent="0" lvl="0">
              <a:lnSpc>
                <a:spcPts val="3000"/>
              </a:lnSpc>
              <a:spcBef>
                <a:spcPct val="0"/>
              </a:spcBef>
            </a:pPr>
            <a:r>
              <a:rPr lang="en-US" sz="2000" spc="-40" strike="noStrike" u="none">
                <a:solidFill>
                  <a:srgbClr val="333333">
                    <a:alpha val="69804"/>
                  </a:srgbClr>
                </a:solidFill>
                <a:latin typeface="JASO Sans"/>
                <a:ea typeface="JASO Sans"/>
                <a:cs typeface="JASO Sans"/>
                <a:sym typeface="JASO Sans"/>
              </a:rPr>
              <a:t>콘텐츠는 SNS 성과의 핵심입니다. 브랜딩과 실용성을 조합하여 사용자 반응률을 극대화하는 구조로 설계합니다.</a:t>
            </a:r>
          </a:p>
          <a:p>
            <a:pPr algn="ctr" marL="0" indent="0" lvl="0">
              <a:lnSpc>
                <a:spcPts val="3000"/>
              </a:lnSpc>
              <a:spcBef>
                <a:spcPct val="0"/>
              </a:spcBef>
            </a:pPr>
            <a:r>
              <a:rPr lang="en-US" sz="2000" spc="-40" strike="noStrike" u="none">
                <a:solidFill>
                  <a:srgbClr val="333333">
                    <a:alpha val="69804"/>
                  </a:srgbClr>
                </a:solidFill>
                <a:latin typeface="JASO Sans"/>
                <a:ea typeface="JASO Sans"/>
                <a:cs typeface="JASO Sans"/>
                <a:sym typeface="JASO Sans"/>
              </a:rPr>
              <a:t>사용자의 관심을 끌기 위해 스토리텔링 요소를 적절히 활용하고, 시각적 요소와 텍스트를 조화롭게 배치하여 메시지를 명확히 전달합니다. 또한, 개인화된 콘텐츠를 통해 사용자의 참여를 유도하고, 다양한 플랫폼에서 일관된 브랜드 이미지를 유지함으로써 신뢰를 구축합니다.</a:t>
            </a:r>
          </a:p>
        </p:txBody>
      </p:sp>
      <p:grpSp>
        <p:nvGrpSpPr>
          <p:cNvPr name="Group 10" id="10"/>
          <p:cNvGrpSpPr/>
          <p:nvPr/>
        </p:nvGrpSpPr>
        <p:grpSpPr>
          <a:xfrm rot="0">
            <a:off x="1717296" y="4891915"/>
            <a:ext cx="7315492" cy="3945590"/>
            <a:chOff x="0" y="0"/>
            <a:chExt cx="1926714" cy="1039168"/>
          </a:xfrm>
        </p:grpSpPr>
        <p:sp>
          <p:nvSpPr>
            <p:cNvPr name="Freeform 11" id="11"/>
            <p:cNvSpPr/>
            <p:nvPr/>
          </p:nvSpPr>
          <p:spPr>
            <a:xfrm flipH="false" flipV="false" rot="0">
              <a:off x="0" y="0"/>
              <a:ext cx="1926714" cy="1039168"/>
            </a:xfrm>
            <a:custGeom>
              <a:avLst/>
              <a:gdLst/>
              <a:ahLst/>
              <a:cxnLst/>
              <a:rect r="r" b="b" t="t" l="l"/>
              <a:pathLst>
                <a:path h="1039168" w="1926714">
                  <a:moveTo>
                    <a:pt x="21166" y="0"/>
                  </a:moveTo>
                  <a:lnTo>
                    <a:pt x="1905548" y="0"/>
                  </a:lnTo>
                  <a:cubicBezTo>
                    <a:pt x="1917238" y="0"/>
                    <a:pt x="1926714" y="9476"/>
                    <a:pt x="1926714" y="21166"/>
                  </a:cubicBezTo>
                  <a:lnTo>
                    <a:pt x="1926714" y="1018002"/>
                  </a:lnTo>
                  <a:cubicBezTo>
                    <a:pt x="1926714" y="1023616"/>
                    <a:pt x="1924484" y="1028999"/>
                    <a:pt x="1920515" y="1032968"/>
                  </a:cubicBezTo>
                  <a:cubicBezTo>
                    <a:pt x="1916545" y="1036938"/>
                    <a:pt x="1911162" y="1039168"/>
                    <a:pt x="1905548" y="1039168"/>
                  </a:cubicBezTo>
                  <a:lnTo>
                    <a:pt x="21166" y="1039168"/>
                  </a:lnTo>
                  <a:cubicBezTo>
                    <a:pt x="15552" y="1039168"/>
                    <a:pt x="10169" y="1036938"/>
                    <a:pt x="6199" y="1032968"/>
                  </a:cubicBezTo>
                  <a:cubicBezTo>
                    <a:pt x="2230" y="1028999"/>
                    <a:pt x="0" y="1023616"/>
                    <a:pt x="0" y="1018002"/>
                  </a:cubicBezTo>
                  <a:lnTo>
                    <a:pt x="0" y="21166"/>
                  </a:lnTo>
                  <a:cubicBezTo>
                    <a:pt x="0" y="15552"/>
                    <a:pt x="2230" y="10169"/>
                    <a:pt x="6199" y="6199"/>
                  </a:cubicBezTo>
                  <a:cubicBezTo>
                    <a:pt x="10169" y="2230"/>
                    <a:pt x="15552" y="0"/>
                    <a:pt x="21166" y="0"/>
                  </a:cubicBezTo>
                  <a:close/>
                </a:path>
              </a:pathLst>
            </a:custGeom>
            <a:solidFill>
              <a:srgbClr val="F1F1F1"/>
            </a:solidFill>
            <a:ln w="9525" cap="sq">
              <a:solidFill>
                <a:srgbClr val="B3B3B3"/>
              </a:solidFill>
              <a:prstDash val="solid"/>
              <a:miter/>
            </a:ln>
          </p:spPr>
        </p:sp>
        <p:sp>
          <p:nvSpPr>
            <p:cNvPr name="TextBox 12" id="12"/>
            <p:cNvSpPr txBox="true"/>
            <p:nvPr/>
          </p:nvSpPr>
          <p:spPr>
            <a:xfrm>
              <a:off x="0" y="-57150"/>
              <a:ext cx="1926714" cy="1096318"/>
            </a:xfrm>
            <a:prstGeom prst="rect">
              <a:avLst/>
            </a:prstGeom>
          </p:spPr>
          <p:txBody>
            <a:bodyPr anchor="ctr" rtlCol="false" tIns="50800" lIns="50800" bIns="50800" rIns="50800"/>
            <a:lstStyle/>
            <a:p>
              <a:pPr algn="ctr">
                <a:lnSpc>
                  <a:spcPts val="2541"/>
                </a:lnSpc>
              </a:pPr>
            </a:p>
          </p:txBody>
        </p:sp>
      </p:grpSp>
      <p:grpSp>
        <p:nvGrpSpPr>
          <p:cNvPr name="Group 13" id="13"/>
          <p:cNvGrpSpPr/>
          <p:nvPr/>
        </p:nvGrpSpPr>
        <p:grpSpPr>
          <a:xfrm rot="0">
            <a:off x="9264737" y="4891915"/>
            <a:ext cx="7315492" cy="3945590"/>
            <a:chOff x="0" y="0"/>
            <a:chExt cx="1926714" cy="1039168"/>
          </a:xfrm>
        </p:grpSpPr>
        <p:sp>
          <p:nvSpPr>
            <p:cNvPr name="Freeform 14" id="14"/>
            <p:cNvSpPr/>
            <p:nvPr/>
          </p:nvSpPr>
          <p:spPr>
            <a:xfrm flipH="false" flipV="false" rot="0">
              <a:off x="0" y="0"/>
              <a:ext cx="1926714" cy="1039168"/>
            </a:xfrm>
            <a:custGeom>
              <a:avLst/>
              <a:gdLst/>
              <a:ahLst/>
              <a:cxnLst/>
              <a:rect r="r" b="b" t="t" l="l"/>
              <a:pathLst>
                <a:path h="1039168" w="1926714">
                  <a:moveTo>
                    <a:pt x="21166" y="0"/>
                  </a:moveTo>
                  <a:lnTo>
                    <a:pt x="1905548" y="0"/>
                  </a:lnTo>
                  <a:cubicBezTo>
                    <a:pt x="1917238" y="0"/>
                    <a:pt x="1926714" y="9476"/>
                    <a:pt x="1926714" y="21166"/>
                  </a:cubicBezTo>
                  <a:lnTo>
                    <a:pt x="1926714" y="1018002"/>
                  </a:lnTo>
                  <a:cubicBezTo>
                    <a:pt x="1926714" y="1023616"/>
                    <a:pt x="1924484" y="1028999"/>
                    <a:pt x="1920515" y="1032968"/>
                  </a:cubicBezTo>
                  <a:cubicBezTo>
                    <a:pt x="1916545" y="1036938"/>
                    <a:pt x="1911162" y="1039168"/>
                    <a:pt x="1905548" y="1039168"/>
                  </a:cubicBezTo>
                  <a:lnTo>
                    <a:pt x="21166" y="1039168"/>
                  </a:lnTo>
                  <a:cubicBezTo>
                    <a:pt x="15552" y="1039168"/>
                    <a:pt x="10169" y="1036938"/>
                    <a:pt x="6199" y="1032968"/>
                  </a:cubicBezTo>
                  <a:cubicBezTo>
                    <a:pt x="2230" y="1028999"/>
                    <a:pt x="0" y="1023616"/>
                    <a:pt x="0" y="1018002"/>
                  </a:cubicBezTo>
                  <a:lnTo>
                    <a:pt x="0" y="21166"/>
                  </a:lnTo>
                  <a:cubicBezTo>
                    <a:pt x="0" y="15552"/>
                    <a:pt x="2230" y="10169"/>
                    <a:pt x="6199" y="6199"/>
                  </a:cubicBezTo>
                  <a:cubicBezTo>
                    <a:pt x="10169" y="2230"/>
                    <a:pt x="15552" y="0"/>
                    <a:pt x="21166" y="0"/>
                  </a:cubicBezTo>
                  <a:close/>
                </a:path>
              </a:pathLst>
            </a:custGeom>
            <a:solidFill>
              <a:srgbClr val="F1F1F1"/>
            </a:solidFill>
            <a:ln w="9525" cap="sq">
              <a:solidFill>
                <a:srgbClr val="B3B3B3"/>
              </a:solidFill>
              <a:prstDash val="solid"/>
              <a:miter/>
            </a:ln>
          </p:spPr>
        </p:sp>
        <p:sp>
          <p:nvSpPr>
            <p:cNvPr name="TextBox 15" id="15"/>
            <p:cNvSpPr txBox="true"/>
            <p:nvPr/>
          </p:nvSpPr>
          <p:spPr>
            <a:xfrm>
              <a:off x="0" y="-57150"/>
              <a:ext cx="1926714" cy="1096318"/>
            </a:xfrm>
            <a:prstGeom prst="rect">
              <a:avLst/>
            </a:prstGeom>
          </p:spPr>
          <p:txBody>
            <a:bodyPr anchor="ctr" rtlCol="false" tIns="50800" lIns="50800" bIns="50800" rIns="50800"/>
            <a:lstStyle/>
            <a:p>
              <a:pPr algn="ctr">
                <a:lnSpc>
                  <a:spcPts val="2541"/>
                </a:lnSpc>
              </a:pPr>
            </a:p>
          </p:txBody>
        </p:sp>
      </p:grpSp>
      <p:sp>
        <p:nvSpPr>
          <p:cNvPr name="TextBox 16" id="16"/>
          <p:cNvSpPr txBox="true"/>
          <p:nvPr/>
        </p:nvSpPr>
        <p:spPr>
          <a:xfrm rot="0">
            <a:off x="4219727" y="5369749"/>
            <a:ext cx="2367780" cy="480674"/>
          </a:xfrm>
          <a:prstGeom prst="rect">
            <a:avLst/>
          </a:prstGeom>
        </p:spPr>
        <p:txBody>
          <a:bodyPr anchor="t" rtlCol="false" tIns="0" lIns="0" bIns="0" rIns="0">
            <a:spAutoFit/>
          </a:bodyPr>
          <a:lstStyle/>
          <a:p>
            <a:pPr algn="ctr">
              <a:lnSpc>
                <a:spcPts val="4014"/>
              </a:lnSpc>
            </a:pPr>
            <a:r>
              <a:rPr lang="en-US" b="true" sz="2749" spc="-54">
                <a:solidFill>
                  <a:srgbClr val="416F6C"/>
                </a:solidFill>
                <a:latin typeface="JASO Sans Bold"/>
                <a:ea typeface="JASO Sans Bold"/>
                <a:cs typeface="JASO Sans Bold"/>
                <a:sym typeface="JASO Sans Bold"/>
              </a:rPr>
              <a:t>내부 과제</a:t>
            </a:r>
          </a:p>
        </p:txBody>
      </p:sp>
      <p:sp>
        <p:nvSpPr>
          <p:cNvPr name="TextBox 17" id="17"/>
          <p:cNvSpPr txBox="true"/>
          <p:nvPr/>
        </p:nvSpPr>
        <p:spPr>
          <a:xfrm rot="0">
            <a:off x="11767168" y="5369749"/>
            <a:ext cx="2367780" cy="480674"/>
          </a:xfrm>
          <a:prstGeom prst="rect">
            <a:avLst/>
          </a:prstGeom>
        </p:spPr>
        <p:txBody>
          <a:bodyPr anchor="t" rtlCol="false" tIns="0" lIns="0" bIns="0" rIns="0">
            <a:spAutoFit/>
          </a:bodyPr>
          <a:lstStyle/>
          <a:p>
            <a:pPr algn="ctr">
              <a:lnSpc>
                <a:spcPts val="4014"/>
              </a:lnSpc>
            </a:pPr>
            <a:r>
              <a:rPr lang="en-US" b="true" sz="2749" spc="-54">
                <a:solidFill>
                  <a:srgbClr val="416F6C"/>
                </a:solidFill>
                <a:latin typeface="JASO Sans Bold"/>
                <a:ea typeface="JASO Sans Bold"/>
                <a:cs typeface="JASO Sans Bold"/>
                <a:sym typeface="JASO Sans Bold"/>
              </a:rPr>
              <a:t>경쟁 현황</a:t>
            </a:r>
          </a:p>
        </p:txBody>
      </p:sp>
      <p:sp>
        <p:nvSpPr>
          <p:cNvPr name="TextBox 18" id="18"/>
          <p:cNvSpPr txBox="true"/>
          <p:nvPr/>
        </p:nvSpPr>
        <p:spPr>
          <a:xfrm rot="0">
            <a:off x="1999562" y="6354115"/>
            <a:ext cx="6750961" cy="354374"/>
          </a:xfrm>
          <a:prstGeom prst="rect">
            <a:avLst/>
          </a:prstGeom>
        </p:spPr>
        <p:txBody>
          <a:bodyPr anchor="t" rtlCol="false" tIns="0" lIns="0" bIns="0" rIns="0">
            <a:spAutoFit/>
          </a:bodyPr>
          <a:lstStyle/>
          <a:p>
            <a:pPr algn="ctr">
              <a:lnSpc>
                <a:spcPts val="2925"/>
              </a:lnSpc>
            </a:pPr>
            <a:r>
              <a:rPr lang="en-US" sz="1950" spc="-39">
                <a:solidFill>
                  <a:srgbClr val="333333">
                    <a:alpha val="69804"/>
                  </a:srgbClr>
                </a:solidFill>
                <a:latin typeface="JASO Sans"/>
                <a:ea typeface="JASO Sans"/>
                <a:cs typeface="JASO Sans"/>
                <a:sym typeface="JASO Sans"/>
              </a:rPr>
              <a:t>타겟팅</a:t>
            </a:r>
            <a:r>
              <a:rPr lang="en-US" sz="1950" spc="-39">
                <a:solidFill>
                  <a:srgbClr val="333333">
                    <a:alpha val="69804"/>
                  </a:srgbClr>
                </a:solidFill>
                <a:latin typeface="JASO Sans"/>
                <a:ea typeface="JASO Sans"/>
                <a:cs typeface="JASO Sans"/>
                <a:sym typeface="JASO Sans"/>
              </a:rPr>
              <a:t> 정확도 62% — 업계 평균 78% 대비 16%p 차이</a:t>
            </a:r>
          </a:p>
        </p:txBody>
      </p:sp>
      <p:sp>
        <p:nvSpPr>
          <p:cNvPr name="TextBox 19" id="19"/>
          <p:cNvSpPr txBox="true"/>
          <p:nvPr/>
        </p:nvSpPr>
        <p:spPr>
          <a:xfrm rot="0">
            <a:off x="9547002" y="6354115"/>
            <a:ext cx="6750961" cy="354374"/>
          </a:xfrm>
          <a:prstGeom prst="rect">
            <a:avLst/>
          </a:prstGeom>
        </p:spPr>
        <p:txBody>
          <a:bodyPr anchor="t" rtlCol="false" tIns="0" lIns="0" bIns="0" rIns="0">
            <a:spAutoFit/>
          </a:bodyPr>
          <a:lstStyle/>
          <a:p>
            <a:pPr algn="ctr">
              <a:lnSpc>
                <a:spcPts val="2925"/>
              </a:lnSpc>
            </a:pPr>
            <a:r>
              <a:rPr lang="en-US" sz="1950" spc="-39">
                <a:solidFill>
                  <a:srgbClr val="333333">
                    <a:alpha val="69804"/>
                  </a:srgbClr>
                </a:solidFill>
                <a:latin typeface="JASO Sans"/>
                <a:ea typeface="JASO Sans"/>
                <a:cs typeface="JASO Sans"/>
                <a:sym typeface="JASO Sans"/>
              </a:rPr>
              <a:t>경쟁사</a:t>
            </a:r>
            <a:r>
              <a:rPr lang="en-US" sz="1950" spc="-39">
                <a:solidFill>
                  <a:srgbClr val="333333">
                    <a:alpha val="69804"/>
                  </a:srgbClr>
                </a:solidFill>
                <a:latin typeface="JASO Sans"/>
                <a:ea typeface="JASO Sans"/>
                <a:cs typeface="JASO Sans"/>
                <a:sym typeface="JASO Sans"/>
              </a:rPr>
              <a:t> 평균 팔로워 450만 vs 우리 180만(하위)</a:t>
            </a:r>
          </a:p>
        </p:txBody>
      </p:sp>
      <p:sp>
        <p:nvSpPr>
          <p:cNvPr name="TextBox 20" id="20"/>
          <p:cNvSpPr txBox="true"/>
          <p:nvPr/>
        </p:nvSpPr>
        <p:spPr>
          <a:xfrm rot="0">
            <a:off x="1999562" y="7064549"/>
            <a:ext cx="6750961" cy="354374"/>
          </a:xfrm>
          <a:prstGeom prst="rect">
            <a:avLst/>
          </a:prstGeom>
        </p:spPr>
        <p:txBody>
          <a:bodyPr anchor="t" rtlCol="false" tIns="0" lIns="0" bIns="0" rIns="0">
            <a:spAutoFit/>
          </a:bodyPr>
          <a:lstStyle/>
          <a:p>
            <a:pPr algn="ctr">
              <a:lnSpc>
                <a:spcPts val="2925"/>
              </a:lnSpc>
            </a:pPr>
            <a:r>
              <a:rPr lang="en-US" sz="1950" spc="-39">
                <a:solidFill>
                  <a:srgbClr val="333333">
                    <a:alpha val="69804"/>
                  </a:srgbClr>
                </a:solidFill>
                <a:latin typeface="JASO Sans"/>
                <a:ea typeface="JASO Sans"/>
                <a:cs typeface="JASO Sans"/>
                <a:sym typeface="JASO Sans"/>
              </a:rPr>
              <a:t>채널</a:t>
            </a:r>
            <a:r>
              <a:rPr lang="en-US" sz="1950" spc="-39">
                <a:solidFill>
                  <a:srgbClr val="333333">
                    <a:alpha val="69804"/>
                  </a:srgbClr>
                </a:solidFill>
                <a:latin typeface="JASO Sans"/>
                <a:ea typeface="JASO Sans"/>
                <a:cs typeface="JASO Sans"/>
                <a:sym typeface="JASO Sans"/>
              </a:rPr>
              <a:t> 5개 운영, ROI 편차: 최고 320% vs 최저 85%</a:t>
            </a:r>
          </a:p>
        </p:txBody>
      </p:sp>
      <p:sp>
        <p:nvSpPr>
          <p:cNvPr name="TextBox 21" id="21"/>
          <p:cNvSpPr txBox="true"/>
          <p:nvPr/>
        </p:nvSpPr>
        <p:spPr>
          <a:xfrm rot="0">
            <a:off x="9547002" y="7064549"/>
            <a:ext cx="6750961" cy="354374"/>
          </a:xfrm>
          <a:prstGeom prst="rect">
            <a:avLst/>
          </a:prstGeom>
        </p:spPr>
        <p:txBody>
          <a:bodyPr anchor="t" rtlCol="false" tIns="0" lIns="0" bIns="0" rIns="0">
            <a:spAutoFit/>
          </a:bodyPr>
          <a:lstStyle/>
          <a:p>
            <a:pPr algn="ctr">
              <a:lnSpc>
                <a:spcPts val="2925"/>
              </a:lnSpc>
            </a:pPr>
            <a:r>
              <a:rPr lang="en-US" sz="1950" spc="-39">
                <a:solidFill>
                  <a:srgbClr val="333333">
                    <a:alpha val="69804"/>
                  </a:srgbClr>
                </a:solidFill>
                <a:latin typeface="JASO Sans"/>
                <a:ea typeface="JASO Sans"/>
                <a:cs typeface="JASO Sans"/>
                <a:sym typeface="JASO Sans"/>
              </a:rPr>
              <a:t>플랫폼</a:t>
            </a:r>
            <a:r>
              <a:rPr lang="en-US" sz="1950" spc="-39">
                <a:solidFill>
                  <a:srgbClr val="333333">
                    <a:alpha val="69804"/>
                  </a:srgbClr>
                </a:solidFill>
                <a:latin typeface="JASO Sans"/>
                <a:ea typeface="JASO Sans"/>
                <a:cs typeface="JASO Sans"/>
                <a:sym typeface="JASO Sans"/>
              </a:rPr>
              <a:t> 알고리즘 장벽: 오가닉 도달률 1-2</a:t>
            </a:r>
          </a:p>
        </p:txBody>
      </p:sp>
      <p:sp>
        <p:nvSpPr>
          <p:cNvPr name="TextBox 22" id="22"/>
          <p:cNvSpPr txBox="true"/>
          <p:nvPr/>
        </p:nvSpPr>
        <p:spPr>
          <a:xfrm rot="0">
            <a:off x="1999562" y="7790398"/>
            <a:ext cx="6750961" cy="354374"/>
          </a:xfrm>
          <a:prstGeom prst="rect">
            <a:avLst/>
          </a:prstGeom>
        </p:spPr>
        <p:txBody>
          <a:bodyPr anchor="t" rtlCol="false" tIns="0" lIns="0" bIns="0" rIns="0">
            <a:spAutoFit/>
          </a:bodyPr>
          <a:lstStyle/>
          <a:p>
            <a:pPr algn="ctr">
              <a:lnSpc>
                <a:spcPts val="2925"/>
              </a:lnSpc>
            </a:pPr>
            <a:r>
              <a:rPr lang="en-US" sz="1950" spc="-39">
                <a:solidFill>
                  <a:srgbClr val="333333">
                    <a:alpha val="69804"/>
                  </a:srgbClr>
                </a:solidFill>
                <a:latin typeface="JASO Sans"/>
                <a:ea typeface="JASO Sans"/>
                <a:cs typeface="JASO Sans"/>
                <a:sym typeface="JASO Sans"/>
              </a:rPr>
              <a:t>크로스채널</a:t>
            </a:r>
            <a:r>
              <a:rPr lang="en-US" sz="1950" spc="-39">
                <a:solidFill>
                  <a:srgbClr val="333333">
                    <a:alpha val="69804"/>
                  </a:srgbClr>
                </a:solidFill>
                <a:latin typeface="JASO Sans"/>
                <a:ea typeface="JASO Sans"/>
                <a:cs typeface="JASO Sans"/>
                <a:sym typeface="JASO Sans"/>
              </a:rPr>
              <a:t> 어트리뷰션 불명확, 실시간 데이터 통합 부재</a:t>
            </a:r>
          </a:p>
        </p:txBody>
      </p:sp>
      <p:sp>
        <p:nvSpPr>
          <p:cNvPr name="TextBox 23" id="23"/>
          <p:cNvSpPr txBox="true"/>
          <p:nvPr/>
        </p:nvSpPr>
        <p:spPr>
          <a:xfrm rot="0">
            <a:off x="9547002" y="7790398"/>
            <a:ext cx="6750961" cy="354374"/>
          </a:xfrm>
          <a:prstGeom prst="rect">
            <a:avLst/>
          </a:prstGeom>
        </p:spPr>
        <p:txBody>
          <a:bodyPr anchor="t" rtlCol="false" tIns="0" lIns="0" bIns="0" rIns="0">
            <a:spAutoFit/>
          </a:bodyPr>
          <a:lstStyle/>
          <a:p>
            <a:pPr algn="ctr">
              <a:lnSpc>
                <a:spcPts val="2925"/>
              </a:lnSpc>
            </a:pPr>
            <a:r>
              <a:rPr lang="en-US" sz="1950" spc="-39">
                <a:solidFill>
                  <a:srgbClr val="333333">
                    <a:alpha val="69804"/>
                  </a:srgbClr>
                </a:solidFill>
                <a:latin typeface="JASO Sans"/>
                <a:ea typeface="JASO Sans"/>
                <a:cs typeface="JASO Sans"/>
                <a:sym typeface="JASO Sans"/>
              </a:rPr>
              <a:t>광고</a:t>
            </a:r>
            <a:r>
              <a:rPr lang="en-US" sz="1950" spc="-39">
                <a:solidFill>
                  <a:srgbClr val="333333">
                    <a:alpha val="69804"/>
                  </a:srgbClr>
                </a:solidFill>
                <a:latin typeface="JASO Sans"/>
                <a:ea typeface="JASO Sans"/>
                <a:cs typeface="JASO Sans"/>
                <a:sym typeface="JASO Sans"/>
              </a:rPr>
              <a:t> 단가 월 15-20% 상승 추세, 인플루언서 시장 포화</a:t>
            </a:r>
          </a:p>
        </p:txBody>
      </p:sp>
      <p:sp>
        <p:nvSpPr>
          <p:cNvPr name="Freeform 24" id="24"/>
          <p:cNvSpPr/>
          <p:nvPr/>
        </p:nvSpPr>
        <p:spPr>
          <a:xfrm flipH="false" flipV="false" rot="0">
            <a:off x="4425178" y="5565369"/>
            <a:ext cx="187008" cy="142594"/>
          </a:xfrm>
          <a:custGeom>
            <a:avLst/>
            <a:gdLst/>
            <a:ahLst/>
            <a:cxnLst/>
            <a:rect r="r" b="b" t="t" l="l"/>
            <a:pathLst>
              <a:path h="142594" w="187008">
                <a:moveTo>
                  <a:pt x="0" y="0"/>
                </a:moveTo>
                <a:lnTo>
                  <a:pt x="187008" y="0"/>
                </a:lnTo>
                <a:lnTo>
                  <a:pt x="187008" y="142593"/>
                </a:lnTo>
                <a:lnTo>
                  <a:pt x="0" y="1425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11972618" y="5565369"/>
            <a:ext cx="187008" cy="142594"/>
          </a:xfrm>
          <a:custGeom>
            <a:avLst/>
            <a:gdLst/>
            <a:ahLst/>
            <a:cxnLst/>
            <a:rect r="r" b="b" t="t" l="l"/>
            <a:pathLst>
              <a:path h="142594" w="187008">
                <a:moveTo>
                  <a:pt x="0" y="0"/>
                </a:moveTo>
                <a:lnTo>
                  <a:pt x="187008" y="0"/>
                </a:lnTo>
                <a:lnTo>
                  <a:pt x="187008" y="142593"/>
                </a:lnTo>
                <a:lnTo>
                  <a:pt x="0" y="1425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6" id="26"/>
          <p:cNvSpPr/>
          <p:nvPr/>
        </p:nvSpPr>
        <p:spPr>
          <a:xfrm>
            <a:off x="2257702" y="6922802"/>
            <a:ext cx="6234680" cy="0"/>
          </a:xfrm>
          <a:prstGeom prst="line">
            <a:avLst/>
          </a:prstGeom>
          <a:ln cap="rnd" w="9525">
            <a:solidFill>
              <a:srgbClr val="333333">
                <a:alpha val="38824"/>
              </a:srgbClr>
            </a:solidFill>
            <a:prstDash val="lgDash"/>
            <a:headEnd type="none" len="sm" w="sm"/>
            <a:tailEnd type="none" len="sm" w="sm"/>
          </a:ln>
        </p:spPr>
      </p:sp>
      <p:sp>
        <p:nvSpPr>
          <p:cNvPr name="AutoShape 27" id="27"/>
          <p:cNvSpPr/>
          <p:nvPr/>
        </p:nvSpPr>
        <p:spPr>
          <a:xfrm>
            <a:off x="9805143" y="6922802"/>
            <a:ext cx="6234680" cy="0"/>
          </a:xfrm>
          <a:prstGeom prst="line">
            <a:avLst/>
          </a:prstGeom>
          <a:ln cap="rnd" w="9525">
            <a:solidFill>
              <a:srgbClr val="333333">
                <a:alpha val="38824"/>
              </a:srgbClr>
            </a:solidFill>
            <a:prstDash val="lgDash"/>
            <a:headEnd type="none" len="sm" w="sm"/>
            <a:tailEnd type="none" len="sm" w="sm"/>
          </a:ln>
        </p:spPr>
      </p:sp>
      <p:sp>
        <p:nvSpPr>
          <p:cNvPr name="AutoShape 28" id="28"/>
          <p:cNvSpPr/>
          <p:nvPr/>
        </p:nvSpPr>
        <p:spPr>
          <a:xfrm>
            <a:off x="2257702" y="7633235"/>
            <a:ext cx="6234680" cy="0"/>
          </a:xfrm>
          <a:prstGeom prst="line">
            <a:avLst/>
          </a:prstGeom>
          <a:ln cap="rnd" w="9525">
            <a:solidFill>
              <a:srgbClr val="333333">
                <a:alpha val="38824"/>
              </a:srgbClr>
            </a:solidFill>
            <a:prstDash val="lgDash"/>
            <a:headEnd type="none" len="sm" w="sm"/>
            <a:tailEnd type="none" len="sm" w="sm"/>
          </a:ln>
        </p:spPr>
      </p:sp>
      <p:sp>
        <p:nvSpPr>
          <p:cNvPr name="AutoShape 29" id="29"/>
          <p:cNvSpPr/>
          <p:nvPr/>
        </p:nvSpPr>
        <p:spPr>
          <a:xfrm>
            <a:off x="9805143" y="7633235"/>
            <a:ext cx="6234680" cy="0"/>
          </a:xfrm>
          <a:prstGeom prst="line">
            <a:avLst/>
          </a:prstGeom>
          <a:ln cap="rnd" w="9525">
            <a:solidFill>
              <a:srgbClr val="333333">
                <a:alpha val="38824"/>
              </a:srgbClr>
            </a:solidFill>
            <a:prstDash val="lgDash"/>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1416"/>
            <a:chOff x="0" y="0"/>
            <a:chExt cx="3762963" cy="37328"/>
          </a:xfrm>
        </p:grpSpPr>
        <p:sp>
          <p:nvSpPr>
            <p:cNvPr name="Freeform 3" id="3"/>
            <p:cNvSpPr/>
            <p:nvPr/>
          </p:nvSpPr>
          <p:spPr>
            <a:xfrm flipH="false" flipV="false" rot="0">
              <a:off x="0" y="0"/>
              <a:ext cx="3762963" cy="37328"/>
            </a:xfrm>
            <a:custGeom>
              <a:avLst/>
              <a:gdLst/>
              <a:ahLst/>
              <a:cxnLst/>
              <a:rect r="r" b="b" t="t" l="l"/>
              <a:pathLst>
                <a:path h="37328" w="3762963">
                  <a:moveTo>
                    <a:pt x="0" y="0"/>
                  </a:moveTo>
                  <a:lnTo>
                    <a:pt x="3762963" y="0"/>
                  </a:lnTo>
                  <a:lnTo>
                    <a:pt x="3762963" y="37328"/>
                  </a:lnTo>
                  <a:lnTo>
                    <a:pt x="0" y="37328"/>
                  </a:lnTo>
                  <a:close/>
                </a:path>
              </a:pathLst>
            </a:custGeom>
            <a:solidFill>
              <a:srgbClr val="416F6C"/>
            </a:solidFill>
          </p:spPr>
        </p:sp>
        <p:sp>
          <p:nvSpPr>
            <p:cNvPr name="TextBox 4" id="4"/>
            <p:cNvSpPr txBox="true"/>
            <p:nvPr/>
          </p:nvSpPr>
          <p:spPr>
            <a:xfrm>
              <a:off x="0" y="-57150"/>
              <a:ext cx="3762963" cy="94478"/>
            </a:xfrm>
            <a:prstGeom prst="rect">
              <a:avLst/>
            </a:prstGeom>
          </p:spPr>
          <p:txBody>
            <a:bodyPr anchor="ctr" rtlCol="false" tIns="50800" lIns="50800" bIns="50800" rIns="50800"/>
            <a:lstStyle/>
            <a:p>
              <a:pPr algn="ctr">
                <a:lnSpc>
                  <a:spcPts val="2541"/>
                </a:lnSpc>
              </a:pPr>
            </a:p>
          </p:txBody>
        </p:sp>
      </p:grpSp>
      <p:sp>
        <p:nvSpPr>
          <p:cNvPr name="AutoShape 5" id="5"/>
          <p:cNvSpPr/>
          <p:nvPr/>
        </p:nvSpPr>
        <p:spPr>
          <a:xfrm>
            <a:off x="844732" y="2064885"/>
            <a:ext cx="16598535" cy="0"/>
          </a:xfrm>
          <a:prstGeom prst="line">
            <a:avLst/>
          </a:prstGeom>
          <a:ln cap="flat" w="9525">
            <a:solidFill>
              <a:srgbClr val="416F6C"/>
            </a:solidFill>
            <a:prstDash val="solid"/>
            <a:headEnd type="none" len="sm" w="sm"/>
            <a:tailEnd type="none" len="sm" w="sm"/>
          </a:ln>
        </p:spPr>
      </p:sp>
      <p:sp>
        <p:nvSpPr>
          <p:cNvPr name="TextBox 6" id="6"/>
          <p:cNvSpPr txBox="true"/>
          <p:nvPr/>
        </p:nvSpPr>
        <p:spPr>
          <a:xfrm rot="0">
            <a:off x="1601101" y="917525"/>
            <a:ext cx="9792550" cy="733022"/>
          </a:xfrm>
          <a:prstGeom prst="rect">
            <a:avLst/>
          </a:prstGeom>
        </p:spPr>
        <p:txBody>
          <a:bodyPr anchor="t" rtlCol="false" tIns="0" lIns="0" bIns="0" rIns="0">
            <a:spAutoFit/>
          </a:bodyPr>
          <a:lstStyle/>
          <a:p>
            <a:pPr algn="l" marL="0" indent="0" lvl="0">
              <a:lnSpc>
                <a:spcPts val="5508"/>
              </a:lnSpc>
            </a:pPr>
            <a:r>
              <a:rPr lang="en-US" b="true" sz="5400" spc="-108">
                <a:solidFill>
                  <a:srgbClr val="333333"/>
                </a:solidFill>
                <a:latin typeface="JASO Sans Bold"/>
                <a:ea typeface="JASO Sans Bold"/>
                <a:cs typeface="JASO Sans Bold"/>
                <a:sym typeface="JASO Sans Bold"/>
              </a:rPr>
              <a:t>차별화된 마케팅의 핵심 기둥</a:t>
            </a:r>
          </a:p>
        </p:txBody>
      </p:sp>
      <p:sp>
        <p:nvSpPr>
          <p:cNvPr name="TextBox 7" id="7"/>
          <p:cNvSpPr txBox="true"/>
          <p:nvPr/>
        </p:nvSpPr>
        <p:spPr>
          <a:xfrm rot="0">
            <a:off x="9591196" y="1328115"/>
            <a:ext cx="4543751" cy="228644"/>
          </a:xfrm>
          <a:prstGeom prst="rect">
            <a:avLst/>
          </a:prstGeom>
        </p:spPr>
        <p:txBody>
          <a:bodyPr anchor="t" rtlCol="false" tIns="0" lIns="0" bIns="0" rIns="0">
            <a:spAutoFit/>
          </a:bodyPr>
          <a:lstStyle/>
          <a:p>
            <a:pPr algn="l">
              <a:lnSpc>
                <a:spcPts val="1800"/>
              </a:lnSpc>
            </a:pPr>
            <a:r>
              <a:rPr lang="en-US" sz="1500" spc="-30">
                <a:solidFill>
                  <a:srgbClr val="333333">
                    <a:alpha val="32941"/>
                  </a:srgbClr>
                </a:solidFill>
                <a:latin typeface="JASO Sans"/>
                <a:ea typeface="JASO Sans"/>
                <a:cs typeface="JASO Sans"/>
                <a:sym typeface="JASO Sans"/>
              </a:rPr>
              <a:t>메인타이틀에 대한 세부 설명을 입력해 주세요.</a:t>
            </a:r>
          </a:p>
        </p:txBody>
      </p:sp>
      <p:sp>
        <p:nvSpPr>
          <p:cNvPr name="Freeform 8" id="8"/>
          <p:cNvSpPr/>
          <p:nvPr/>
        </p:nvSpPr>
        <p:spPr>
          <a:xfrm flipH="false" flipV="false" rot="0">
            <a:off x="1028700" y="1059829"/>
            <a:ext cx="362690" cy="362690"/>
          </a:xfrm>
          <a:custGeom>
            <a:avLst/>
            <a:gdLst/>
            <a:ahLst/>
            <a:cxnLst/>
            <a:rect r="r" b="b" t="t" l="l"/>
            <a:pathLst>
              <a:path h="362690" w="362690">
                <a:moveTo>
                  <a:pt x="0" y="0"/>
                </a:moveTo>
                <a:lnTo>
                  <a:pt x="362690" y="0"/>
                </a:lnTo>
                <a:lnTo>
                  <a:pt x="362690" y="362690"/>
                </a:lnTo>
                <a:lnTo>
                  <a:pt x="0" y="362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6293471" y="3136448"/>
            <a:ext cx="5701057" cy="5701057"/>
          </a:xfrm>
          <a:custGeom>
            <a:avLst/>
            <a:gdLst/>
            <a:ahLst/>
            <a:cxnLst/>
            <a:rect r="r" b="b" t="t" l="l"/>
            <a:pathLst>
              <a:path h="5701057" w="5701057">
                <a:moveTo>
                  <a:pt x="0" y="0"/>
                </a:moveTo>
                <a:lnTo>
                  <a:pt x="5701058" y="0"/>
                </a:lnTo>
                <a:lnTo>
                  <a:pt x="5701058" y="5701057"/>
                </a:lnTo>
                <a:lnTo>
                  <a:pt x="0" y="5701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8238129" y="5081105"/>
            <a:ext cx="1811742" cy="181174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CFC"/>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2541"/>
                </a:lnSpc>
              </a:pPr>
            </a:p>
          </p:txBody>
        </p:sp>
      </p:grpSp>
      <p:sp>
        <p:nvSpPr>
          <p:cNvPr name="TextBox 13" id="13"/>
          <p:cNvSpPr txBox="true"/>
          <p:nvPr/>
        </p:nvSpPr>
        <p:spPr>
          <a:xfrm rot="0">
            <a:off x="12421408" y="3947630"/>
            <a:ext cx="4168346" cy="1133475"/>
          </a:xfrm>
          <a:prstGeom prst="rect">
            <a:avLst/>
          </a:prstGeom>
        </p:spPr>
        <p:txBody>
          <a:bodyPr anchor="t" rtlCol="false" tIns="0" lIns="0" bIns="0" rIns="0">
            <a:spAutoFit/>
          </a:bodyPr>
          <a:lstStyle/>
          <a:p>
            <a:pPr algn="l">
              <a:lnSpc>
                <a:spcPts val="3000"/>
              </a:lnSpc>
            </a:pPr>
            <a:r>
              <a:rPr lang="en-US" sz="2000" spc="-40">
                <a:solidFill>
                  <a:srgbClr val="333333">
                    <a:alpha val="69804"/>
                  </a:srgbClr>
                </a:solidFill>
                <a:latin typeface="JASO Sans"/>
                <a:ea typeface="JASO Sans"/>
                <a:cs typeface="JASO Sans"/>
                <a:sym typeface="JASO Sans"/>
              </a:rPr>
              <a:t>데이터 기반 </a:t>
            </a:r>
            <a:r>
              <a:rPr lang="en-US" sz="2000" spc="-40" strike="noStrike" u="none">
                <a:solidFill>
                  <a:srgbClr val="333333">
                    <a:alpha val="69804"/>
                  </a:srgbClr>
                </a:solidFill>
                <a:latin typeface="JASO Sans"/>
                <a:ea typeface="JASO Sans"/>
                <a:cs typeface="JASO Sans"/>
                <a:sym typeface="JASO Sans"/>
              </a:rPr>
              <a:t>콘텐츠 </a:t>
            </a:r>
            <a:r>
              <a:rPr lang="en-US" sz="2000" spc="-40" strike="noStrike" u="none">
                <a:solidFill>
                  <a:srgbClr val="333333">
                    <a:alpha val="69804"/>
                  </a:srgbClr>
                </a:solidFill>
                <a:latin typeface="JASO Sans"/>
                <a:ea typeface="JASO Sans"/>
                <a:cs typeface="JASO Sans"/>
                <a:sym typeface="JASO Sans"/>
              </a:rPr>
              <a:t>최적</a:t>
            </a:r>
            <a:r>
              <a:rPr lang="en-US" sz="2000" spc="-40" strike="noStrike" u="none">
                <a:solidFill>
                  <a:srgbClr val="333333">
                    <a:alpha val="69804"/>
                  </a:srgbClr>
                </a:solidFill>
                <a:latin typeface="JASO Sans"/>
                <a:ea typeface="JASO Sans"/>
                <a:cs typeface="JASO Sans"/>
                <a:sym typeface="JASO Sans"/>
              </a:rPr>
              <a:t>화 </a:t>
            </a:r>
            <a:r>
              <a:rPr lang="en-US" sz="2000" spc="-40" strike="noStrike" u="none">
                <a:solidFill>
                  <a:srgbClr val="333333">
                    <a:alpha val="69804"/>
                  </a:srgbClr>
                </a:solidFill>
                <a:latin typeface="JASO Sans"/>
                <a:ea typeface="JASO Sans"/>
                <a:cs typeface="JASO Sans"/>
                <a:sym typeface="JASO Sans"/>
              </a:rPr>
              <a:t>및</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A/B</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테</a:t>
            </a:r>
            <a:r>
              <a:rPr lang="en-US" sz="2000" spc="-40" strike="noStrike" u="none">
                <a:solidFill>
                  <a:srgbClr val="333333">
                    <a:alpha val="69804"/>
                  </a:srgbClr>
                </a:solidFill>
                <a:latin typeface="JASO Sans"/>
                <a:ea typeface="JASO Sans"/>
                <a:cs typeface="JASO Sans"/>
                <a:sym typeface="JASO Sans"/>
              </a:rPr>
              <a:t>스</a:t>
            </a:r>
            <a:r>
              <a:rPr lang="en-US" sz="2000" spc="-40" strike="noStrike" u="none">
                <a:solidFill>
                  <a:srgbClr val="333333">
                    <a:alpha val="69804"/>
                  </a:srgbClr>
                </a:solidFill>
                <a:latin typeface="JASO Sans"/>
                <a:ea typeface="JASO Sans"/>
                <a:cs typeface="JASO Sans"/>
                <a:sym typeface="JASO Sans"/>
              </a:rPr>
              <a:t>팅.</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월</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45개</a:t>
            </a:r>
            <a:r>
              <a:rPr lang="en-US" sz="2000" spc="-40" strike="noStrike" u="none">
                <a:solidFill>
                  <a:srgbClr val="333333">
                    <a:alpha val="69804"/>
                  </a:srgbClr>
                </a:solidFill>
                <a:latin typeface="JASO Sans"/>
                <a:ea typeface="JASO Sans"/>
                <a:cs typeface="JASO Sans"/>
                <a:sym typeface="JASO Sans"/>
              </a:rPr>
              <a:t> 고</a:t>
            </a:r>
            <a:r>
              <a:rPr lang="en-US" sz="2000" spc="-40" strike="noStrike" u="none">
                <a:solidFill>
                  <a:srgbClr val="333333">
                    <a:alpha val="69804"/>
                  </a:srgbClr>
                </a:solidFill>
                <a:latin typeface="JASO Sans"/>
                <a:ea typeface="JASO Sans"/>
                <a:cs typeface="JASO Sans"/>
                <a:sym typeface="JASO Sans"/>
              </a:rPr>
              <a:t>품질</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콘텐츠</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제작,</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참</a:t>
            </a:r>
            <a:r>
              <a:rPr lang="en-US" sz="2000" spc="-40" strike="noStrike" u="none">
                <a:solidFill>
                  <a:srgbClr val="333333">
                    <a:alpha val="69804"/>
                  </a:srgbClr>
                </a:solidFill>
                <a:latin typeface="JASO Sans"/>
                <a:ea typeface="JASO Sans"/>
                <a:cs typeface="JASO Sans"/>
                <a:sym typeface="JASO Sans"/>
              </a:rPr>
              <a:t>여</a:t>
            </a:r>
            <a:r>
              <a:rPr lang="en-US" sz="2000" spc="-40" strike="noStrike" u="none">
                <a:solidFill>
                  <a:srgbClr val="333333">
                    <a:alpha val="69804"/>
                  </a:srgbClr>
                </a:solidFill>
                <a:latin typeface="JASO Sans"/>
                <a:ea typeface="JASO Sans"/>
                <a:cs typeface="JASO Sans"/>
                <a:sym typeface="JASO Sans"/>
              </a:rPr>
              <a:t>율</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3.2%</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to</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7</a:t>
            </a:r>
            <a:r>
              <a:rPr lang="en-US" sz="2000" spc="-40" strike="noStrike" u="none">
                <a:solidFill>
                  <a:srgbClr val="333333">
                    <a:alpha val="69804"/>
                  </a:srgbClr>
                </a:solidFill>
                <a:latin typeface="JASO Sans"/>
                <a:ea typeface="JASO Sans"/>
                <a:cs typeface="JASO Sans"/>
                <a:sym typeface="JASO Sans"/>
              </a:rPr>
              <a:t>.</a:t>
            </a:r>
            <a:r>
              <a:rPr lang="en-US" sz="2000" spc="-40" strike="noStrike" u="none">
                <a:solidFill>
                  <a:srgbClr val="333333">
                    <a:alpha val="69804"/>
                  </a:srgbClr>
                </a:solidFill>
                <a:latin typeface="JASO Sans"/>
                <a:ea typeface="JASO Sans"/>
                <a:cs typeface="JASO Sans"/>
                <a:sym typeface="JASO Sans"/>
              </a:rPr>
              <a:t>5%</a:t>
            </a:r>
            <a:r>
              <a:rPr lang="en-US" sz="2000" spc="-40" strike="noStrike" u="none">
                <a:solidFill>
                  <a:srgbClr val="333333">
                    <a:alpha val="69804"/>
                  </a:srgbClr>
                </a:solidFill>
                <a:latin typeface="JASO Sans"/>
                <a:ea typeface="JASO Sans"/>
                <a:cs typeface="JASO Sans"/>
                <a:sym typeface="JASO Sans"/>
              </a:rPr>
              <a:t>, 참여도 </a:t>
            </a:r>
            <a:r>
              <a:rPr lang="en-US" sz="2000" spc="-40" strike="noStrike" u="none">
                <a:solidFill>
                  <a:srgbClr val="333333">
                    <a:alpha val="69804"/>
                  </a:srgbClr>
                </a:solidFill>
                <a:latin typeface="JASO Sans"/>
                <a:ea typeface="JASO Sans"/>
                <a:cs typeface="JASO Sans"/>
                <a:sym typeface="JASO Sans"/>
              </a:rPr>
              <a:t>135%</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증가</a:t>
            </a:r>
          </a:p>
        </p:txBody>
      </p:sp>
      <p:sp>
        <p:nvSpPr>
          <p:cNvPr name="TextBox 14" id="14"/>
          <p:cNvSpPr txBox="true"/>
          <p:nvPr/>
        </p:nvSpPr>
        <p:spPr>
          <a:xfrm rot="0">
            <a:off x="12421408" y="7679252"/>
            <a:ext cx="4168346" cy="1514475"/>
          </a:xfrm>
          <a:prstGeom prst="rect">
            <a:avLst/>
          </a:prstGeom>
        </p:spPr>
        <p:txBody>
          <a:bodyPr anchor="t" rtlCol="false" tIns="0" lIns="0" bIns="0" rIns="0">
            <a:spAutoFit/>
          </a:bodyPr>
          <a:lstStyle/>
          <a:p>
            <a:pPr algn="l">
              <a:lnSpc>
                <a:spcPts val="3000"/>
              </a:lnSpc>
            </a:pPr>
            <a:r>
              <a:rPr lang="en-US" sz="2000" spc="-40">
                <a:solidFill>
                  <a:srgbClr val="333333">
                    <a:alpha val="69804"/>
                  </a:srgbClr>
                </a:solidFill>
                <a:latin typeface="JASO Sans"/>
                <a:ea typeface="JASO Sans"/>
                <a:cs typeface="JASO Sans"/>
                <a:sym typeface="JASO Sans"/>
              </a:rPr>
              <a:t>5개 주요 플랫폼</a:t>
            </a:r>
            <a:r>
              <a:rPr lang="en-US" sz="2000" spc="-40" strike="noStrike" u="none">
                <a:solidFill>
                  <a:srgbClr val="333333">
                    <a:alpha val="69804"/>
                  </a:srgbClr>
                </a:solidFill>
                <a:latin typeface="JASO Sans"/>
                <a:ea typeface="JASO Sans"/>
                <a:cs typeface="JASO Sans"/>
                <a:sym typeface="JASO Sans"/>
              </a:rPr>
              <a:t> 통합 운영으로 일관된 메시지 전달. 전체 도달 범위 2</a:t>
            </a:r>
            <a:r>
              <a:rPr lang="en-US" sz="2000" spc="-40" strike="noStrike" u="none">
                <a:solidFill>
                  <a:srgbClr val="333333">
                    <a:alpha val="69804"/>
                  </a:srgbClr>
                </a:solidFill>
                <a:latin typeface="JASO Sans"/>
                <a:ea typeface="JASO Sans"/>
                <a:cs typeface="JASO Sans"/>
                <a:sym typeface="JASO Sans"/>
              </a:rPr>
              <a:t>80</a:t>
            </a:r>
            <a:r>
              <a:rPr lang="en-US" sz="2000" spc="-40" strike="noStrike" u="none">
                <a:solidFill>
                  <a:srgbClr val="333333">
                    <a:alpha val="69804"/>
                  </a:srgbClr>
                </a:solidFill>
                <a:latin typeface="JASO Sans"/>
                <a:ea typeface="JASO Sans"/>
                <a:cs typeface="JASO Sans"/>
                <a:sym typeface="JASO Sans"/>
              </a:rPr>
              <a:t>% 확대, 브랜드 인지도 45% 향상</a:t>
            </a:r>
          </a:p>
          <a:p>
            <a:pPr algn="l">
              <a:lnSpc>
                <a:spcPts val="3000"/>
              </a:lnSpc>
            </a:pPr>
          </a:p>
        </p:txBody>
      </p:sp>
      <p:sp>
        <p:nvSpPr>
          <p:cNvPr name="TextBox 15" id="15"/>
          <p:cNvSpPr txBox="true"/>
          <p:nvPr/>
        </p:nvSpPr>
        <p:spPr>
          <a:xfrm rot="0">
            <a:off x="1751320" y="3947630"/>
            <a:ext cx="4168346" cy="1514475"/>
          </a:xfrm>
          <a:prstGeom prst="rect">
            <a:avLst/>
          </a:prstGeom>
        </p:spPr>
        <p:txBody>
          <a:bodyPr anchor="t" rtlCol="false" tIns="0" lIns="0" bIns="0" rIns="0">
            <a:spAutoFit/>
          </a:bodyPr>
          <a:lstStyle/>
          <a:p>
            <a:pPr algn="r">
              <a:lnSpc>
                <a:spcPts val="3000"/>
              </a:lnSpc>
            </a:pPr>
            <a:r>
              <a:rPr lang="en-US" sz="2000" spc="-40">
                <a:solidFill>
                  <a:srgbClr val="333333">
                    <a:alpha val="69804"/>
                  </a:srgbClr>
                </a:solidFill>
                <a:latin typeface="JASO Sans"/>
                <a:ea typeface="JASO Sans"/>
                <a:cs typeface="JASO Sans"/>
                <a:sym typeface="JASO Sans"/>
              </a:rPr>
              <a:t>AI 고급 세분화로</a:t>
            </a:r>
            <a:r>
              <a:rPr lang="en-US" sz="2000" spc="-40" strike="noStrike" u="none">
                <a:solidFill>
                  <a:srgbClr val="333333">
                    <a:alpha val="69804"/>
                  </a:srgbClr>
                </a:solidFill>
                <a:latin typeface="JASO Sans"/>
                <a:ea typeface="JASO Sans"/>
                <a:cs typeface="JASO Sans"/>
                <a:sym typeface="JASO Sans"/>
              </a:rPr>
              <a:t> 정확한 고객 도달. 타겟팅 정확도 78% to 88% 향상, 광고 낭비 25%</a:t>
            </a:r>
            <a:r>
              <a:rPr lang="en-US" sz="2000" spc="-40" strike="noStrike" u="none">
                <a:solidFill>
                  <a:srgbClr val="333333">
                    <a:alpha val="69804"/>
                  </a:srgbClr>
                </a:solidFill>
                <a:latin typeface="JASO Sans"/>
                <a:ea typeface="JASO Sans"/>
                <a:cs typeface="JASO Sans"/>
                <a:sym typeface="JASO Sans"/>
              </a:rPr>
              <a:t> 감소</a:t>
            </a:r>
            <a:r>
              <a:rPr lang="en-US" sz="2000" spc="-40" strike="noStrike" u="none">
                <a:solidFill>
                  <a:srgbClr val="333333">
                    <a:alpha val="69804"/>
                  </a:srgbClr>
                </a:solidFill>
                <a:latin typeface="JASO Sans"/>
                <a:ea typeface="JASO Sans"/>
                <a:cs typeface="JASO Sans"/>
                <a:sym typeface="JASO Sans"/>
              </a:rPr>
              <a:t>, CPM 20% 개선</a:t>
            </a:r>
          </a:p>
          <a:p>
            <a:pPr algn="r">
              <a:lnSpc>
                <a:spcPts val="3000"/>
              </a:lnSpc>
            </a:pPr>
          </a:p>
        </p:txBody>
      </p:sp>
      <p:sp>
        <p:nvSpPr>
          <p:cNvPr name="TextBox 16" id="16"/>
          <p:cNvSpPr txBox="true"/>
          <p:nvPr/>
        </p:nvSpPr>
        <p:spPr>
          <a:xfrm rot="0">
            <a:off x="1751320" y="7679252"/>
            <a:ext cx="4168346" cy="1514475"/>
          </a:xfrm>
          <a:prstGeom prst="rect">
            <a:avLst/>
          </a:prstGeom>
        </p:spPr>
        <p:txBody>
          <a:bodyPr anchor="t" rtlCol="false" tIns="0" lIns="0" bIns="0" rIns="0">
            <a:spAutoFit/>
          </a:bodyPr>
          <a:lstStyle/>
          <a:p>
            <a:pPr algn="r">
              <a:lnSpc>
                <a:spcPts val="3000"/>
              </a:lnSpc>
            </a:pPr>
            <a:r>
              <a:rPr lang="en-US" sz="2000" spc="-40">
                <a:solidFill>
                  <a:srgbClr val="333333">
                    <a:alpha val="69804"/>
                  </a:srgbClr>
                </a:solidFill>
                <a:latin typeface="JASO Sans"/>
                <a:ea typeface="JASO Sans"/>
                <a:cs typeface="JASO Sans"/>
                <a:sym typeface="JASO Sans"/>
              </a:rPr>
              <a:t>24시간 모니터링과 성과 기반 즉각 조정. 주간</a:t>
            </a:r>
            <a:r>
              <a:rPr lang="en-US" sz="2000" spc="-40" strike="noStrike" u="none">
                <a:solidFill>
                  <a:srgbClr val="333333">
                    <a:alpha val="69804"/>
                  </a:srgbClr>
                </a:solidFill>
                <a:latin typeface="JASO Sans"/>
                <a:ea typeface="JASO Sans"/>
                <a:cs typeface="JASO Sans"/>
                <a:sym typeface="JASO Sans"/>
              </a:rPr>
              <a:t> 최적화 대비 속도 7배 향상, 캠페인 효율</a:t>
            </a:r>
            <a:r>
              <a:rPr lang="en-US" sz="2000" spc="-40" strike="noStrike" u="none">
                <a:solidFill>
                  <a:srgbClr val="333333">
                    <a:alpha val="69804"/>
                  </a:srgbClr>
                </a:solidFill>
                <a:latin typeface="JASO Sans"/>
                <a:ea typeface="JASO Sans"/>
                <a:cs typeface="JASO Sans"/>
                <a:sym typeface="JASO Sans"/>
              </a:rPr>
              <a:t>성</a:t>
            </a:r>
            <a:r>
              <a:rPr lang="en-US" sz="2000" spc="-40" strike="noStrike" u="none">
                <a:solidFill>
                  <a:srgbClr val="333333">
                    <a:alpha val="69804"/>
                  </a:srgbClr>
                </a:solidFill>
                <a:latin typeface="JASO Sans"/>
                <a:ea typeface="JASO Sans"/>
                <a:cs typeface="JASO Sans"/>
                <a:sym typeface="JASO Sans"/>
              </a:rPr>
              <a:t> 35% 증가</a:t>
            </a:r>
          </a:p>
          <a:p>
            <a:pPr algn="r">
              <a:lnSpc>
                <a:spcPts val="3000"/>
              </a:lnSpc>
            </a:pPr>
          </a:p>
        </p:txBody>
      </p:sp>
      <p:sp>
        <p:nvSpPr>
          <p:cNvPr name="TextBox 17" id="17"/>
          <p:cNvSpPr txBox="true"/>
          <p:nvPr/>
        </p:nvSpPr>
        <p:spPr>
          <a:xfrm rot="0">
            <a:off x="12694141" y="3313625"/>
            <a:ext cx="4018401" cy="480674"/>
          </a:xfrm>
          <a:prstGeom prst="rect">
            <a:avLst/>
          </a:prstGeom>
        </p:spPr>
        <p:txBody>
          <a:bodyPr anchor="t" rtlCol="false" tIns="0" lIns="0" bIns="0" rIns="0">
            <a:spAutoFit/>
          </a:bodyPr>
          <a:lstStyle/>
          <a:p>
            <a:pPr algn="l">
              <a:lnSpc>
                <a:spcPts val="4014"/>
              </a:lnSpc>
            </a:pPr>
            <a:r>
              <a:rPr lang="en-US" b="true" sz="2749" spc="-54">
                <a:solidFill>
                  <a:srgbClr val="333333"/>
                </a:solidFill>
                <a:latin typeface="JASO Sans Bold"/>
                <a:ea typeface="JASO Sans Bold"/>
                <a:cs typeface="JASO Sans Bold"/>
                <a:sym typeface="JASO Sans Bold"/>
              </a:rPr>
              <a:t>크리에이티브 우수성</a:t>
            </a:r>
          </a:p>
        </p:txBody>
      </p:sp>
      <p:sp>
        <p:nvSpPr>
          <p:cNvPr name="TextBox 18" id="18"/>
          <p:cNvSpPr txBox="true"/>
          <p:nvPr/>
        </p:nvSpPr>
        <p:spPr>
          <a:xfrm rot="0">
            <a:off x="12694141" y="7045247"/>
            <a:ext cx="4018401" cy="480674"/>
          </a:xfrm>
          <a:prstGeom prst="rect">
            <a:avLst/>
          </a:prstGeom>
        </p:spPr>
        <p:txBody>
          <a:bodyPr anchor="t" rtlCol="false" tIns="0" lIns="0" bIns="0" rIns="0">
            <a:spAutoFit/>
          </a:bodyPr>
          <a:lstStyle/>
          <a:p>
            <a:pPr algn="l">
              <a:lnSpc>
                <a:spcPts val="4014"/>
              </a:lnSpc>
            </a:pPr>
            <a:r>
              <a:rPr lang="en-US" sz="2749" spc="-54" b="true">
                <a:solidFill>
                  <a:srgbClr val="333333"/>
                </a:solidFill>
                <a:latin typeface="JASO Sans Bold"/>
                <a:ea typeface="JASO Sans Bold"/>
                <a:cs typeface="JASO Sans Bold"/>
                <a:sym typeface="JASO Sans Bold"/>
              </a:rPr>
              <a:t>다채널 통합</a:t>
            </a:r>
            <a:r>
              <a:rPr lang="en-US" b="true" sz="2749" spc="-54">
                <a:solidFill>
                  <a:srgbClr val="333333"/>
                </a:solidFill>
                <a:latin typeface="JASO Sans Bold"/>
                <a:ea typeface="JASO Sans Bold"/>
                <a:cs typeface="JASO Sans Bold"/>
                <a:sym typeface="JASO Sans Bold"/>
              </a:rPr>
              <a:t> 실행</a:t>
            </a:r>
          </a:p>
        </p:txBody>
      </p:sp>
      <p:sp>
        <p:nvSpPr>
          <p:cNvPr name="TextBox 19" id="19"/>
          <p:cNvSpPr txBox="true"/>
          <p:nvPr/>
        </p:nvSpPr>
        <p:spPr>
          <a:xfrm rot="0">
            <a:off x="1901264" y="3313625"/>
            <a:ext cx="4018401" cy="480674"/>
          </a:xfrm>
          <a:prstGeom prst="rect">
            <a:avLst/>
          </a:prstGeom>
        </p:spPr>
        <p:txBody>
          <a:bodyPr anchor="t" rtlCol="false" tIns="0" lIns="0" bIns="0" rIns="0">
            <a:spAutoFit/>
          </a:bodyPr>
          <a:lstStyle/>
          <a:p>
            <a:pPr algn="r">
              <a:lnSpc>
                <a:spcPts val="4014"/>
              </a:lnSpc>
            </a:pPr>
            <a:r>
              <a:rPr lang="en-US" b="true" sz="2749" spc="-54">
                <a:solidFill>
                  <a:srgbClr val="333333"/>
                </a:solidFill>
                <a:latin typeface="JASO Sans Bold"/>
                <a:ea typeface="JASO Sans Bold"/>
                <a:cs typeface="JASO Sans Bold"/>
                <a:sym typeface="JASO Sans Bold"/>
              </a:rPr>
              <a:t>데</a:t>
            </a:r>
            <a:r>
              <a:rPr lang="en-US" b="true" sz="2749" spc="-54">
                <a:solidFill>
                  <a:srgbClr val="333333"/>
                </a:solidFill>
                <a:latin typeface="JASO Sans Bold"/>
                <a:ea typeface="JASO Sans Bold"/>
                <a:cs typeface="JASO Sans Bold"/>
                <a:sym typeface="JASO Sans Bold"/>
              </a:rPr>
              <a:t>이터 기반 타겟팅</a:t>
            </a:r>
          </a:p>
        </p:txBody>
      </p:sp>
      <p:sp>
        <p:nvSpPr>
          <p:cNvPr name="TextBox 20" id="20"/>
          <p:cNvSpPr txBox="true"/>
          <p:nvPr/>
        </p:nvSpPr>
        <p:spPr>
          <a:xfrm rot="0">
            <a:off x="1901264" y="7045247"/>
            <a:ext cx="4018401" cy="480674"/>
          </a:xfrm>
          <a:prstGeom prst="rect">
            <a:avLst/>
          </a:prstGeom>
        </p:spPr>
        <p:txBody>
          <a:bodyPr anchor="t" rtlCol="false" tIns="0" lIns="0" bIns="0" rIns="0">
            <a:spAutoFit/>
          </a:bodyPr>
          <a:lstStyle/>
          <a:p>
            <a:pPr algn="r">
              <a:lnSpc>
                <a:spcPts val="4014"/>
              </a:lnSpc>
            </a:pPr>
            <a:r>
              <a:rPr lang="en-US" b="true" sz="2749" spc="-54">
                <a:solidFill>
                  <a:srgbClr val="333333"/>
                </a:solidFill>
                <a:latin typeface="JASO Sans Bold"/>
                <a:ea typeface="JASO Sans Bold"/>
                <a:cs typeface="JASO Sans Bold"/>
                <a:sym typeface="JASO Sans Bold"/>
              </a:rPr>
              <a:t>실시간</a:t>
            </a:r>
            <a:r>
              <a:rPr lang="en-US" b="true" sz="2749" spc="-54">
                <a:solidFill>
                  <a:srgbClr val="333333"/>
                </a:solidFill>
                <a:latin typeface="JASO Sans Bold"/>
                <a:ea typeface="JASO Sans Bold"/>
                <a:cs typeface="JASO Sans Bold"/>
                <a:sym typeface="JASO Sans Bold"/>
              </a:rPr>
              <a:t> 최적화 체계</a:t>
            </a:r>
          </a:p>
        </p:txBody>
      </p:sp>
      <p:sp>
        <p:nvSpPr>
          <p:cNvPr name="Freeform 21" id="21"/>
          <p:cNvSpPr/>
          <p:nvPr/>
        </p:nvSpPr>
        <p:spPr>
          <a:xfrm flipH="false" flipV="false" rot="0">
            <a:off x="12421408" y="3506478"/>
            <a:ext cx="187008" cy="142594"/>
          </a:xfrm>
          <a:custGeom>
            <a:avLst/>
            <a:gdLst/>
            <a:ahLst/>
            <a:cxnLst/>
            <a:rect r="r" b="b" t="t" l="l"/>
            <a:pathLst>
              <a:path h="142594" w="187008">
                <a:moveTo>
                  <a:pt x="0" y="0"/>
                </a:moveTo>
                <a:lnTo>
                  <a:pt x="187008" y="0"/>
                </a:lnTo>
                <a:lnTo>
                  <a:pt x="187008" y="142594"/>
                </a:lnTo>
                <a:lnTo>
                  <a:pt x="0" y="1425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2421408" y="7238100"/>
            <a:ext cx="187008" cy="142594"/>
          </a:xfrm>
          <a:custGeom>
            <a:avLst/>
            <a:gdLst/>
            <a:ahLst/>
            <a:cxnLst/>
            <a:rect r="r" b="b" t="t" l="l"/>
            <a:pathLst>
              <a:path h="142594" w="187008">
                <a:moveTo>
                  <a:pt x="0" y="0"/>
                </a:moveTo>
                <a:lnTo>
                  <a:pt x="187008" y="0"/>
                </a:lnTo>
                <a:lnTo>
                  <a:pt x="187008" y="142594"/>
                </a:lnTo>
                <a:lnTo>
                  <a:pt x="0" y="1425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2964545" y="3506478"/>
            <a:ext cx="187008" cy="142594"/>
          </a:xfrm>
          <a:custGeom>
            <a:avLst/>
            <a:gdLst/>
            <a:ahLst/>
            <a:cxnLst/>
            <a:rect r="r" b="b" t="t" l="l"/>
            <a:pathLst>
              <a:path h="142594" w="187008">
                <a:moveTo>
                  <a:pt x="0" y="0"/>
                </a:moveTo>
                <a:lnTo>
                  <a:pt x="187008" y="0"/>
                </a:lnTo>
                <a:lnTo>
                  <a:pt x="187008" y="142594"/>
                </a:lnTo>
                <a:lnTo>
                  <a:pt x="0" y="1425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false" flipV="false" rot="0">
            <a:off x="2964545" y="7238100"/>
            <a:ext cx="187008" cy="142594"/>
          </a:xfrm>
          <a:custGeom>
            <a:avLst/>
            <a:gdLst/>
            <a:ahLst/>
            <a:cxnLst/>
            <a:rect r="r" b="b" t="t" l="l"/>
            <a:pathLst>
              <a:path h="142594" w="187008">
                <a:moveTo>
                  <a:pt x="0" y="0"/>
                </a:moveTo>
                <a:lnTo>
                  <a:pt x="187008" y="0"/>
                </a:lnTo>
                <a:lnTo>
                  <a:pt x="187008" y="142594"/>
                </a:lnTo>
                <a:lnTo>
                  <a:pt x="0" y="1425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9971490" y="4233942"/>
            <a:ext cx="743204" cy="684676"/>
          </a:xfrm>
          <a:custGeom>
            <a:avLst/>
            <a:gdLst/>
            <a:ahLst/>
            <a:cxnLst/>
            <a:rect r="r" b="b" t="t" l="l"/>
            <a:pathLst>
              <a:path h="684676" w="743204">
                <a:moveTo>
                  <a:pt x="0" y="0"/>
                </a:moveTo>
                <a:lnTo>
                  <a:pt x="743204" y="0"/>
                </a:lnTo>
                <a:lnTo>
                  <a:pt x="743204" y="684676"/>
                </a:lnTo>
                <a:lnTo>
                  <a:pt x="0" y="6846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6" id="26"/>
          <p:cNvSpPr/>
          <p:nvPr/>
        </p:nvSpPr>
        <p:spPr>
          <a:xfrm flipH="false" flipV="false" rot="0">
            <a:off x="7575794" y="4233942"/>
            <a:ext cx="688982" cy="684676"/>
          </a:xfrm>
          <a:custGeom>
            <a:avLst/>
            <a:gdLst/>
            <a:ahLst/>
            <a:cxnLst/>
            <a:rect r="r" b="b" t="t" l="l"/>
            <a:pathLst>
              <a:path h="684676" w="688982">
                <a:moveTo>
                  <a:pt x="0" y="0"/>
                </a:moveTo>
                <a:lnTo>
                  <a:pt x="688982" y="0"/>
                </a:lnTo>
                <a:lnTo>
                  <a:pt x="688982" y="684676"/>
                </a:lnTo>
                <a:lnTo>
                  <a:pt x="0" y="6846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7" id="27"/>
          <p:cNvSpPr/>
          <p:nvPr/>
        </p:nvSpPr>
        <p:spPr>
          <a:xfrm flipH="false" flipV="false" rot="0">
            <a:off x="9951772" y="6971306"/>
            <a:ext cx="771836" cy="575983"/>
          </a:xfrm>
          <a:custGeom>
            <a:avLst/>
            <a:gdLst/>
            <a:ahLst/>
            <a:cxnLst/>
            <a:rect r="r" b="b" t="t" l="l"/>
            <a:pathLst>
              <a:path h="575983" w="771836">
                <a:moveTo>
                  <a:pt x="0" y="0"/>
                </a:moveTo>
                <a:lnTo>
                  <a:pt x="771836" y="0"/>
                </a:lnTo>
                <a:lnTo>
                  <a:pt x="771836" y="575982"/>
                </a:lnTo>
                <a:lnTo>
                  <a:pt x="0" y="57598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8" id="28"/>
          <p:cNvSpPr/>
          <p:nvPr/>
        </p:nvSpPr>
        <p:spPr>
          <a:xfrm flipH="false" flipV="false" rot="0">
            <a:off x="7484543" y="6971306"/>
            <a:ext cx="743204" cy="575983"/>
          </a:xfrm>
          <a:custGeom>
            <a:avLst/>
            <a:gdLst/>
            <a:ahLst/>
            <a:cxnLst/>
            <a:rect r="r" b="b" t="t" l="l"/>
            <a:pathLst>
              <a:path h="575983" w="743204">
                <a:moveTo>
                  <a:pt x="0" y="0"/>
                </a:moveTo>
                <a:lnTo>
                  <a:pt x="743204" y="0"/>
                </a:lnTo>
                <a:lnTo>
                  <a:pt x="743204" y="575982"/>
                </a:lnTo>
                <a:lnTo>
                  <a:pt x="0" y="57598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1416"/>
            <a:chOff x="0" y="0"/>
            <a:chExt cx="3762963" cy="37328"/>
          </a:xfrm>
        </p:grpSpPr>
        <p:sp>
          <p:nvSpPr>
            <p:cNvPr name="Freeform 3" id="3"/>
            <p:cNvSpPr/>
            <p:nvPr/>
          </p:nvSpPr>
          <p:spPr>
            <a:xfrm flipH="false" flipV="false" rot="0">
              <a:off x="0" y="0"/>
              <a:ext cx="3762963" cy="37328"/>
            </a:xfrm>
            <a:custGeom>
              <a:avLst/>
              <a:gdLst/>
              <a:ahLst/>
              <a:cxnLst/>
              <a:rect r="r" b="b" t="t" l="l"/>
              <a:pathLst>
                <a:path h="37328" w="3762963">
                  <a:moveTo>
                    <a:pt x="0" y="0"/>
                  </a:moveTo>
                  <a:lnTo>
                    <a:pt x="3762963" y="0"/>
                  </a:lnTo>
                  <a:lnTo>
                    <a:pt x="3762963" y="37328"/>
                  </a:lnTo>
                  <a:lnTo>
                    <a:pt x="0" y="37328"/>
                  </a:lnTo>
                  <a:close/>
                </a:path>
              </a:pathLst>
            </a:custGeom>
            <a:solidFill>
              <a:srgbClr val="416F6C"/>
            </a:solidFill>
          </p:spPr>
        </p:sp>
        <p:sp>
          <p:nvSpPr>
            <p:cNvPr name="TextBox 4" id="4"/>
            <p:cNvSpPr txBox="true"/>
            <p:nvPr/>
          </p:nvSpPr>
          <p:spPr>
            <a:xfrm>
              <a:off x="0" y="-57150"/>
              <a:ext cx="3762963" cy="94478"/>
            </a:xfrm>
            <a:prstGeom prst="rect">
              <a:avLst/>
            </a:prstGeom>
          </p:spPr>
          <p:txBody>
            <a:bodyPr anchor="ctr" rtlCol="false" tIns="50800" lIns="50800" bIns="50800" rIns="50800"/>
            <a:lstStyle/>
            <a:p>
              <a:pPr algn="ctr">
                <a:lnSpc>
                  <a:spcPts val="2541"/>
                </a:lnSpc>
              </a:pPr>
            </a:p>
          </p:txBody>
        </p:sp>
      </p:grpSp>
      <p:sp>
        <p:nvSpPr>
          <p:cNvPr name="AutoShape 5" id="5"/>
          <p:cNvSpPr/>
          <p:nvPr/>
        </p:nvSpPr>
        <p:spPr>
          <a:xfrm>
            <a:off x="844732" y="2064885"/>
            <a:ext cx="16598535" cy="0"/>
          </a:xfrm>
          <a:prstGeom prst="line">
            <a:avLst/>
          </a:prstGeom>
          <a:ln cap="flat" w="9525">
            <a:solidFill>
              <a:srgbClr val="416F6C"/>
            </a:solidFill>
            <a:prstDash val="solid"/>
            <a:headEnd type="none" len="sm" w="sm"/>
            <a:tailEnd type="none" len="sm" w="sm"/>
          </a:ln>
        </p:spPr>
      </p:sp>
      <p:sp>
        <p:nvSpPr>
          <p:cNvPr name="TextBox 6" id="6"/>
          <p:cNvSpPr txBox="true"/>
          <p:nvPr/>
        </p:nvSpPr>
        <p:spPr>
          <a:xfrm rot="0">
            <a:off x="1601101" y="917525"/>
            <a:ext cx="9792550" cy="733022"/>
          </a:xfrm>
          <a:prstGeom prst="rect">
            <a:avLst/>
          </a:prstGeom>
        </p:spPr>
        <p:txBody>
          <a:bodyPr anchor="t" rtlCol="false" tIns="0" lIns="0" bIns="0" rIns="0">
            <a:spAutoFit/>
          </a:bodyPr>
          <a:lstStyle/>
          <a:p>
            <a:pPr algn="l" marL="0" indent="0" lvl="0">
              <a:lnSpc>
                <a:spcPts val="5508"/>
              </a:lnSpc>
            </a:pPr>
            <a:r>
              <a:rPr lang="en-US" b="true" sz="5400" spc="-108">
                <a:solidFill>
                  <a:srgbClr val="333333"/>
                </a:solidFill>
                <a:latin typeface="JASO Sans Bold"/>
                <a:ea typeface="JASO Sans Bold"/>
                <a:cs typeface="JASO Sans Bold"/>
                <a:sym typeface="JASO Sans Bold"/>
              </a:rPr>
              <a:t>타겟 고객 분석 및 세분화 전략</a:t>
            </a:r>
          </a:p>
        </p:txBody>
      </p:sp>
      <p:sp>
        <p:nvSpPr>
          <p:cNvPr name="TextBox 7" id="7"/>
          <p:cNvSpPr txBox="true"/>
          <p:nvPr/>
        </p:nvSpPr>
        <p:spPr>
          <a:xfrm rot="0">
            <a:off x="10149532" y="1328115"/>
            <a:ext cx="4543751" cy="228644"/>
          </a:xfrm>
          <a:prstGeom prst="rect">
            <a:avLst/>
          </a:prstGeom>
        </p:spPr>
        <p:txBody>
          <a:bodyPr anchor="t" rtlCol="false" tIns="0" lIns="0" bIns="0" rIns="0">
            <a:spAutoFit/>
          </a:bodyPr>
          <a:lstStyle/>
          <a:p>
            <a:pPr algn="l">
              <a:lnSpc>
                <a:spcPts val="1800"/>
              </a:lnSpc>
            </a:pPr>
            <a:r>
              <a:rPr lang="en-US" sz="1500" spc="-30">
                <a:solidFill>
                  <a:srgbClr val="333333">
                    <a:alpha val="32941"/>
                  </a:srgbClr>
                </a:solidFill>
                <a:latin typeface="JASO Sans"/>
                <a:ea typeface="JASO Sans"/>
                <a:cs typeface="JASO Sans"/>
                <a:sym typeface="JASO Sans"/>
              </a:rPr>
              <a:t>메인타이틀에 대한 세부 설명을 입력해 주세요.</a:t>
            </a:r>
          </a:p>
        </p:txBody>
      </p:sp>
      <p:sp>
        <p:nvSpPr>
          <p:cNvPr name="Freeform 8" id="8"/>
          <p:cNvSpPr/>
          <p:nvPr/>
        </p:nvSpPr>
        <p:spPr>
          <a:xfrm flipH="false" flipV="false" rot="0">
            <a:off x="1028700" y="1059829"/>
            <a:ext cx="362690" cy="362690"/>
          </a:xfrm>
          <a:custGeom>
            <a:avLst/>
            <a:gdLst/>
            <a:ahLst/>
            <a:cxnLst/>
            <a:rect r="r" b="b" t="t" l="l"/>
            <a:pathLst>
              <a:path h="362690" w="362690">
                <a:moveTo>
                  <a:pt x="0" y="0"/>
                </a:moveTo>
                <a:lnTo>
                  <a:pt x="362690" y="0"/>
                </a:lnTo>
                <a:lnTo>
                  <a:pt x="362690" y="362690"/>
                </a:lnTo>
                <a:lnTo>
                  <a:pt x="0" y="362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17296" y="3136448"/>
            <a:ext cx="4804943" cy="5701057"/>
            <a:chOff x="0" y="0"/>
            <a:chExt cx="1265499" cy="1501513"/>
          </a:xfrm>
        </p:grpSpPr>
        <p:sp>
          <p:nvSpPr>
            <p:cNvPr name="Freeform 10" id="10"/>
            <p:cNvSpPr/>
            <p:nvPr/>
          </p:nvSpPr>
          <p:spPr>
            <a:xfrm flipH="false" flipV="false" rot="0">
              <a:off x="0" y="0"/>
              <a:ext cx="1265499" cy="1501513"/>
            </a:xfrm>
            <a:custGeom>
              <a:avLst/>
              <a:gdLst/>
              <a:ahLst/>
              <a:cxnLst/>
              <a:rect r="r" b="b" t="t" l="l"/>
              <a:pathLst>
                <a:path h="1501513" w="1265499">
                  <a:moveTo>
                    <a:pt x="32225" y="0"/>
                  </a:moveTo>
                  <a:lnTo>
                    <a:pt x="1233275" y="0"/>
                  </a:lnTo>
                  <a:cubicBezTo>
                    <a:pt x="1251072" y="0"/>
                    <a:pt x="1265499" y="14428"/>
                    <a:pt x="1265499" y="32225"/>
                  </a:cubicBezTo>
                  <a:lnTo>
                    <a:pt x="1265499" y="1469288"/>
                  </a:lnTo>
                  <a:cubicBezTo>
                    <a:pt x="1265499" y="1477835"/>
                    <a:pt x="1262104" y="1486031"/>
                    <a:pt x="1256061" y="1492075"/>
                  </a:cubicBezTo>
                  <a:cubicBezTo>
                    <a:pt x="1250018" y="1498118"/>
                    <a:pt x="1241821" y="1501513"/>
                    <a:pt x="1233275" y="1501513"/>
                  </a:cubicBezTo>
                  <a:lnTo>
                    <a:pt x="32225" y="1501513"/>
                  </a:lnTo>
                  <a:cubicBezTo>
                    <a:pt x="14428" y="1501513"/>
                    <a:pt x="0" y="1487085"/>
                    <a:pt x="0" y="1469288"/>
                  </a:cubicBezTo>
                  <a:lnTo>
                    <a:pt x="0" y="32225"/>
                  </a:lnTo>
                  <a:cubicBezTo>
                    <a:pt x="0" y="14428"/>
                    <a:pt x="14428" y="0"/>
                    <a:pt x="32225" y="0"/>
                  </a:cubicBezTo>
                  <a:close/>
                </a:path>
              </a:pathLst>
            </a:custGeom>
            <a:ln w="9525" cap="sq">
              <a:solidFill>
                <a:srgbClr val="B3B3B3"/>
              </a:solidFill>
              <a:prstDash val="solid"/>
              <a:miter/>
            </a:ln>
          </p:spPr>
        </p:sp>
        <p:sp>
          <p:nvSpPr>
            <p:cNvPr name="TextBox 11" id="11"/>
            <p:cNvSpPr txBox="true"/>
            <p:nvPr/>
          </p:nvSpPr>
          <p:spPr>
            <a:xfrm>
              <a:off x="0" y="-57150"/>
              <a:ext cx="1265499" cy="1558663"/>
            </a:xfrm>
            <a:prstGeom prst="rect">
              <a:avLst/>
            </a:prstGeom>
          </p:spPr>
          <p:txBody>
            <a:bodyPr anchor="ctr" rtlCol="false" tIns="50800" lIns="50800" bIns="50800" rIns="50800"/>
            <a:lstStyle/>
            <a:p>
              <a:pPr algn="ctr" marL="0" indent="0" lvl="0">
                <a:lnSpc>
                  <a:spcPts val="2541"/>
                </a:lnSpc>
                <a:spcBef>
                  <a:spcPct val="0"/>
                </a:spcBef>
              </a:pPr>
            </a:p>
          </p:txBody>
        </p:sp>
      </p:grpSp>
      <p:grpSp>
        <p:nvGrpSpPr>
          <p:cNvPr name="Group 12" id="12"/>
          <p:cNvGrpSpPr/>
          <p:nvPr/>
        </p:nvGrpSpPr>
        <p:grpSpPr>
          <a:xfrm rot="0">
            <a:off x="6741528" y="3136448"/>
            <a:ext cx="4804943" cy="5701057"/>
            <a:chOff x="0" y="0"/>
            <a:chExt cx="1265499" cy="1501513"/>
          </a:xfrm>
        </p:grpSpPr>
        <p:sp>
          <p:nvSpPr>
            <p:cNvPr name="Freeform 13" id="13"/>
            <p:cNvSpPr/>
            <p:nvPr/>
          </p:nvSpPr>
          <p:spPr>
            <a:xfrm flipH="false" flipV="false" rot="0">
              <a:off x="0" y="0"/>
              <a:ext cx="1265499" cy="1501513"/>
            </a:xfrm>
            <a:custGeom>
              <a:avLst/>
              <a:gdLst/>
              <a:ahLst/>
              <a:cxnLst/>
              <a:rect r="r" b="b" t="t" l="l"/>
              <a:pathLst>
                <a:path h="1501513" w="1265499">
                  <a:moveTo>
                    <a:pt x="32225" y="0"/>
                  </a:moveTo>
                  <a:lnTo>
                    <a:pt x="1233275" y="0"/>
                  </a:lnTo>
                  <a:cubicBezTo>
                    <a:pt x="1251072" y="0"/>
                    <a:pt x="1265499" y="14428"/>
                    <a:pt x="1265499" y="32225"/>
                  </a:cubicBezTo>
                  <a:lnTo>
                    <a:pt x="1265499" y="1469288"/>
                  </a:lnTo>
                  <a:cubicBezTo>
                    <a:pt x="1265499" y="1477835"/>
                    <a:pt x="1262104" y="1486031"/>
                    <a:pt x="1256061" y="1492075"/>
                  </a:cubicBezTo>
                  <a:cubicBezTo>
                    <a:pt x="1250018" y="1498118"/>
                    <a:pt x="1241821" y="1501513"/>
                    <a:pt x="1233275" y="1501513"/>
                  </a:cubicBezTo>
                  <a:lnTo>
                    <a:pt x="32225" y="1501513"/>
                  </a:lnTo>
                  <a:cubicBezTo>
                    <a:pt x="14428" y="1501513"/>
                    <a:pt x="0" y="1487085"/>
                    <a:pt x="0" y="1469288"/>
                  </a:cubicBezTo>
                  <a:lnTo>
                    <a:pt x="0" y="32225"/>
                  </a:lnTo>
                  <a:cubicBezTo>
                    <a:pt x="0" y="14428"/>
                    <a:pt x="14428" y="0"/>
                    <a:pt x="32225" y="0"/>
                  </a:cubicBezTo>
                  <a:close/>
                </a:path>
              </a:pathLst>
            </a:custGeom>
            <a:ln w="9525" cap="sq">
              <a:solidFill>
                <a:srgbClr val="B3B3B3"/>
              </a:solidFill>
              <a:prstDash val="solid"/>
              <a:miter/>
            </a:ln>
          </p:spPr>
        </p:sp>
        <p:sp>
          <p:nvSpPr>
            <p:cNvPr name="TextBox 14" id="14"/>
            <p:cNvSpPr txBox="true"/>
            <p:nvPr/>
          </p:nvSpPr>
          <p:spPr>
            <a:xfrm>
              <a:off x="0" y="-57150"/>
              <a:ext cx="1265499" cy="1558663"/>
            </a:xfrm>
            <a:prstGeom prst="rect">
              <a:avLst/>
            </a:prstGeom>
          </p:spPr>
          <p:txBody>
            <a:bodyPr anchor="ctr" rtlCol="false" tIns="50800" lIns="50800" bIns="50800" rIns="50800"/>
            <a:lstStyle/>
            <a:p>
              <a:pPr algn="ctr" marL="0" indent="0" lvl="0">
                <a:lnSpc>
                  <a:spcPts val="2541"/>
                </a:lnSpc>
                <a:spcBef>
                  <a:spcPct val="0"/>
                </a:spcBef>
              </a:pPr>
            </a:p>
          </p:txBody>
        </p:sp>
      </p:grpSp>
      <p:grpSp>
        <p:nvGrpSpPr>
          <p:cNvPr name="Group 15" id="15"/>
          <p:cNvGrpSpPr/>
          <p:nvPr/>
        </p:nvGrpSpPr>
        <p:grpSpPr>
          <a:xfrm rot="0">
            <a:off x="11765547" y="3136448"/>
            <a:ext cx="4804943" cy="5701057"/>
            <a:chOff x="0" y="0"/>
            <a:chExt cx="1265499" cy="1501513"/>
          </a:xfrm>
        </p:grpSpPr>
        <p:sp>
          <p:nvSpPr>
            <p:cNvPr name="Freeform 16" id="16"/>
            <p:cNvSpPr/>
            <p:nvPr/>
          </p:nvSpPr>
          <p:spPr>
            <a:xfrm flipH="false" flipV="false" rot="0">
              <a:off x="0" y="0"/>
              <a:ext cx="1265499" cy="1501513"/>
            </a:xfrm>
            <a:custGeom>
              <a:avLst/>
              <a:gdLst/>
              <a:ahLst/>
              <a:cxnLst/>
              <a:rect r="r" b="b" t="t" l="l"/>
              <a:pathLst>
                <a:path h="1501513" w="1265499">
                  <a:moveTo>
                    <a:pt x="32225" y="0"/>
                  </a:moveTo>
                  <a:lnTo>
                    <a:pt x="1233275" y="0"/>
                  </a:lnTo>
                  <a:cubicBezTo>
                    <a:pt x="1251072" y="0"/>
                    <a:pt x="1265499" y="14428"/>
                    <a:pt x="1265499" y="32225"/>
                  </a:cubicBezTo>
                  <a:lnTo>
                    <a:pt x="1265499" y="1469288"/>
                  </a:lnTo>
                  <a:cubicBezTo>
                    <a:pt x="1265499" y="1477835"/>
                    <a:pt x="1262104" y="1486031"/>
                    <a:pt x="1256061" y="1492075"/>
                  </a:cubicBezTo>
                  <a:cubicBezTo>
                    <a:pt x="1250018" y="1498118"/>
                    <a:pt x="1241821" y="1501513"/>
                    <a:pt x="1233275" y="1501513"/>
                  </a:cubicBezTo>
                  <a:lnTo>
                    <a:pt x="32225" y="1501513"/>
                  </a:lnTo>
                  <a:cubicBezTo>
                    <a:pt x="14428" y="1501513"/>
                    <a:pt x="0" y="1487085"/>
                    <a:pt x="0" y="1469288"/>
                  </a:cubicBezTo>
                  <a:lnTo>
                    <a:pt x="0" y="32225"/>
                  </a:lnTo>
                  <a:cubicBezTo>
                    <a:pt x="0" y="14428"/>
                    <a:pt x="14428" y="0"/>
                    <a:pt x="32225" y="0"/>
                  </a:cubicBezTo>
                  <a:close/>
                </a:path>
              </a:pathLst>
            </a:custGeom>
            <a:ln w="9525" cap="sq">
              <a:solidFill>
                <a:srgbClr val="B3B3B3"/>
              </a:solidFill>
              <a:prstDash val="solid"/>
              <a:miter/>
            </a:ln>
          </p:spPr>
        </p:sp>
        <p:sp>
          <p:nvSpPr>
            <p:cNvPr name="TextBox 17" id="17"/>
            <p:cNvSpPr txBox="true"/>
            <p:nvPr/>
          </p:nvSpPr>
          <p:spPr>
            <a:xfrm>
              <a:off x="0" y="-57150"/>
              <a:ext cx="1265499" cy="1558663"/>
            </a:xfrm>
            <a:prstGeom prst="rect">
              <a:avLst/>
            </a:prstGeom>
          </p:spPr>
          <p:txBody>
            <a:bodyPr anchor="ctr" rtlCol="false" tIns="50800" lIns="50800" bIns="50800" rIns="50800"/>
            <a:lstStyle/>
            <a:p>
              <a:pPr algn="ctr" marL="0" indent="0" lvl="0">
                <a:lnSpc>
                  <a:spcPts val="2541"/>
                </a:lnSpc>
                <a:spcBef>
                  <a:spcPct val="0"/>
                </a:spcBef>
              </a:pPr>
            </a:p>
          </p:txBody>
        </p:sp>
      </p:grpSp>
      <p:sp>
        <p:nvSpPr>
          <p:cNvPr name="TextBox 18" id="18"/>
          <p:cNvSpPr txBox="true"/>
          <p:nvPr/>
        </p:nvSpPr>
        <p:spPr>
          <a:xfrm rot="0">
            <a:off x="2658005" y="6374354"/>
            <a:ext cx="3384450" cy="701719"/>
          </a:xfrm>
          <a:prstGeom prst="rect">
            <a:avLst/>
          </a:prstGeom>
        </p:spPr>
        <p:txBody>
          <a:bodyPr anchor="t" rtlCol="false" tIns="0" lIns="0" bIns="0" rIns="0">
            <a:spAutoFit/>
          </a:bodyPr>
          <a:lstStyle/>
          <a:p>
            <a:pPr algn="l">
              <a:lnSpc>
                <a:spcPts val="2800"/>
              </a:lnSpc>
            </a:pPr>
            <a:r>
              <a:rPr lang="en-US" sz="2000" spc="-40">
                <a:solidFill>
                  <a:srgbClr val="333333">
                    <a:alpha val="69804"/>
                  </a:srgbClr>
                </a:solidFill>
                <a:latin typeface="JASO Sans"/>
                <a:ea typeface="JASO Sans"/>
                <a:cs typeface="JASO Sans"/>
                <a:sym typeface="JASO Sans"/>
              </a:rPr>
              <a:t>하루</a:t>
            </a:r>
            <a:r>
              <a:rPr lang="en-US" sz="2000" spc="-40" strike="noStrike" u="none">
                <a:solidFill>
                  <a:srgbClr val="333333">
                    <a:alpha val="69804"/>
                  </a:srgbClr>
                </a:solidFill>
                <a:latin typeface="JASO Sans"/>
                <a:ea typeface="JASO Sans"/>
                <a:cs typeface="JASO Sans"/>
                <a:sym typeface="JASO Sans"/>
              </a:rPr>
              <a:t> 평균 SNS 사용 4.5</a:t>
            </a:r>
            <a:r>
              <a:rPr lang="en-US" sz="2000" spc="-40" strike="noStrike" u="none">
                <a:solidFill>
                  <a:srgbClr val="333333">
                    <a:alpha val="69804"/>
                  </a:srgbClr>
                </a:solidFill>
                <a:latin typeface="JASO Sans"/>
                <a:ea typeface="JASO Sans"/>
                <a:cs typeface="JASO Sans"/>
                <a:sym typeface="JASO Sans"/>
              </a:rPr>
              <a:t>시간</a:t>
            </a:r>
            <a:r>
              <a:rPr lang="en-US" sz="2000" spc="-40" strike="noStrike" u="none">
                <a:solidFill>
                  <a:srgbClr val="333333">
                    <a:alpha val="69804"/>
                  </a:srgbClr>
                </a:solidFill>
                <a:latin typeface="JASO Sans"/>
                <a:ea typeface="JASO Sans"/>
                <a:cs typeface="JASO Sans"/>
                <a:sym typeface="JASO Sans"/>
              </a:rPr>
              <a:t>, </a:t>
            </a:r>
          </a:p>
          <a:p>
            <a:pPr algn="l">
              <a:lnSpc>
                <a:spcPts val="2800"/>
              </a:lnSpc>
            </a:pPr>
            <a:r>
              <a:rPr lang="en-US" sz="2000" spc="-40" strike="noStrike" u="none">
                <a:solidFill>
                  <a:srgbClr val="333333">
                    <a:alpha val="69804"/>
                  </a:srgbClr>
                </a:solidFill>
                <a:latin typeface="JASO Sans"/>
                <a:ea typeface="JASO Sans"/>
                <a:cs typeface="JASO Sans"/>
                <a:sym typeface="JASO Sans"/>
              </a:rPr>
              <a:t>모바일 우선</a:t>
            </a:r>
          </a:p>
        </p:txBody>
      </p:sp>
      <p:sp>
        <p:nvSpPr>
          <p:cNvPr name="TextBox 19" id="19"/>
          <p:cNvSpPr txBox="true"/>
          <p:nvPr/>
        </p:nvSpPr>
        <p:spPr>
          <a:xfrm rot="0">
            <a:off x="7682237" y="6374354"/>
            <a:ext cx="3384450" cy="701719"/>
          </a:xfrm>
          <a:prstGeom prst="rect">
            <a:avLst/>
          </a:prstGeom>
        </p:spPr>
        <p:txBody>
          <a:bodyPr anchor="t" rtlCol="false" tIns="0" lIns="0" bIns="0" rIns="0">
            <a:spAutoFit/>
          </a:bodyPr>
          <a:lstStyle/>
          <a:p>
            <a:pPr algn="l">
              <a:lnSpc>
                <a:spcPts val="2800"/>
              </a:lnSpc>
            </a:pPr>
            <a:r>
              <a:rPr lang="en-US" sz="2000" spc="-40">
                <a:solidFill>
                  <a:srgbClr val="333333">
                    <a:alpha val="69804"/>
                  </a:srgbClr>
                </a:solidFill>
                <a:latin typeface="JASO Sans"/>
                <a:ea typeface="JASO Sans"/>
                <a:cs typeface="JASO Sans"/>
                <a:sym typeface="JASO Sans"/>
              </a:rPr>
              <a:t>하루</a:t>
            </a:r>
            <a:r>
              <a:rPr lang="en-US" sz="2000" spc="-40" strike="noStrike" u="none">
                <a:solidFill>
                  <a:srgbClr val="333333">
                    <a:alpha val="69804"/>
                  </a:srgbClr>
                </a:solidFill>
                <a:latin typeface="JASO Sans"/>
                <a:ea typeface="JASO Sans"/>
                <a:cs typeface="JASO Sans"/>
                <a:sym typeface="JASO Sans"/>
              </a:rPr>
              <a:t> 평균 SNS 사용 2.2시간,</a:t>
            </a:r>
          </a:p>
          <a:p>
            <a:pPr algn="l">
              <a:lnSpc>
                <a:spcPts val="2800"/>
              </a:lnSpc>
            </a:pPr>
            <a:r>
              <a:rPr lang="en-US" sz="2000" spc="-40" strike="noStrike" u="none">
                <a:solidFill>
                  <a:srgbClr val="333333">
                    <a:alpha val="69804"/>
                  </a:srgbClr>
                </a:solidFill>
                <a:latin typeface="JASO Sans"/>
                <a:ea typeface="JASO Sans"/>
                <a:cs typeface="JASO Sans"/>
                <a:sym typeface="JASO Sans"/>
              </a:rPr>
              <a:t>점심·퇴근 시간 활동</a:t>
            </a:r>
          </a:p>
        </p:txBody>
      </p:sp>
      <p:sp>
        <p:nvSpPr>
          <p:cNvPr name="TextBox 20" id="20"/>
          <p:cNvSpPr txBox="true"/>
          <p:nvPr/>
        </p:nvSpPr>
        <p:spPr>
          <a:xfrm rot="0">
            <a:off x="12706255" y="6374354"/>
            <a:ext cx="3384450" cy="701719"/>
          </a:xfrm>
          <a:prstGeom prst="rect">
            <a:avLst/>
          </a:prstGeom>
        </p:spPr>
        <p:txBody>
          <a:bodyPr anchor="t" rtlCol="false" tIns="0" lIns="0" bIns="0" rIns="0">
            <a:spAutoFit/>
          </a:bodyPr>
          <a:lstStyle/>
          <a:p>
            <a:pPr algn="l">
              <a:lnSpc>
                <a:spcPts val="2800"/>
              </a:lnSpc>
            </a:pPr>
            <a:r>
              <a:rPr lang="en-US" sz="2000" spc="-40">
                <a:solidFill>
                  <a:srgbClr val="333333">
                    <a:alpha val="69804"/>
                  </a:srgbClr>
                </a:solidFill>
                <a:latin typeface="JASO Sans"/>
                <a:ea typeface="JASO Sans"/>
                <a:cs typeface="JASO Sans"/>
                <a:sym typeface="JASO Sans"/>
              </a:rPr>
              <a:t>하루</a:t>
            </a:r>
            <a:r>
              <a:rPr lang="en-US" sz="2000" spc="-40" strike="noStrike" u="none">
                <a:solidFill>
                  <a:srgbClr val="333333">
                    <a:alpha val="69804"/>
                  </a:srgbClr>
                </a:solidFill>
                <a:latin typeface="JASO Sans"/>
                <a:ea typeface="JASO Sans"/>
                <a:cs typeface="JASO Sans"/>
                <a:sym typeface="JASO Sans"/>
              </a:rPr>
              <a:t> 평균 SNS 사용 1.5시간, </a:t>
            </a:r>
          </a:p>
          <a:p>
            <a:pPr algn="l">
              <a:lnSpc>
                <a:spcPts val="2800"/>
              </a:lnSpc>
            </a:pPr>
            <a:r>
              <a:rPr lang="en-US" sz="2000" spc="-40" strike="noStrike" u="none">
                <a:solidFill>
                  <a:srgbClr val="333333">
                    <a:alpha val="69804"/>
                  </a:srgbClr>
                </a:solidFill>
                <a:latin typeface="JASO Sans"/>
                <a:ea typeface="JASO Sans"/>
                <a:cs typeface="JASO Sans"/>
                <a:sym typeface="JASO Sans"/>
              </a:rPr>
              <a:t>주중 저녁 활동</a:t>
            </a:r>
          </a:p>
        </p:txBody>
      </p:sp>
      <p:sp>
        <p:nvSpPr>
          <p:cNvPr name="TextBox 21" id="21"/>
          <p:cNvSpPr txBox="true"/>
          <p:nvPr/>
        </p:nvSpPr>
        <p:spPr>
          <a:xfrm rot="0">
            <a:off x="2658005" y="7476123"/>
            <a:ext cx="3384450" cy="701719"/>
          </a:xfrm>
          <a:prstGeom prst="rect">
            <a:avLst/>
          </a:prstGeom>
        </p:spPr>
        <p:txBody>
          <a:bodyPr anchor="t" rtlCol="false" tIns="0" lIns="0" bIns="0" rIns="0">
            <a:spAutoFit/>
          </a:bodyPr>
          <a:lstStyle/>
          <a:p>
            <a:pPr algn="l">
              <a:lnSpc>
                <a:spcPts val="2800"/>
              </a:lnSpc>
            </a:pPr>
            <a:r>
              <a:rPr lang="en-US" sz="2000" spc="-40">
                <a:solidFill>
                  <a:srgbClr val="333333">
                    <a:alpha val="69804"/>
                  </a:srgbClr>
                </a:solidFill>
                <a:latin typeface="JASO Sans"/>
                <a:ea typeface="JASO Sans"/>
                <a:cs typeface="JASO Sans"/>
                <a:sym typeface="JASO Sans"/>
              </a:rPr>
              <a:t>시장규모</a:t>
            </a:r>
            <a:r>
              <a:rPr lang="en-US" sz="2000" spc="-40" strike="noStrike" u="none">
                <a:solidFill>
                  <a:srgbClr val="333333">
                    <a:alpha val="69804"/>
                  </a:srgbClr>
                </a:solidFill>
                <a:latin typeface="JASO Sans"/>
                <a:ea typeface="JASO Sans"/>
                <a:cs typeface="JASO Sans"/>
                <a:sym typeface="JASO Sans"/>
              </a:rPr>
              <a:t> 약 850만 명,</a:t>
            </a:r>
          </a:p>
          <a:p>
            <a:pPr algn="l">
              <a:lnSpc>
                <a:spcPts val="2800"/>
              </a:lnSpc>
            </a:pPr>
            <a:r>
              <a:rPr lang="en-US" sz="2000" spc="-40" strike="noStrike" u="none">
                <a:solidFill>
                  <a:srgbClr val="333333">
                    <a:alpha val="69804"/>
                  </a:srgbClr>
                </a:solidFill>
                <a:latin typeface="JASO Sans"/>
                <a:ea typeface="JASO Sans"/>
                <a:cs typeface="JASO Sans"/>
                <a:sym typeface="JASO Sans"/>
              </a:rPr>
              <a:t>연 15% 성장</a:t>
            </a:r>
          </a:p>
        </p:txBody>
      </p:sp>
      <p:sp>
        <p:nvSpPr>
          <p:cNvPr name="TextBox 22" id="22"/>
          <p:cNvSpPr txBox="true"/>
          <p:nvPr/>
        </p:nvSpPr>
        <p:spPr>
          <a:xfrm rot="0">
            <a:off x="7682237" y="7476123"/>
            <a:ext cx="3384450" cy="701719"/>
          </a:xfrm>
          <a:prstGeom prst="rect">
            <a:avLst/>
          </a:prstGeom>
        </p:spPr>
        <p:txBody>
          <a:bodyPr anchor="t" rtlCol="false" tIns="0" lIns="0" bIns="0" rIns="0">
            <a:spAutoFit/>
          </a:bodyPr>
          <a:lstStyle/>
          <a:p>
            <a:pPr algn="l">
              <a:lnSpc>
                <a:spcPts val="2800"/>
              </a:lnSpc>
            </a:pPr>
            <a:r>
              <a:rPr lang="en-US" sz="2000" spc="-40">
                <a:solidFill>
                  <a:srgbClr val="333333">
                    <a:alpha val="69804"/>
                  </a:srgbClr>
                </a:solidFill>
                <a:latin typeface="JASO Sans"/>
                <a:ea typeface="JASO Sans"/>
                <a:cs typeface="JASO Sans"/>
                <a:sym typeface="JASO Sans"/>
              </a:rPr>
              <a:t>시장규모</a:t>
            </a:r>
            <a:r>
              <a:rPr lang="en-US" sz="2000" spc="-40" strike="noStrike" u="none">
                <a:solidFill>
                  <a:srgbClr val="333333">
                    <a:alpha val="69804"/>
                  </a:srgbClr>
                </a:solidFill>
                <a:latin typeface="JASO Sans"/>
                <a:ea typeface="JASO Sans"/>
                <a:cs typeface="JASO Sans"/>
                <a:sym typeface="JASO Sans"/>
              </a:rPr>
              <a:t> 약 1,200만 명, </a:t>
            </a:r>
          </a:p>
          <a:p>
            <a:pPr algn="l">
              <a:lnSpc>
                <a:spcPts val="2800"/>
              </a:lnSpc>
            </a:pPr>
            <a:r>
              <a:rPr lang="en-US" sz="2000" spc="-40" strike="noStrike" u="none">
                <a:solidFill>
                  <a:srgbClr val="333333">
                    <a:alpha val="69804"/>
                  </a:srgbClr>
                </a:solidFill>
                <a:latin typeface="JASO Sans"/>
                <a:ea typeface="JASO Sans"/>
                <a:cs typeface="JASO Sans"/>
                <a:sym typeface="JASO Sans"/>
              </a:rPr>
              <a:t>연 8% 성장</a:t>
            </a:r>
          </a:p>
        </p:txBody>
      </p:sp>
      <p:sp>
        <p:nvSpPr>
          <p:cNvPr name="TextBox 23" id="23"/>
          <p:cNvSpPr txBox="true"/>
          <p:nvPr/>
        </p:nvSpPr>
        <p:spPr>
          <a:xfrm rot="0">
            <a:off x="12706255" y="7476123"/>
            <a:ext cx="3384450" cy="701719"/>
          </a:xfrm>
          <a:prstGeom prst="rect">
            <a:avLst/>
          </a:prstGeom>
        </p:spPr>
        <p:txBody>
          <a:bodyPr anchor="t" rtlCol="false" tIns="0" lIns="0" bIns="0" rIns="0">
            <a:spAutoFit/>
          </a:bodyPr>
          <a:lstStyle/>
          <a:p>
            <a:pPr algn="l">
              <a:lnSpc>
                <a:spcPts val="2800"/>
              </a:lnSpc>
            </a:pPr>
            <a:r>
              <a:rPr lang="en-US" sz="2000" spc="-40">
                <a:solidFill>
                  <a:srgbClr val="333333">
                    <a:alpha val="69804"/>
                  </a:srgbClr>
                </a:solidFill>
                <a:latin typeface="JASO Sans"/>
                <a:ea typeface="JASO Sans"/>
                <a:cs typeface="JASO Sans"/>
                <a:sym typeface="JASO Sans"/>
              </a:rPr>
              <a:t>시장규모</a:t>
            </a:r>
            <a:r>
              <a:rPr lang="en-US" sz="2000" spc="-40" strike="noStrike" u="none">
                <a:solidFill>
                  <a:srgbClr val="333333">
                    <a:alpha val="69804"/>
                  </a:srgbClr>
                </a:solidFill>
                <a:latin typeface="JASO Sans"/>
                <a:ea typeface="JASO Sans"/>
                <a:cs typeface="JASO Sans"/>
                <a:sym typeface="JASO Sans"/>
              </a:rPr>
              <a:t> 약 980만 명, </a:t>
            </a:r>
          </a:p>
          <a:p>
            <a:pPr algn="l">
              <a:lnSpc>
                <a:spcPts val="2800"/>
              </a:lnSpc>
            </a:pPr>
            <a:r>
              <a:rPr lang="en-US" sz="2000" spc="-40" strike="noStrike" u="none">
                <a:solidFill>
                  <a:srgbClr val="333333">
                    <a:alpha val="69804"/>
                  </a:srgbClr>
                </a:solidFill>
                <a:latin typeface="JASO Sans"/>
                <a:ea typeface="JASO Sans"/>
                <a:cs typeface="JASO Sans"/>
                <a:sym typeface="JASO Sans"/>
              </a:rPr>
              <a:t>연 12% 성장</a:t>
            </a:r>
          </a:p>
        </p:txBody>
      </p:sp>
      <p:sp>
        <p:nvSpPr>
          <p:cNvPr name="TextBox 24" id="24"/>
          <p:cNvSpPr txBox="true"/>
          <p:nvPr/>
        </p:nvSpPr>
        <p:spPr>
          <a:xfrm rot="0">
            <a:off x="2110567" y="4660502"/>
            <a:ext cx="4018401" cy="867322"/>
          </a:xfrm>
          <a:prstGeom prst="rect">
            <a:avLst/>
          </a:prstGeom>
        </p:spPr>
        <p:txBody>
          <a:bodyPr anchor="t" rtlCol="false" tIns="0" lIns="0" bIns="0" rIns="0">
            <a:spAutoFit/>
          </a:bodyPr>
          <a:lstStyle/>
          <a:p>
            <a:pPr algn="ctr">
              <a:lnSpc>
                <a:spcPts val="3519"/>
              </a:lnSpc>
            </a:pPr>
            <a:r>
              <a:rPr lang="en-US" b="true" sz="2749" spc="-54">
                <a:solidFill>
                  <a:srgbClr val="333333"/>
                </a:solidFill>
                <a:latin typeface="JASO Sans Bold"/>
                <a:ea typeface="JASO Sans Bold"/>
                <a:cs typeface="JASO Sans Bold"/>
                <a:sym typeface="JASO Sans Bold"/>
              </a:rPr>
              <a:t>디지털 네</a:t>
            </a:r>
            <a:r>
              <a:rPr lang="en-US" b="true" sz="2749" spc="-54">
                <a:solidFill>
                  <a:srgbClr val="333333"/>
                </a:solidFill>
                <a:latin typeface="JASO Sans Bold"/>
                <a:ea typeface="JASO Sans Bold"/>
                <a:cs typeface="JASO Sans Bold"/>
                <a:sym typeface="JASO Sans Bold"/>
              </a:rPr>
              <a:t>이티브</a:t>
            </a:r>
          </a:p>
          <a:p>
            <a:pPr algn="ctr">
              <a:lnSpc>
                <a:spcPts val="3519"/>
              </a:lnSpc>
            </a:pPr>
            <a:r>
              <a:rPr lang="en-US" b="true" sz="2749" spc="-54">
                <a:solidFill>
                  <a:srgbClr val="333333"/>
                </a:solidFill>
                <a:latin typeface="JASO Sans Bold"/>
                <a:ea typeface="JASO Sans Bold"/>
                <a:cs typeface="JASO Sans Bold"/>
                <a:sym typeface="JASO Sans Bold"/>
              </a:rPr>
              <a:t>(18-28세)</a:t>
            </a:r>
          </a:p>
        </p:txBody>
      </p:sp>
      <p:sp>
        <p:nvSpPr>
          <p:cNvPr name="TextBox 25" id="25"/>
          <p:cNvSpPr txBox="true"/>
          <p:nvPr/>
        </p:nvSpPr>
        <p:spPr>
          <a:xfrm rot="0">
            <a:off x="7134799" y="4660502"/>
            <a:ext cx="4018401" cy="867322"/>
          </a:xfrm>
          <a:prstGeom prst="rect">
            <a:avLst/>
          </a:prstGeom>
        </p:spPr>
        <p:txBody>
          <a:bodyPr anchor="t" rtlCol="false" tIns="0" lIns="0" bIns="0" rIns="0">
            <a:spAutoFit/>
          </a:bodyPr>
          <a:lstStyle/>
          <a:p>
            <a:pPr algn="ctr">
              <a:lnSpc>
                <a:spcPts val="3519"/>
              </a:lnSpc>
            </a:pPr>
            <a:r>
              <a:rPr lang="en-US" b="true" sz="2749" spc="-54">
                <a:solidFill>
                  <a:srgbClr val="333333"/>
                </a:solidFill>
                <a:latin typeface="JASO Sans Bold"/>
                <a:ea typeface="JASO Sans Bold"/>
                <a:cs typeface="JASO Sans Bold"/>
                <a:sym typeface="JASO Sans Bold"/>
              </a:rPr>
              <a:t>직장인 소비자</a:t>
            </a:r>
          </a:p>
          <a:p>
            <a:pPr algn="ctr">
              <a:lnSpc>
                <a:spcPts val="3519"/>
              </a:lnSpc>
            </a:pPr>
            <a:r>
              <a:rPr lang="en-US" b="true" sz="2749" spc="-54">
                <a:solidFill>
                  <a:srgbClr val="333333"/>
                </a:solidFill>
                <a:latin typeface="JASO Sans Bold"/>
                <a:ea typeface="JASO Sans Bold"/>
                <a:cs typeface="JASO Sans Bold"/>
                <a:sym typeface="JASO Sans Bold"/>
              </a:rPr>
              <a:t>(29-42세)</a:t>
            </a:r>
          </a:p>
        </p:txBody>
      </p:sp>
      <p:sp>
        <p:nvSpPr>
          <p:cNvPr name="TextBox 26" id="26"/>
          <p:cNvSpPr txBox="true"/>
          <p:nvPr/>
        </p:nvSpPr>
        <p:spPr>
          <a:xfrm rot="0">
            <a:off x="12158818" y="4660502"/>
            <a:ext cx="4018401" cy="867322"/>
          </a:xfrm>
          <a:prstGeom prst="rect">
            <a:avLst/>
          </a:prstGeom>
        </p:spPr>
        <p:txBody>
          <a:bodyPr anchor="t" rtlCol="false" tIns="0" lIns="0" bIns="0" rIns="0">
            <a:spAutoFit/>
          </a:bodyPr>
          <a:lstStyle/>
          <a:p>
            <a:pPr algn="ctr">
              <a:lnSpc>
                <a:spcPts val="3519"/>
              </a:lnSpc>
            </a:pPr>
            <a:r>
              <a:rPr lang="en-US" b="true" sz="2749" spc="-54">
                <a:solidFill>
                  <a:srgbClr val="333333"/>
                </a:solidFill>
                <a:latin typeface="JASO Sans Bold"/>
                <a:ea typeface="JASO Sans Bold"/>
                <a:cs typeface="JASO Sans Bold"/>
                <a:sym typeface="JASO Sans Bold"/>
              </a:rPr>
              <a:t>가치 지향 소비자</a:t>
            </a:r>
          </a:p>
          <a:p>
            <a:pPr algn="ctr">
              <a:lnSpc>
                <a:spcPts val="3519"/>
              </a:lnSpc>
            </a:pPr>
            <a:r>
              <a:rPr lang="en-US" b="true" sz="2749" spc="-54">
                <a:solidFill>
                  <a:srgbClr val="333333"/>
                </a:solidFill>
                <a:latin typeface="JASO Sans Bold"/>
                <a:ea typeface="JASO Sans Bold"/>
                <a:cs typeface="JASO Sans Bold"/>
                <a:sym typeface="JASO Sans Bold"/>
              </a:rPr>
              <a:t>(43세 이상)</a:t>
            </a:r>
          </a:p>
        </p:txBody>
      </p:sp>
      <p:grpSp>
        <p:nvGrpSpPr>
          <p:cNvPr name="Group 27" id="27"/>
          <p:cNvGrpSpPr/>
          <p:nvPr/>
        </p:nvGrpSpPr>
        <p:grpSpPr>
          <a:xfrm rot="0">
            <a:off x="2959526" y="3738313"/>
            <a:ext cx="2320483" cy="674284"/>
            <a:chOff x="0" y="0"/>
            <a:chExt cx="611156" cy="177589"/>
          </a:xfrm>
        </p:grpSpPr>
        <p:sp>
          <p:nvSpPr>
            <p:cNvPr name="Freeform 28" id="28"/>
            <p:cNvSpPr/>
            <p:nvPr/>
          </p:nvSpPr>
          <p:spPr>
            <a:xfrm flipH="false" flipV="false" rot="0">
              <a:off x="0" y="0"/>
              <a:ext cx="611156" cy="177589"/>
            </a:xfrm>
            <a:custGeom>
              <a:avLst/>
              <a:gdLst/>
              <a:ahLst/>
              <a:cxnLst/>
              <a:rect r="r" b="b" t="t" l="l"/>
              <a:pathLst>
                <a:path h="177589" w="611156">
                  <a:moveTo>
                    <a:pt x="88795" y="0"/>
                  </a:moveTo>
                  <a:lnTo>
                    <a:pt x="522362" y="0"/>
                  </a:lnTo>
                  <a:cubicBezTo>
                    <a:pt x="571401" y="0"/>
                    <a:pt x="611156" y="39755"/>
                    <a:pt x="611156" y="88795"/>
                  </a:cubicBezTo>
                  <a:lnTo>
                    <a:pt x="611156" y="88795"/>
                  </a:lnTo>
                  <a:cubicBezTo>
                    <a:pt x="611156" y="137835"/>
                    <a:pt x="571401" y="177589"/>
                    <a:pt x="522362" y="177589"/>
                  </a:cubicBezTo>
                  <a:lnTo>
                    <a:pt x="88795" y="177589"/>
                  </a:lnTo>
                  <a:cubicBezTo>
                    <a:pt x="39755" y="177589"/>
                    <a:pt x="0" y="137835"/>
                    <a:pt x="0" y="88795"/>
                  </a:cubicBezTo>
                  <a:lnTo>
                    <a:pt x="0" y="88795"/>
                  </a:lnTo>
                  <a:cubicBezTo>
                    <a:pt x="0" y="39755"/>
                    <a:pt x="39755" y="0"/>
                    <a:pt x="88795" y="0"/>
                  </a:cubicBezTo>
                  <a:close/>
                </a:path>
              </a:pathLst>
            </a:custGeom>
            <a:solidFill>
              <a:srgbClr val="416F6C"/>
            </a:solidFill>
          </p:spPr>
        </p:sp>
        <p:sp>
          <p:nvSpPr>
            <p:cNvPr name="TextBox 29" id="29"/>
            <p:cNvSpPr txBox="true"/>
            <p:nvPr/>
          </p:nvSpPr>
          <p:spPr>
            <a:xfrm>
              <a:off x="0" y="-57150"/>
              <a:ext cx="611156" cy="234739"/>
            </a:xfrm>
            <a:prstGeom prst="rect">
              <a:avLst/>
            </a:prstGeom>
          </p:spPr>
          <p:txBody>
            <a:bodyPr anchor="ctr" rtlCol="false" tIns="50800" lIns="50800" bIns="50800" rIns="50800"/>
            <a:lstStyle/>
            <a:p>
              <a:pPr algn="ctr">
                <a:lnSpc>
                  <a:spcPts val="2541"/>
                </a:lnSpc>
              </a:pPr>
            </a:p>
          </p:txBody>
        </p:sp>
      </p:grpSp>
      <p:grpSp>
        <p:nvGrpSpPr>
          <p:cNvPr name="Group 30" id="30"/>
          <p:cNvGrpSpPr/>
          <p:nvPr/>
        </p:nvGrpSpPr>
        <p:grpSpPr>
          <a:xfrm rot="0">
            <a:off x="7983758" y="3738313"/>
            <a:ext cx="2320483" cy="674284"/>
            <a:chOff x="0" y="0"/>
            <a:chExt cx="611156" cy="177589"/>
          </a:xfrm>
        </p:grpSpPr>
        <p:sp>
          <p:nvSpPr>
            <p:cNvPr name="Freeform 31" id="31"/>
            <p:cNvSpPr/>
            <p:nvPr/>
          </p:nvSpPr>
          <p:spPr>
            <a:xfrm flipH="false" flipV="false" rot="0">
              <a:off x="0" y="0"/>
              <a:ext cx="611156" cy="177589"/>
            </a:xfrm>
            <a:custGeom>
              <a:avLst/>
              <a:gdLst/>
              <a:ahLst/>
              <a:cxnLst/>
              <a:rect r="r" b="b" t="t" l="l"/>
              <a:pathLst>
                <a:path h="177589" w="611156">
                  <a:moveTo>
                    <a:pt x="88795" y="0"/>
                  </a:moveTo>
                  <a:lnTo>
                    <a:pt x="522362" y="0"/>
                  </a:lnTo>
                  <a:cubicBezTo>
                    <a:pt x="571401" y="0"/>
                    <a:pt x="611156" y="39755"/>
                    <a:pt x="611156" y="88795"/>
                  </a:cubicBezTo>
                  <a:lnTo>
                    <a:pt x="611156" y="88795"/>
                  </a:lnTo>
                  <a:cubicBezTo>
                    <a:pt x="611156" y="137835"/>
                    <a:pt x="571401" y="177589"/>
                    <a:pt x="522362" y="177589"/>
                  </a:cubicBezTo>
                  <a:lnTo>
                    <a:pt x="88795" y="177589"/>
                  </a:lnTo>
                  <a:cubicBezTo>
                    <a:pt x="39755" y="177589"/>
                    <a:pt x="0" y="137835"/>
                    <a:pt x="0" y="88795"/>
                  </a:cubicBezTo>
                  <a:lnTo>
                    <a:pt x="0" y="88795"/>
                  </a:lnTo>
                  <a:cubicBezTo>
                    <a:pt x="0" y="39755"/>
                    <a:pt x="39755" y="0"/>
                    <a:pt x="88795" y="0"/>
                  </a:cubicBezTo>
                  <a:close/>
                </a:path>
              </a:pathLst>
            </a:custGeom>
            <a:solidFill>
              <a:srgbClr val="416F6C"/>
            </a:solidFill>
          </p:spPr>
        </p:sp>
        <p:sp>
          <p:nvSpPr>
            <p:cNvPr name="TextBox 32" id="32"/>
            <p:cNvSpPr txBox="true"/>
            <p:nvPr/>
          </p:nvSpPr>
          <p:spPr>
            <a:xfrm>
              <a:off x="0" y="-57150"/>
              <a:ext cx="611156" cy="234739"/>
            </a:xfrm>
            <a:prstGeom prst="rect">
              <a:avLst/>
            </a:prstGeom>
          </p:spPr>
          <p:txBody>
            <a:bodyPr anchor="ctr" rtlCol="false" tIns="50800" lIns="50800" bIns="50800" rIns="50800"/>
            <a:lstStyle/>
            <a:p>
              <a:pPr algn="ctr">
                <a:lnSpc>
                  <a:spcPts val="2541"/>
                </a:lnSpc>
              </a:pPr>
            </a:p>
          </p:txBody>
        </p:sp>
      </p:grpSp>
      <p:grpSp>
        <p:nvGrpSpPr>
          <p:cNvPr name="Group 33" id="33"/>
          <p:cNvGrpSpPr/>
          <p:nvPr/>
        </p:nvGrpSpPr>
        <p:grpSpPr>
          <a:xfrm rot="0">
            <a:off x="13007777" y="3738313"/>
            <a:ext cx="2320483" cy="674284"/>
            <a:chOff x="0" y="0"/>
            <a:chExt cx="611156" cy="177589"/>
          </a:xfrm>
        </p:grpSpPr>
        <p:sp>
          <p:nvSpPr>
            <p:cNvPr name="Freeform 34" id="34"/>
            <p:cNvSpPr/>
            <p:nvPr/>
          </p:nvSpPr>
          <p:spPr>
            <a:xfrm flipH="false" flipV="false" rot="0">
              <a:off x="0" y="0"/>
              <a:ext cx="611156" cy="177589"/>
            </a:xfrm>
            <a:custGeom>
              <a:avLst/>
              <a:gdLst/>
              <a:ahLst/>
              <a:cxnLst/>
              <a:rect r="r" b="b" t="t" l="l"/>
              <a:pathLst>
                <a:path h="177589" w="611156">
                  <a:moveTo>
                    <a:pt x="88795" y="0"/>
                  </a:moveTo>
                  <a:lnTo>
                    <a:pt x="522362" y="0"/>
                  </a:lnTo>
                  <a:cubicBezTo>
                    <a:pt x="571401" y="0"/>
                    <a:pt x="611156" y="39755"/>
                    <a:pt x="611156" y="88795"/>
                  </a:cubicBezTo>
                  <a:lnTo>
                    <a:pt x="611156" y="88795"/>
                  </a:lnTo>
                  <a:cubicBezTo>
                    <a:pt x="611156" y="137835"/>
                    <a:pt x="571401" y="177589"/>
                    <a:pt x="522362" y="177589"/>
                  </a:cubicBezTo>
                  <a:lnTo>
                    <a:pt x="88795" y="177589"/>
                  </a:lnTo>
                  <a:cubicBezTo>
                    <a:pt x="39755" y="177589"/>
                    <a:pt x="0" y="137835"/>
                    <a:pt x="0" y="88795"/>
                  </a:cubicBezTo>
                  <a:lnTo>
                    <a:pt x="0" y="88795"/>
                  </a:lnTo>
                  <a:cubicBezTo>
                    <a:pt x="0" y="39755"/>
                    <a:pt x="39755" y="0"/>
                    <a:pt x="88795" y="0"/>
                  </a:cubicBezTo>
                  <a:close/>
                </a:path>
              </a:pathLst>
            </a:custGeom>
            <a:solidFill>
              <a:srgbClr val="416F6C"/>
            </a:solidFill>
          </p:spPr>
        </p:sp>
        <p:sp>
          <p:nvSpPr>
            <p:cNvPr name="TextBox 35" id="35"/>
            <p:cNvSpPr txBox="true"/>
            <p:nvPr/>
          </p:nvSpPr>
          <p:spPr>
            <a:xfrm>
              <a:off x="0" y="-57150"/>
              <a:ext cx="611156" cy="234739"/>
            </a:xfrm>
            <a:prstGeom prst="rect">
              <a:avLst/>
            </a:prstGeom>
          </p:spPr>
          <p:txBody>
            <a:bodyPr anchor="ctr" rtlCol="false" tIns="50800" lIns="50800" bIns="50800" rIns="50800"/>
            <a:lstStyle/>
            <a:p>
              <a:pPr algn="ctr">
                <a:lnSpc>
                  <a:spcPts val="2541"/>
                </a:lnSpc>
              </a:pPr>
            </a:p>
          </p:txBody>
        </p:sp>
      </p:grpSp>
      <p:sp>
        <p:nvSpPr>
          <p:cNvPr name="TextBox 36" id="36"/>
          <p:cNvSpPr txBox="true"/>
          <p:nvPr/>
        </p:nvSpPr>
        <p:spPr>
          <a:xfrm rot="0">
            <a:off x="2124145" y="3825381"/>
            <a:ext cx="4018401" cy="423949"/>
          </a:xfrm>
          <a:prstGeom prst="rect">
            <a:avLst/>
          </a:prstGeom>
        </p:spPr>
        <p:txBody>
          <a:bodyPr anchor="t" rtlCol="false" tIns="0" lIns="0" bIns="0" rIns="0">
            <a:spAutoFit/>
          </a:bodyPr>
          <a:lstStyle/>
          <a:p>
            <a:pPr algn="ctr">
              <a:lnSpc>
                <a:spcPts val="3576"/>
              </a:lnSpc>
            </a:pPr>
            <a:r>
              <a:rPr lang="en-US" b="true" sz="2449" spc="-48">
                <a:solidFill>
                  <a:srgbClr val="FCFCFC"/>
                </a:solidFill>
                <a:latin typeface="JASO Sans Bold"/>
                <a:ea typeface="JASO Sans Bold"/>
                <a:cs typeface="JASO Sans Bold"/>
                <a:sym typeface="JASO Sans Bold"/>
              </a:rPr>
              <a:t>세그먼트 1</a:t>
            </a:r>
          </a:p>
        </p:txBody>
      </p:sp>
      <p:sp>
        <p:nvSpPr>
          <p:cNvPr name="TextBox 37" id="37"/>
          <p:cNvSpPr txBox="true"/>
          <p:nvPr/>
        </p:nvSpPr>
        <p:spPr>
          <a:xfrm rot="0">
            <a:off x="7148377" y="3825381"/>
            <a:ext cx="4018401" cy="423949"/>
          </a:xfrm>
          <a:prstGeom prst="rect">
            <a:avLst/>
          </a:prstGeom>
        </p:spPr>
        <p:txBody>
          <a:bodyPr anchor="t" rtlCol="false" tIns="0" lIns="0" bIns="0" rIns="0">
            <a:spAutoFit/>
          </a:bodyPr>
          <a:lstStyle/>
          <a:p>
            <a:pPr algn="ctr">
              <a:lnSpc>
                <a:spcPts val="3576"/>
              </a:lnSpc>
            </a:pPr>
            <a:r>
              <a:rPr lang="en-US" b="true" sz="2449" spc="-48">
                <a:solidFill>
                  <a:srgbClr val="FCFCFC"/>
                </a:solidFill>
                <a:latin typeface="JASO Sans Bold"/>
                <a:ea typeface="JASO Sans Bold"/>
                <a:cs typeface="JASO Sans Bold"/>
                <a:sym typeface="JASO Sans Bold"/>
              </a:rPr>
              <a:t>세그먼트 2</a:t>
            </a:r>
          </a:p>
        </p:txBody>
      </p:sp>
      <p:sp>
        <p:nvSpPr>
          <p:cNvPr name="TextBox 38" id="38"/>
          <p:cNvSpPr txBox="true"/>
          <p:nvPr/>
        </p:nvSpPr>
        <p:spPr>
          <a:xfrm rot="0">
            <a:off x="12172395" y="3825381"/>
            <a:ext cx="4018401" cy="423949"/>
          </a:xfrm>
          <a:prstGeom prst="rect">
            <a:avLst/>
          </a:prstGeom>
        </p:spPr>
        <p:txBody>
          <a:bodyPr anchor="t" rtlCol="false" tIns="0" lIns="0" bIns="0" rIns="0">
            <a:spAutoFit/>
          </a:bodyPr>
          <a:lstStyle/>
          <a:p>
            <a:pPr algn="ctr">
              <a:lnSpc>
                <a:spcPts val="3576"/>
              </a:lnSpc>
            </a:pPr>
            <a:r>
              <a:rPr lang="en-US" b="true" sz="2449" spc="-48">
                <a:solidFill>
                  <a:srgbClr val="FCFCFC"/>
                </a:solidFill>
                <a:latin typeface="JASO Sans Bold"/>
                <a:ea typeface="JASO Sans Bold"/>
                <a:cs typeface="JASO Sans Bold"/>
                <a:sym typeface="JASO Sans Bold"/>
              </a:rPr>
              <a:t>세그먼트 3</a:t>
            </a:r>
          </a:p>
        </p:txBody>
      </p:sp>
      <p:sp>
        <p:nvSpPr>
          <p:cNvPr name="AutoShape 39" id="39"/>
          <p:cNvSpPr/>
          <p:nvPr/>
        </p:nvSpPr>
        <p:spPr>
          <a:xfrm flipV="true">
            <a:off x="2197082" y="5870959"/>
            <a:ext cx="3845373" cy="9525"/>
          </a:xfrm>
          <a:prstGeom prst="line">
            <a:avLst/>
          </a:prstGeom>
          <a:ln cap="flat" w="9525">
            <a:solidFill>
              <a:srgbClr val="B3B3B3"/>
            </a:solidFill>
            <a:prstDash val="solid"/>
            <a:headEnd type="none" len="sm" w="sm"/>
            <a:tailEnd type="none" len="sm" w="sm"/>
          </a:ln>
        </p:spPr>
      </p:sp>
      <p:sp>
        <p:nvSpPr>
          <p:cNvPr name="AutoShape 40" id="40"/>
          <p:cNvSpPr/>
          <p:nvPr/>
        </p:nvSpPr>
        <p:spPr>
          <a:xfrm flipV="true">
            <a:off x="7221314" y="5870959"/>
            <a:ext cx="3845373" cy="9525"/>
          </a:xfrm>
          <a:prstGeom prst="line">
            <a:avLst/>
          </a:prstGeom>
          <a:ln cap="flat" w="9525">
            <a:solidFill>
              <a:srgbClr val="B3B3B3"/>
            </a:solidFill>
            <a:prstDash val="solid"/>
            <a:headEnd type="none" len="sm" w="sm"/>
            <a:tailEnd type="none" len="sm" w="sm"/>
          </a:ln>
        </p:spPr>
      </p:sp>
      <p:sp>
        <p:nvSpPr>
          <p:cNvPr name="AutoShape 41" id="41"/>
          <p:cNvSpPr/>
          <p:nvPr/>
        </p:nvSpPr>
        <p:spPr>
          <a:xfrm flipV="true">
            <a:off x="12245332" y="5870959"/>
            <a:ext cx="3845373" cy="9525"/>
          </a:xfrm>
          <a:prstGeom prst="line">
            <a:avLst/>
          </a:prstGeom>
          <a:ln cap="flat" w="9525">
            <a:solidFill>
              <a:srgbClr val="B3B3B3"/>
            </a:solidFill>
            <a:prstDash val="solid"/>
            <a:headEnd type="none" len="sm" w="sm"/>
            <a:tailEnd type="none" len="sm" w="sm"/>
          </a:ln>
        </p:spPr>
      </p:sp>
      <p:sp>
        <p:nvSpPr>
          <p:cNvPr name="Freeform 42" id="42"/>
          <p:cNvSpPr/>
          <p:nvPr/>
        </p:nvSpPr>
        <p:spPr>
          <a:xfrm flipH="false" flipV="false" rot="0">
            <a:off x="2385272" y="6492590"/>
            <a:ext cx="187008" cy="142594"/>
          </a:xfrm>
          <a:custGeom>
            <a:avLst/>
            <a:gdLst/>
            <a:ahLst/>
            <a:cxnLst/>
            <a:rect r="r" b="b" t="t" l="l"/>
            <a:pathLst>
              <a:path h="142594" w="187008">
                <a:moveTo>
                  <a:pt x="0" y="0"/>
                </a:moveTo>
                <a:lnTo>
                  <a:pt x="187008" y="0"/>
                </a:lnTo>
                <a:lnTo>
                  <a:pt x="187008" y="142593"/>
                </a:lnTo>
                <a:lnTo>
                  <a:pt x="0" y="1425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3" id="43"/>
          <p:cNvSpPr/>
          <p:nvPr/>
        </p:nvSpPr>
        <p:spPr>
          <a:xfrm flipH="false" flipV="false" rot="0">
            <a:off x="7409504" y="6492590"/>
            <a:ext cx="187008" cy="142594"/>
          </a:xfrm>
          <a:custGeom>
            <a:avLst/>
            <a:gdLst/>
            <a:ahLst/>
            <a:cxnLst/>
            <a:rect r="r" b="b" t="t" l="l"/>
            <a:pathLst>
              <a:path h="142594" w="187008">
                <a:moveTo>
                  <a:pt x="0" y="0"/>
                </a:moveTo>
                <a:lnTo>
                  <a:pt x="187008" y="0"/>
                </a:lnTo>
                <a:lnTo>
                  <a:pt x="187008" y="142593"/>
                </a:lnTo>
                <a:lnTo>
                  <a:pt x="0" y="1425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4" id="44"/>
          <p:cNvSpPr/>
          <p:nvPr/>
        </p:nvSpPr>
        <p:spPr>
          <a:xfrm flipH="false" flipV="false" rot="0">
            <a:off x="12433522" y="6492590"/>
            <a:ext cx="187008" cy="142594"/>
          </a:xfrm>
          <a:custGeom>
            <a:avLst/>
            <a:gdLst/>
            <a:ahLst/>
            <a:cxnLst/>
            <a:rect r="r" b="b" t="t" l="l"/>
            <a:pathLst>
              <a:path h="142594" w="187008">
                <a:moveTo>
                  <a:pt x="0" y="0"/>
                </a:moveTo>
                <a:lnTo>
                  <a:pt x="187008" y="0"/>
                </a:lnTo>
                <a:lnTo>
                  <a:pt x="187008" y="142593"/>
                </a:lnTo>
                <a:lnTo>
                  <a:pt x="0" y="1425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5" id="45"/>
          <p:cNvSpPr/>
          <p:nvPr/>
        </p:nvSpPr>
        <p:spPr>
          <a:xfrm flipH="false" flipV="false" rot="0">
            <a:off x="2385272" y="7597208"/>
            <a:ext cx="187008" cy="142594"/>
          </a:xfrm>
          <a:custGeom>
            <a:avLst/>
            <a:gdLst/>
            <a:ahLst/>
            <a:cxnLst/>
            <a:rect r="r" b="b" t="t" l="l"/>
            <a:pathLst>
              <a:path h="142594" w="187008">
                <a:moveTo>
                  <a:pt x="0" y="0"/>
                </a:moveTo>
                <a:lnTo>
                  <a:pt x="187008" y="0"/>
                </a:lnTo>
                <a:lnTo>
                  <a:pt x="187008" y="142594"/>
                </a:lnTo>
                <a:lnTo>
                  <a:pt x="0" y="142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6" id="46"/>
          <p:cNvSpPr/>
          <p:nvPr/>
        </p:nvSpPr>
        <p:spPr>
          <a:xfrm flipH="false" flipV="false" rot="0">
            <a:off x="7409504" y="7597208"/>
            <a:ext cx="187008" cy="142594"/>
          </a:xfrm>
          <a:custGeom>
            <a:avLst/>
            <a:gdLst/>
            <a:ahLst/>
            <a:cxnLst/>
            <a:rect r="r" b="b" t="t" l="l"/>
            <a:pathLst>
              <a:path h="142594" w="187008">
                <a:moveTo>
                  <a:pt x="0" y="0"/>
                </a:moveTo>
                <a:lnTo>
                  <a:pt x="187008" y="0"/>
                </a:lnTo>
                <a:lnTo>
                  <a:pt x="187008" y="142594"/>
                </a:lnTo>
                <a:lnTo>
                  <a:pt x="0" y="1425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7" id="47"/>
          <p:cNvSpPr/>
          <p:nvPr/>
        </p:nvSpPr>
        <p:spPr>
          <a:xfrm flipH="false" flipV="false" rot="0">
            <a:off x="12433522" y="7597208"/>
            <a:ext cx="187008" cy="142594"/>
          </a:xfrm>
          <a:custGeom>
            <a:avLst/>
            <a:gdLst/>
            <a:ahLst/>
            <a:cxnLst/>
            <a:rect r="r" b="b" t="t" l="l"/>
            <a:pathLst>
              <a:path h="142594" w="187008">
                <a:moveTo>
                  <a:pt x="0" y="0"/>
                </a:moveTo>
                <a:lnTo>
                  <a:pt x="187008" y="0"/>
                </a:lnTo>
                <a:lnTo>
                  <a:pt x="187008" y="142594"/>
                </a:lnTo>
                <a:lnTo>
                  <a:pt x="0" y="142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1416"/>
            <a:chOff x="0" y="0"/>
            <a:chExt cx="3762963" cy="37328"/>
          </a:xfrm>
        </p:grpSpPr>
        <p:sp>
          <p:nvSpPr>
            <p:cNvPr name="Freeform 3" id="3"/>
            <p:cNvSpPr/>
            <p:nvPr/>
          </p:nvSpPr>
          <p:spPr>
            <a:xfrm flipH="false" flipV="false" rot="0">
              <a:off x="0" y="0"/>
              <a:ext cx="3762963" cy="37328"/>
            </a:xfrm>
            <a:custGeom>
              <a:avLst/>
              <a:gdLst/>
              <a:ahLst/>
              <a:cxnLst/>
              <a:rect r="r" b="b" t="t" l="l"/>
              <a:pathLst>
                <a:path h="37328" w="3762963">
                  <a:moveTo>
                    <a:pt x="0" y="0"/>
                  </a:moveTo>
                  <a:lnTo>
                    <a:pt x="3762963" y="0"/>
                  </a:lnTo>
                  <a:lnTo>
                    <a:pt x="3762963" y="37328"/>
                  </a:lnTo>
                  <a:lnTo>
                    <a:pt x="0" y="37328"/>
                  </a:lnTo>
                  <a:close/>
                </a:path>
              </a:pathLst>
            </a:custGeom>
            <a:solidFill>
              <a:srgbClr val="416F6C"/>
            </a:solidFill>
          </p:spPr>
        </p:sp>
        <p:sp>
          <p:nvSpPr>
            <p:cNvPr name="TextBox 4" id="4"/>
            <p:cNvSpPr txBox="true"/>
            <p:nvPr/>
          </p:nvSpPr>
          <p:spPr>
            <a:xfrm>
              <a:off x="0" y="-57150"/>
              <a:ext cx="3762963" cy="94478"/>
            </a:xfrm>
            <a:prstGeom prst="rect">
              <a:avLst/>
            </a:prstGeom>
          </p:spPr>
          <p:txBody>
            <a:bodyPr anchor="ctr" rtlCol="false" tIns="50800" lIns="50800" bIns="50800" rIns="50800"/>
            <a:lstStyle/>
            <a:p>
              <a:pPr algn="ctr">
                <a:lnSpc>
                  <a:spcPts val="2541"/>
                </a:lnSpc>
              </a:pPr>
            </a:p>
          </p:txBody>
        </p:sp>
      </p:grpSp>
      <p:sp>
        <p:nvSpPr>
          <p:cNvPr name="AutoShape 5" id="5"/>
          <p:cNvSpPr/>
          <p:nvPr/>
        </p:nvSpPr>
        <p:spPr>
          <a:xfrm>
            <a:off x="844732" y="2064885"/>
            <a:ext cx="16598535" cy="0"/>
          </a:xfrm>
          <a:prstGeom prst="line">
            <a:avLst/>
          </a:prstGeom>
          <a:ln cap="flat" w="9525">
            <a:solidFill>
              <a:srgbClr val="416F6C"/>
            </a:solidFill>
            <a:prstDash val="solid"/>
            <a:headEnd type="none" len="sm" w="sm"/>
            <a:tailEnd type="none" len="sm" w="sm"/>
          </a:ln>
        </p:spPr>
      </p:sp>
      <p:sp>
        <p:nvSpPr>
          <p:cNvPr name="TextBox 6" id="6"/>
          <p:cNvSpPr txBox="true"/>
          <p:nvPr/>
        </p:nvSpPr>
        <p:spPr>
          <a:xfrm rot="0">
            <a:off x="1601101" y="917525"/>
            <a:ext cx="9792550" cy="733022"/>
          </a:xfrm>
          <a:prstGeom prst="rect">
            <a:avLst/>
          </a:prstGeom>
        </p:spPr>
        <p:txBody>
          <a:bodyPr anchor="t" rtlCol="false" tIns="0" lIns="0" bIns="0" rIns="0">
            <a:spAutoFit/>
          </a:bodyPr>
          <a:lstStyle/>
          <a:p>
            <a:pPr algn="l" marL="0" indent="0" lvl="0">
              <a:lnSpc>
                <a:spcPts val="5508"/>
              </a:lnSpc>
            </a:pPr>
            <a:r>
              <a:rPr lang="en-US" b="true" sz="5400" spc="-108">
                <a:solidFill>
                  <a:srgbClr val="333333"/>
                </a:solidFill>
                <a:latin typeface="JASO Sans Bold"/>
                <a:ea typeface="JASO Sans Bold"/>
                <a:cs typeface="JASO Sans Bold"/>
                <a:sym typeface="JASO Sans Bold"/>
              </a:rPr>
              <a:t>마케팅 프로젝트 진행일정</a:t>
            </a:r>
          </a:p>
        </p:txBody>
      </p:sp>
      <p:sp>
        <p:nvSpPr>
          <p:cNvPr name="TextBox 7" id="7"/>
          <p:cNvSpPr txBox="true"/>
          <p:nvPr/>
        </p:nvSpPr>
        <p:spPr>
          <a:xfrm rot="0">
            <a:off x="8881325" y="1328115"/>
            <a:ext cx="4543751" cy="228644"/>
          </a:xfrm>
          <a:prstGeom prst="rect">
            <a:avLst/>
          </a:prstGeom>
        </p:spPr>
        <p:txBody>
          <a:bodyPr anchor="t" rtlCol="false" tIns="0" lIns="0" bIns="0" rIns="0">
            <a:spAutoFit/>
          </a:bodyPr>
          <a:lstStyle/>
          <a:p>
            <a:pPr algn="l">
              <a:lnSpc>
                <a:spcPts val="1800"/>
              </a:lnSpc>
            </a:pPr>
            <a:r>
              <a:rPr lang="en-US" sz="1500" spc="-30">
                <a:solidFill>
                  <a:srgbClr val="333333">
                    <a:alpha val="32941"/>
                  </a:srgbClr>
                </a:solidFill>
                <a:latin typeface="JASO Sans"/>
                <a:ea typeface="JASO Sans"/>
                <a:cs typeface="JASO Sans"/>
                <a:sym typeface="JASO Sans"/>
              </a:rPr>
              <a:t>메인타이틀에 대한 세부 설명을 입력해 주세요.</a:t>
            </a:r>
          </a:p>
        </p:txBody>
      </p:sp>
      <p:sp>
        <p:nvSpPr>
          <p:cNvPr name="Freeform 8" id="8"/>
          <p:cNvSpPr/>
          <p:nvPr/>
        </p:nvSpPr>
        <p:spPr>
          <a:xfrm flipH="false" flipV="false" rot="0">
            <a:off x="1028700" y="1059829"/>
            <a:ext cx="362690" cy="362690"/>
          </a:xfrm>
          <a:custGeom>
            <a:avLst/>
            <a:gdLst/>
            <a:ahLst/>
            <a:cxnLst/>
            <a:rect r="r" b="b" t="t" l="l"/>
            <a:pathLst>
              <a:path h="362690" w="362690">
                <a:moveTo>
                  <a:pt x="0" y="0"/>
                </a:moveTo>
                <a:lnTo>
                  <a:pt x="362690" y="0"/>
                </a:lnTo>
                <a:lnTo>
                  <a:pt x="362690" y="362690"/>
                </a:lnTo>
                <a:lnTo>
                  <a:pt x="0" y="362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9" id="9"/>
          <p:cNvGraphicFramePr>
            <a:graphicFrameLocks noGrp="true"/>
          </p:cNvGraphicFramePr>
          <p:nvPr/>
        </p:nvGraphicFramePr>
        <p:xfrm>
          <a:off x="1726821" y="3136448"/>
          <a:ext cx="14853407" cy="5701057"/>
        </p:xfrm>
        <a:graphic>
          <a:graphicData uri="http://schemas.openxmlformats.org/drawingml/2006/table">
            <a:tbl>
              <a:tblPr/>
              <a:tblGrid>
                <a:gridCol w="3495006"/>
                <a:gridCol w="1398320"/>
                <a:gridCol w="9960081"/>
              </a:tblGrid>
              <a:tr h="899234">
                <a:tc>
                  <a:txBody>
                    <a:bodyPr anchor="t" rtlCol="false"/>
                    <a:lstStyle/>
                    <a:p>
                      <a:pPr algn="ctr">
                        <a:lnSpc>
                          <a:spcPts val="3009"/>
                        </a:lnSpc>
                        <a:defRPr/>
                      </a:pPr>
                      <a:r>
                        <a:rPr lang="en-US" b="true" sz="2149">
                          <a:solidFill>
                            <a:srgbClr val="416F6C"/>
                          </a:solidFill>
                          <a:latin typeface="JASO Sans Bold"/>
                          <a:ea typeface="JASO Sans Bold"/>
                          <a:cs typeface="JASO Sans Bold"/>
                          <a:sym typeface="JASO Sans Bold"/>
                        </a:rPr>
                        <a:t>일정</a:t>
                      </a:r>
                      <a:endParaRPr lang="en-US" sz="1100"/>
                    </a:p>
                  </a:txBody>
                  <a:tcPr marL="190500" marR="190500" marT="190500" marB="190500" anchor="ctr">
                    <a:lnL cmpd="sng" algn="ctr" cap="flat" w="9525">
                      <a:solidFill>
                        <a:srgbClr val="C1C1C1"/>
                      </a:solidFill>
                      <a:prstDash val="solid"/>
                      <a:round/>
                      <a:headEnd type="none" w="med" len="med"/>
                      <a:tailEnd type="none" w="med" len="med"/>
                    </a:lnL>
                    <a:lnR cmpd="sng" algn="ctr" cap="flat" w="9525">
                      <a:solidFill>
                        <a:srgbClr val="C1C1C1"/>
                      </a:solidFill>
                      <a:prstDash val="solid"/>
                      <a:round/>
                      <a:headEnd type="none" w="med" len="med"/>
                      <a:tailEnd type="none" w="med" len="med"/>
                    </a:lnR>
                    <a:lnT cmpd="sng" algn="ctr" cap="flat" w="9525">
                      <a:solidFill>
                        <a:srgbClr val="C1C1C1"/>
                      </a:solidFill>
                      <a:prstDash val="solid"/>
                      <a:round/>
                      <a:headEnd type="none" w="med" len="med"/>
                      <a:tailEnd type="none" w="med" len="med"/>
                    </a:lnT>
                    <a:lnB cmpd="sng" algn="ctr" cap="flat" w="9525">
                      <a:solidFill>
                        <a:srgbClr val="C1C1C1"/>
                      </a:solidFill>
                      <a:prstDash val="solid"/>
                      <a:round/>
                      <a:headEnd type="none" w="med" len="med"/>
                      <a:tailEnd type="none" w="med" len="med"/>
                    </a:lnB>
                    <a:solidFill>
                      <a:srgbClr val="DCE4E3"/>
                    </a:solidFill>
                  </a:tcPr>
                </a:tc>
                <a:tc>
                  <a:txBody>
                    <a:bodyPr anchor="t" rtlCol="false"/>
                    <a:lstStyle/>
                    <a:p>
                      <a:pPr algn="ctr">
                        <a:lnSpc>
                          <a:spcPts val="3009"/>
                        </a:lnSpc>
                        <a:defRPr/>
                      </a:pPr>
                      <a:r>
                        <a:rPr lang="en-US" b="true" sz="2149">
                          <a:solidFill>
                            <a:srgbClr val="416F6C"/>
                          </a:solidFill>
                          <a:latin typeface="JASO Sans Bold"/>
                          <a:ea typeface="JASO Sans Bold"/>
                          <a:cs typeface="JASO Sans Bold"/>
                          <a:sym typeface="JASO Sans Bold"/>
                        </a:rPr>
                        <a:t>기간</a:t>
                      </a:r>
                      <a:endParaRPr lang="en-US" sz="1100"/>
                    </a:p>
                  </a:txBody>
                  <a:tcPr marL="190500" marR="190500" marT="190500" marB="190500" anchor="ctr">
                    <a:lnL cmpd="sng" algn="ctr" cap="flat" w="9525">
                      <a:solidFill>
                        <a:srgbClr val="C1C1C1"/>
                      </a:solidFill>
                      <a:prstDash val="solid"/>
                      <a:round/>
                      <a:headEnd type="none" w="med" len="med"/>
                      <a:tailEnd type="none" w="med" len="med"/>
                    </a:lnL>
                    <a:lnR cmpd="sng" algn="ctr" cap="flat" w="9525">
                      <a:solidFill>
                        <a:srgbClr val="C1C1C1"/>
                      </a:solidFill>
                      <a:prstDash val="solid"/>
                      <a:round/>
                      <a:headEnd type="none" w="med" len="med"/>
                      <a:tailEnd type="none" w="med" len="med"/>
                    </a:lnR>
                    <a:lnT cmpd="sng" algn="ctr" cap="flat" w="9525">
                      <a:solidFill>
                        <a:srgbClr val="C1C1C1"/>
                      </a:solidFill>
                      <a:prstDash val="solid"/>
                      <a:round/>
                      <a:headEnd type="none" w="med" len="med"/>
                      <a:tailEnd type="none" w="med" len="med"/>
                    </a:lnT>
                    <a:lnB cmpd="sng" algn="ctr" cap="flat" w="9525">
                      <a:solidFill>
                        <a:srgbClr val="C1C1C1"/>
                      </a:solidFill>
                      <a:prstDash val="solid"/>
                      <a:round/>
                      <a:headEnd type="none" w="med" len="med"/>
                      <a:tailEnd type="none" w="med" len="med"/>
                    </a:lnB>
                    <a:solidFill>
                      <a:srgbClr val="DCE4E3"/>
                    </a:solidFill>
                  </a:tcPr>
                </a:tc>
                <a:tc>
                  <a:txBody>
                    <a:bodyPr anchor="t" rtlCol="false"/>
                    <a:lstStyle/>
                    <a:p>
                      <a:pPr algn="ctr">
                        <a:lnSpc>
                          <a:spcPts val="3009"/>
                        </a:lnSpc>
                        <a:defRPr/>
                      </a:pPr>
                      <a:r>
                        <a:rPr lang="en-US" b="true" sz="2149">
                          <a:solidFill>
                            <a:srgbClr val="416F6C"/>
                          </a:solidFill>
                          <a:latin typeface="JASO Sans Bold"/>
                          <a:ea typeface="JASO Sans Bold"/>
                          <a:cs typeface="JASO Sans Bold"/>
                          <a:sym typeface="JASO Sans Bold"/>
                        </a:rPr>
                        <a:t>세부내용</a:t>
                      </a:r>
                      <a:endParaRPr lang="en-US" sz="1100"/>
                    </a:p>
                  </a:txBody>
                  <a:tcPr marL="190500" marR="190500" marT="190500" marB="190500" anchor="ctr">
                    <a:lnL cmpd="sng" algn="ctr" cap="flat" w="9525">
                      <a:solidFill>
                        <a:srgbClr val="C1C1C1"/>
                      </a:solidFill>
                      <a:prstDash val="solid"/>
                      <a:round/>
                      <a:headEnd type="none" w="med" len="med"/>
                      <a:tailEnd type="none" w="med" len="med"/>
                    </a:lnL>
                    <a:lnR cmpd="sng" algn="ctr" cap="flat" w="9525">
                      <a:solidFill>
                        <a:srgbClr val="C1C1C1"/>
                      </a:solidFill>
                      <a:prstDash val="solid"/>
                      <a:round/>
                      <a:headEnd type="none" w="med" len="med"/>
                      <a:tailEnd type="none" w="med" len="med"/>
                    </a:lnR>
                    <a:lnT cmpd="sng" algn="ctr" cap="flat" w="9525">
                      <a:solidFill>
                        <a:srgbClr val="C1C1C1"/>
                      </a:solidFill>
                      <a:prstDash val="solid"/>
                      <a:round/>
                      <a:headEnd type="none" w="med" len="med"/>
                      <a:tailEnd type="none" w="med" len="med"/>
                    </a:lnT>
                    <a:lnB cmpd="sng" algn="ctr" cap="flat" w="9525">
                      <a:solidFill>
                        <a:srgbClr val="C1C1C1"/>
                      </a:solidFill>
                      <a:prstDash val="solid"/>
                      <a:round/>
                      <a:headEnd type="none" w="med" len="med"/>
                      <a:tailEnd type="none" w="med" len="med"/>
                    </a:lnB>
                    <a:solidFill>
                      <a:srgbClr val="DCE4E3"/>
                    </a:solidFill>
                  </a:tcPr>
                </a:tc>
              </a:tr>
              <a:tr h="1221119">
                <a:tc>
                  <a:txBody>
                    <a:bodyPr anchor="t" rtlCol="false"/>
                    <a:lstStyle/>
                    <a:p>
                      <a:pPr algn="ctr">
                        <a:lnSpc>
                          <a:spcPts val="2729"/>
                        </a:lnSpc>
                        <a:defRPr/>
                      </a:pPr>
                      <a:r>
                        <a:rPr lang="en-US" b="true" sz="1950">
                          <a:solidFill>
                            <a:srgbClr val="333333"/>
                          </a:solidFill>
                          <a:latin typeface="JASO Sans Bold"/>
                          <a:ea typeface="JASO Sans Bold"/>
                          <a:cs typeface="JASO Sans Bold"/>
                          <a:sym typeface="JASO Sans Bold"/>
                        </a:rPr>
                        <a:t>계획 및 준비</a:t>
                      </a:r>
                      <a:endParaRPr lang="en-US" sz="1100"/>
                    </a:p>
                  </a:txBody>
                  <a:tcPr marL="190500" marR="190500" marT="190500" marB="190500" anchor="ctr">
                    <a:lnL cmpd="sng" algn="ctr" cap="flat" w="9525">
                      <a:solidFill>
                        <a:srgbClr val="C1C1C1"/>
                      </a:solidFill>
                      <a:prstDash val="solid"/>
                      <a:round/>
                      <a:headEnd type="none" w="med" len="med"/>
                      <a:tailEnd type="none" w="med" len="med"/>
                    </a:lnL>
                    <a:lnR cmpd="sng" algn="ctr" cap="flat" w="9525">
                      <a:solidFill>
                        <a:srgbClr val="C1C1C1"/>
                      </a:solidFill>
                      <a:prstDash val="solid"/>
                      <a:round/>
                      <a:headEnd type="none" w="med" len="med"/>
                      <a:tailEnd type="none" w="med" len="med"/>
                    </a:lnR>
                    <a:lnT cmpd="sng" algn="ctr" cap="flat" w="9525">
                      <a:solidFill>
                        <a:srgbClr val="C1C1C1"/>
                      </a:solidFill>
                      <a:prstDash val="solid"/>
                      <a:round/>
                      <a:headEnd type="none" w="med" len="med"/>
                      <a:tailEnd type="none" w="med" len="med"/>
                    </a:lnT>
                    <a:lnB cmpd="sng" algn="ctr" cap="flat" w="9525">
                      <a:solidFill>
                        <a:srgbClr val="C1C1C1"/>
                      </a:solidFill>
                      <a:prstDash val="solid"/>
                      <a:round/>
                      <a:headEnd type="none" w="med" len="med"/>
                      <a:tailEnd type="none" w="med" len="med"/>
                    </a:lnB>
                    <a:solidFill>
                      <a:srgbClr val="F1F1F1"/>
                    </a:solidFill>
                  </a:tcPr>
                </a:tc>
                <a:tc>
                  <a:txBody>
                    <a:bodyPr anchor="t" rtlCol="false"/>
                    <a:lstStyle/>
                    <a:p>
                      <a:pPr algn="ctr">
                        <a:lnSpc>
                          <a:spcPts val="2729"/>
                        </a:lnSpc>
                        <a:defRPr/>
                      </a:pPr>
                      <a:r>
                        <a:rPr lang="en-US" sz="1950">
                          <a:solidFill>
                            <a:srgbClr val="333333"/>
                          </a:solidFill>
                          <a:latin typeface="JASO Sans"/>
                          <a:ea typeface="JASO Sans"/>
                          <a:cs typeface="JASO Sans"/>
                          <a:sym typeface="JASO Sans"/>
                        </a:rPr>
                        <a:t>2주</a:t>
                      </a:r>
                      <a:endParaRPr lang="en-US" sz="1100"/>
                    </a:p>
                  </a:txBody>
                  <a:tcPr marL="190500" marR="190500" marT="190500" marB="190500" anchor="ctr">
                    <a:lnL cmpd="sng" algn="ctr" cap="flat" w="9525">
                      <a:solidFill>
                        <a:srgbClr val="C1C1C1"/>
                      </a:solidFill>
                      <a:prstDash val="solid"/>
                      <a:round/>
                      <a:headEnd type="none" w="med" len="med"/>
                      <a:tailEnd type="none" w="med" len="med"/>
                    </a:lnL>
                    <a:lnR cmpd="sng" algn="ctr" cap="flat" w="9525">
                      <a:solidFill>
                        <a:srgbClr val="C1C1C1"/>
                      </a:solidFill>
                      <a:prstDash val="solid"/>
                      <a:round/>
                      <a:headEnd type="none" w="med" len="med"/>
                      <a:tailEnd type="none" w="med" len="med"/>
                    </a:lnR>
                    <a:lnT cmpd="sng" algn="ctr" cap="flat" w="9525">
                      <a:solidFill>
                        <a:srgbClr val="C1C1C1"/>
                      </a:solidFill>
                      <a:prstDash val="solid"/>
                      <a:round/>
                      <a:headEnd type="none" w="med" len="med"/>
                      <a:tailEnd type="none" w="med" len="med"/>
                    </a:lnT>
                    <a:lnB cmpd="sng" algn="ctr" cap="flat" w="9525">
                      <a:solidFill>
                        <a:srgbClr val="C1C1C1"/>
                      </a:solidFill>
                      <a:prstDash val="solid"/>
                      <a:round/>
                      <a:headEnd type="none" w="med" len="med"/>
                      <a:tailEnd type="none" w="med" len="med"/>
                    </a:lnB>
                  </a:tcPr>
                </a:tc>
                <a:tc>
                  <a:txBody>
                    <a:bodyPr anchor="t" rtlCol="false"/>
                    <a:lstStyle/>
                    <a:p>
                      <a:pPr algn="l">
                        <a:lnSpc>
                          <a:spcPts val="2729"/>
                        </a:lnSpc>
                        <a:defRPr/>
                      </a:pPr>
                      <a:r>
                        <a:rPr lang="en-US" sz="1950">
                          <a:solidFill>
                            <a:srgbClr val="333333"/>
                          </a:solidFill>
                          <a:latin typeface="JASO Sans"/>
                          <a:ea typeface="JASO Sans"/>
                          <a:cs typeface="JASO Sans"/>
                          <a:sym typeface="JASO Sans"/>
                        </a:rPr>
                        <a:t>프로젝트의 전반적인 계획과 준비 작업을 수행하는 단계입니다. </a:t>
                      </a:r>
                      <a:endParaRPr lang="en-US" sz="1100"/>
                    </a:p>
                  </a:txBody>
                  <a:tcPr marL="190500" marR="190500" marT="190500" marB="190500" anchor="ctr">
                    <a:lnL cmpd="sng" algn="ctr" cap="flat" w="9525">
                      <a:solidFill>
                        <a:srgbClr val="C1C1C1"/>
                      </a:solidFill>
                      <a:prstDash val="solid"/>
                      <a:round/>
                      <a:headEnd type="none" w="med" len="med"/>
                      <a:tailEnd type="none" w="med" len="med"/>
                    </a:lnL>
                    <a:lnR cmpd="sng" algn="ctr" cap="flat" w="9525">
                      <a:solidFill>
                        <a:srgbClr val="C1C1C1"/>
                      </a:solidFill>
                      <a:prstDash val="solid"/>
                      <a:round/>
                      <a:headEnd type="none" w="med" len="med"/>
                      <a:tailEnd type="none" w="med" len="med"/>
                    </a:lnR>
                    <a:lnT cmpd="sng" algn="ctr" cap="flat" w="9525">
                      <a:solidFill>
                        <a:srgbClr val="C1C1C1"/>
                      </a:solidFill>
                      <a:prstDash val="solid"/>
                      <a:round/>
                      <a:headEnd type="none" w="med" len="med"/>
                      <a:tailEnd type="none" w="med" len="med"/>
                    </a:lnT>
                    <a:lnB cmpd="sng" algn="ctr" cap="flat" w="9525">
                      <a:solidFill>
                        <a:srgbClr val="C1C1C1"/>
                      </a:solidFill>
                      <a:prstDash val="solid"/>
                      <a:round/>
                      <a:headEnd type="none" w="med" len="med"/>
                      <a:tailEnd type="none" w="med" len="med"/>
                    </a:lnB>
                  </a:tcPr>
                </a:tc>
              </a:tr>
              <a:tr h="902997">
                <a:tc>
                  <a:txBody>
                    <a:bodyPr anchor="t" rtlCol="false"/>
                    <a:lstStyle/>
                    <a:p>
                      <a:pPr algn="ctr">
                        <a:lnSpc>
                          <a:spcPts val="2729"/>
                        </a:lnSpc>
                        <a:defRPr/>
                      </a:pPr>
                      <a:r>
                        <a:rPr lang="en-US" b="true" sz="1950">
                          <a:solidFill>
                            <a:srgbClr val="333333"/>
                          </a:solidFill>
                          <a:latin typeface="JASO Sans Bold"/>
                          <a:ea typeface="JASO Sans Bold"/>
                          <a:cs typeface="JASO Sans Bold"/>
                          <a:sym typeface="JASO Sans Bold"/>
                        </a:rPr>
                        <a:t>콘텐츠 개발 및 디자인</a:t>
                      </a:r>
                      <a:endParaRPr lang="en-US" sz="1100"/>
                    </a:p>
                  </a:txBody>
                  <a:tcPr marL="190500" marR="190500" marT="190500" marB="190500" anchor="ctr">
                    <a:lnL cmpd="sng" algn="ctr" cap="flat" w="9525">
                      <a:solidFill>
                        <a:srgbClr val="C1C1C1"/>
                      </a:solidFill>
                      <a:prstDash val="solid"/>
                      <a:round/>
                      <a:headEnd type="none" w="med" len="med"/>
                      <a:tailEnd type="none" w="med" len="med"/>
                    </a:lnL>
                    <a:lnR cmpd="sng" algn="ctr" cap="flat" w="9525">
                      <a:solidFill>
                        <a:srgbClr val="C1C1C1"/>
                      </a:solidFill>
                      <a:prstDash val="solid"/>
                      <a:round/>
                      <a:headEnd type="none" w="med" len="med"/>
                      <a:tailEnd type="none" w="med" len="med"/>
                    </a:lnR>
                    <a:lnT cmpd="sng" algn="ctr" cap="flat" w="9525">
                      <a:solidFill>
                        <a:srgbClr val="C1C1C1"/>
                      </a:solidFill>
                      <a:prstDash val="solid"/>
                      <a:round/>
                      <a:headEnd type="none" w="med" len="med"/>
                      <a:tailEnd type="none" w="med" len="med"/>
                    </a:lnT>
                    <a:lnB cmpd="sng" algn="ctr" cap="flat" w="9525">
                      <a:solidFill>
                        <a:srgbClr val="C1C1C1"/>
                      </a:solidFill>
                      <a:prstDash val="solid"/>
                      <a:round/>
                      <a:headEnd type="none" w="med" len="med"/>
                      <a:tailEnd type="none" w="med" len="med"/>
                    </a:lnB>
                    <a:solidFill>
                      <a:srgbClr val="F1F1F1"/>
                    </a:solidFill>
                  </a:tcPr>
                </a:tc>
                <a:tc>
                  <a:txBody>
                    <a:bodyPr anchor="t" rtlCol="false"/>
                    <a:lstStyle/>
                    <a:p>
                      <a:pPr algn="ctr">
                        <a:lnSpc>
                          <a:spcPts val="2729"/>
                        </a:lnSpc>
                        <a:defRPr/>
                      </a:pPr>
                      <a:r>
                        <a:rPr lang="en-US" sz="1950">
                          <a:solidFill>
                            <a:srgbClr val="333333"/>
                          </a:solidFill>
                          <a:latin typeface="JASO Sans"/>
                          <a:ea typeface="JASO Sans"/>
                          <a:cs typeface="JASO Sans"/>
                          <a:sym typeface="JASO Sans"/>
                        </a:rPr>
                        <a:t>4주</a:t>
                      </a:r>
                      <a:endParaRPr lang="en-US" sz="1100"/>
                    </a:p>
                  </a:txBody>
                  <a:tcPr marL="190500" marR="190500" marT="190500" marB="190500" anchor="ctr">
                    <a:lnL cmpd="sng" algn="ctr" cap="flat" w="9525">
                      <a:solidFill>
                        <a:srgbClr val="C1C1C1"/>
                      </a:solidFill>
                      <a:prstDash val="solid"/>
                      <a:round/>
                      <a:headEnd type="none" w="med" len="med"/>
                      <a:tailEnd type="none" w="med" len="med"/>
                    </a:lnL>
                    <a:lnR cmpd="sng" algn="ctr" cap="flat" w="9525">
                      <a:solidFill>
                        <a:srgbClr val="C1C1C1"/>
                      </a:solidFill>
                      <a:prstDash val="solid"/>
                      <a:round/>
                      <a:headEnd type="none" w="med" len="med"/>
                      <a:tailEnd type="none" w="med" len="med"/>
                    </a:lnR>
                    <a:lnT cmpd="sng" algn="ctr" cap="flat" w="9525">
                      <a:solidFill>
                        <a:srgbClr val="C1C1C1"/>
                      </a:solidFill>
                      <a:prstDash val="solid"/>
                      <a:round/>
                      <a:headEnd type="none" w="med" len="med"/>
                      <a:tailEnd type="none" w="med" len="med"/>
                    </a:lnT>
                    <a:lnB cmpd="sng" algn="ctr" cap="flat" w="9525">
                      <a:solidFill>
                        <a:srgbClr val="C1C1C1"/>
                      </a:solidFill>
                      <a:prstDash val="solid"/>
                      <a:round/>
                      <a:headEnd type="none" w="med" len="med"/>
                      <a:tailEnd type="none" w="med" len="med"/>
                    </a:lnB>
                  </a:tcPr>
                </a:tc>
                <a:tc>
                  <a:txBody>
                    <a:bodyPr anchor="t" rtlCol="false"/>
                    <a:lstStyle/>
                    <a:p>
                      <a:pPr algn="l">
                        <a:lnSpc>
                          <a:spcPts val="2729"/>
                        </a:lnSpc>
                        <a:defRPr/>
                      </a:pPr>
                      <a:r>
                        <a:rPr lang="en-US" sz="1950">
                          <a:solidFill>
                            <a:srgbClr val="333333"/>
                          </a:solidFill>
                          <a:latin typeface="JASO Sans"/>
                          <a:ea typeface="JASO Sans"/>
                          <a:cs typeface="JASO Sans"/>
                          <a:sym typeface="JASO Sans"/>
                        </a:rPr>
                        <a:t>광고 카피 작성, 그래픽 디자인, 동영상 제작, 웹사이트 및 랜딩 페이지 개발 등이 포함됩니다. </a:t>
                      </a:r>
                      <a:endParaRPr lang="en-US" sz="1100"/>
                    </a:p>
                  </a:txBody>
                  <a:tcPr marL="190500" marR="190500" marT="190500" marB="190500" anchor="ctr">
                    <a:lnL cmpd="sng" algn="ctr" cap="flat" w="9525">
                      <a:solidFill>
                        <a:srgbClr val="C1C1C1"/>
                      </a:solidFill>
                      <a:prstDash val="solid"/>
                      <a:round/>
                      <a:headEnd type="none" w="med" len="med"/>
                      <a:tailEnd type="none" w="med" len="med"/>
                    </a:lnL>
                    <a:lnR cmpd="sng" algn="ctr" cap="flat" w="9525">
                      <a:solidFill>
                        <a:srgbClr val="C1C1C1"/>
                      </a:solidFill>
                      <a:prstDash val="solid"/>
                      <a:round/>
                      <a:headEnd type="none" w="med" len="med"/>
                      <a:tailEnd type="none" w="med" len="med"/>
                    </a:lnR>
                    <a:lnT cmpd="sng" algn="ctr" cap="flat" w="9525">
                      <a:solidFill>
                        <a:srgbClr val="C1C1C1"/>
                      </a:solidFill>
                      <a:prstDash val="solid"/>
                      <a:round/>
                      <a:headEnd type="none" w="med" len="med"/>
                      <a:tailEnd type="none" w="med" len="med"/>
                    </a:lnT>
                    <a:lnB cmpd="sng" algn="ctr" cap="flat" w="9525">
                      <a:solidFill>
                        <a:srgbClr val="C1C1C1"/>
                      </a:solidFill>
                      <a:prstDash val="solid"/>
                      <a:round/>
                      <a:headEnd type="none" w="med" len="med"/>
                      <a:tailEnd type="none" w="med" len="med"/>
                    </a:lnB>
                  </a:tcPr>
                </a:tc>
              </a:tr>
              <a:tr h="1246471">
                <a:tc>
                  <a:txBody>
                    <a:bodyPr anchor="t" rtlCol="false"/>
                    <a:lstStyle/>
                    <a:p>
                      <a:pPr algn="ctr">
                        <a:lnSpc>
                          <a:spcPts val="2729"/>
                        </a:lnSpc>
                        <a:defRPr/>
                      </a:pPr>
                      <a:r>
                        <a:rPr lang="en-US" b="true" sz="1950">
                          <a:solidFill>
                            <a:srgbClr val="333333"/>
                          </a:solidFill>
                          <a:latin typeface="JASO Sans Bold"/>
                          <a:ea typeface="JASO Sans Bold"/>
                          <a:cs typeface="JASO Sans Bold"/>
                          <a:sym typeface="JASO Sans Bold"/>
                        </a:rPr>
                        <a:t>실행 및 배포</a:t>
                      </a:r>
                      <a:endParaRPr lang="en-US" sz="1100"/>
                    </a:p>
                  </a:txBody>
                  <a:tcPr marL="190500" marR="190500" marT="190500" marB="190500" anchor="ctr">
                    <a:lnL cmpd="sng" algn="ctr" cap="flat" w="9525">
                      <a:solidFill>
                        <a:srgbClr val="C1C1C1"/>
                      </a:solidFill>
                      <a:prstDash val="solid"/>
                      <a:round/>
                      <a:headEnd type="none" w="med" len="med"/>
                      <a:tailEnd type="none" w="med" len="med"/>
                    </a:lnL>
                    <a:lnR cmpd="sng" algn="ctr" cap="flat" w="9525">
                      <a:solidFill>
                        <a:srgbClr val="C1C1C1"/>
                      </a:solidFill>
                      <a:prstDash val="solid"/>
                      <a:round/>
                      <a:headEnd type="none" w="med" len="med"/>
                      <a:tailEnd type="none" w="med" len="med"/>
                    </a:lnR>
                    <a:lnT cmpd="sng" algn="ctr" cap="flat" w="9525">
                      <a:solidFill>
                        <a:srgbClr val="C1C1C1"/>
                      </a:solidFill>
                      <a:prstDash val="solid"/>
                      <a:round/>
                      <a:headEnd type="none" w="med" len="med"/>
                      <a:tailEnd type="none" w="med" len="med"/>
                    </a:lnT>
                    <a:lnB cmpd="sng" algn="ctr" cap="flat" w="9525">
                      <a:solidFill>
                        <a:srgbClr val="C1C1C1"/>
                      </a:solidFill>
                      <a:prstDash val="solid"/>
                      <a:round/>
                      <a:headEnd type="none" w="med" len="med"/>
                      <a:tailEnd type="none" w="med" len="med"/>
                    </a:lnB>
                    <a:solidFill>
                      <a:srgbClr val="F1F1F1"/>
                    </a:solidFill>
                  </a:tcPr>
                </a:tc>
                <a:tc>
                  <a:txBody>
                    <a:bodyPr anchor="t" rtlCol="false"/>
                    <a:lstStyle/>
                    <a:p>
                      <a:pPr algn="ctr">
                        <a:lnSpc>
                          <a:spcPts val="2729"/>
                        </a:lnSpc>
                        <a:defRPr/>
                      </a:pPr>
                      <a:r>
                        <a:rPr lang="en-US" sz="1950">
                          <a:solidFill>
                            <a:srgbClr val="333333"/>
                          </a:solidFill>
                          <a:latin typeface="JASO Sans"/>
                          <a:ea typeface="JASO Sans"/>
                          <a:cs typeface="JASO Sans"/>
                          <a:sym typeface="JASO Sans"/>
                        </a:rPr>
                        <a:t>3주</a:t>
                      </a:r>
                      <a:endParaRPr lang="en-US" sz="1100"/>
                    </a:p>
                  </a:txBody>
                  <a:tcPr marL="190500" marR="190500" marT="190500" marB="190500" anchor="ctr">
                    <a:lnL cmpd="sng" algn="ctr" cap="flat" w="9525">
                      <a:solidFill>
                        <a:srgbClr val="C1C1C1"/>
                      </a:solidFill>
                      <a:prstDash val="solid"/>
                      <a:round/>
                      <a:headEnd type="none" w="med" len="med"/>
                      <a:tailEnd type="none" w="med" len="med"/>
                    </a:lnL>
                    <a:lnR cmpd="sng" algn="ctr" cap="flat" w="9525">
                      <a:solidFill>
                        <a:srgbClr val="C1C1C1"/>
                      </a:solidFill>
                      <a:prstDash val="solid"/>
                      <a:round/>
                      <a:headEnd type="none" w="med" len="med"/>
                      <a:tailEnd type="none" w="med" len="med"/>
                    </a:lnR>
                    <a:lnT cmpd="sng" algn="ctr" cap="flat" w="9525">
                      <a:solidFill>
                        <a:srgbClr val="C1C1C1"/>
                      </a:solidFill>
                      <a:prstDash val="solid"/>
                      <a:round/>
                      <a:headEnd type="none" w="med" len="med"/>
                      <a:tailEnd type="none" w="med" len="med"/>
                    </a:lnT>
                    <a:lnB cmpd="sng" algn="ctr" cap="flat" w="9525">
                      <a:solidFill>
                        <a:srgbClr val="C1C1C1"/>
                      </a:solidFill>
                      <a:prstDash val="solid"/>
                      <a:round/>
                      <a:headEnd type="none" w="med" len="med"/>
                      <a:tailEnd type="none" w="med" len="med"/>
                    </a:lnB>
                  </a:tcPr>
                </a:tc>
                <a:tc>
                  <a:txBody>
                    <a:bodyPr anchor="t" rtlCol="false"/>
                    <a:lstStyle/>
                    <a:p>
                      <a:pPr algn="l">
                        <a:lnSpc>
                          <a:spcPts val="2729"/>
                        </a:lnSpc>
                        <a:defRPr/>
                      </a:pPr>
                      <a:r>
                        <a:rPr lang="en-US" sz="1950">
                          <a:solidFill>
                            <a:srgbClr val="333333"/>
                          </a:solidFill>
                          <a:latin typeface="JASO Sans"/>
                          <a:ea typeface="JASO Sans"/>
                          <a:cs typeface="JASO Sans"/>
                          <a:sym typeface="JASO Sans"/>
                        </a:rPr>
                        <a:t>타겟 고객에게 도달할 수 있도록 다양한 마케팅 툴과 플랫폼을 활용하며, 실시간으로 </a:t>
                      </a:r>
                      <a:endParaRPr lang="en-US" sz="1100"/>
                    </a:p>
                    <a:p>
                      <a:pPr algn="l">
                        <a:lnSpc>
                          <a:spcPts val="2729"/>
                        </a:lnSpc>
                      </a:pPr>
                      <a:r>
                        <a:rPr lang="en-US" sz="1950">
                          <a:solidFill>
                            <a:srgbClr val="333333"/>
                          </a:solidFill>
                          <a:latin typeface="JASO Sans"/>
                          <a:ea typeface="JASO Sans"/>
                          <a:cs typeface="JASO Sans"/>
                          <a:sym typeface="JASO Sans"/>
                        </a:rPr>
                        <a:t>성과를 모니터링하고 필요할 경우 즉각적인 수정 작업을 진행합니다.</a:t>
                      </a:r>
                    </a:p>
                  </a:txBody>
                  <a:tcPr marL="190500" marR="190500" marT="190500" marB="190500" anchor="ctr">
                    <a:lnL cmpd="sng" algn="ctr" cap="flat" w="9525">
                      <a:solidFill>
                        <a:srgbClr val="C1C1C1"/>
                      </a:solidFill>
                      <a:prstDash val="solid"/>
                      <a:round/>
                      <a:headEnd type="none" w="med" len="med"/>
                      <a:tailEnd type="none" w="med" len="med"/>
                    </a:lnL>
                    <a:lnR cmpd="sng" algn="ctr" cap="flat" w="9525">
                      <a:solidFill>
                        <a:srgbClr val="C1C1C1"/>
                      </a:solidFill>
                      <a:prstDash val="solid"/>
                      <a:round/>
                      <a:headEnd type="none" w="med" len="med"/>
                      <a:tailEnd type="none" w="med" len="med"/>
                    </a:lnR>
                    <a:lnT cmpd="sng" algn="ctr" cap="flat" w="9525">
                      <a:solidFill>
                        <a:srgbClr val="C1C1C1"/>
                      </a:solidFill>
                      <a:prstDash val="solid"/>
                      <a:round/>
                      <a:headEnd type="none" w="med" len="med"/>
                      <a:tailEnd type="none" w="med" len="med"/>
                    </a:lnT>
                    <a:lnB cmpd="sng" algn="ctr" cap="flat" w="9525">
                      <a:solidFill>
                        <a:srgbClr val="C1C1C1"/>
                      </a:solidFill>
                      <a:prstDash val="solid"/>
                      <a:round/>
                      <a:headEnd type="none" w="med" len="med"/>
                      <a:tailEnd type="none" w="med" len="med"/>
                    </a:lnB>
                  </a:tcPr>
                </a:tc>
              </a:tr>
              <a:tr h="1431236">
                <a:tc>
                  <a:txBody>
                    <a:bodyPr anchor="t" rtlCol="false"/>
                    <a:lstStyle/>
                    <a:p>
                      <a:pPr algn="ctr">
                        <a:lnSpc>
                          <a:spcPts val="2729"/>
                        </a:lnSpc>
                        <a:defRPr/>
                      </a:pPr>
                      <a:r>
                        <a:rPr lang="en-US" b="true" sz="1950">
                          <a:solidFill>
                            <a:srgbClr val="333333"/>
                          </a:solidFill>
                          <a:latin typeface="JASO Sans Bold"/>
                          <a:ea typeface="JASO Sans Bold"/>
                          <a:cs typeface="JASO Sans Bold"/>
                          <a:sym typeface="JASO Sans Bold"/>
                        </a:rPr>
                        <a:t>평가 및 피드백</a:t>
                      </a:r>
                      <a:endParaRPr lang="en-US" sz="1100"/>
                    </a:p>
                  </a:txBody>
                  <a:tcPr marL="190500" marR="190500" marT="190500" marB="190500" anchor="ctr">
                    <a:lnL cmpd="sng" algn="ctr" cap="flat" w="9525">
                      <a:solidFill>
                        <a:srgbClr val="C1C1C1"/>
                      </a:solidFill>
                      <a:prstDash val="solid"/>
                      <a:round/>
                      <a:headEnd type="none" w="med" len="med"/>
                      <a:tailEnd type="none" w="med" len="med"/>
                    </a:lnL>
                    <a:lnR cmpd="sng" algn="ctr" cap="flat" w="9525">
                      <a:solidFill>
                        <a:srgbClr val="C1C1C1"/>
                      </a:solidFill>
                      <a:prstDash val="solid"/>
                      <a:round/>
                      <a:headEnd type="none" w="med" len="med"/>
                      <a:tailEnd type="none" w="med" len="med"/>
                    </a:lnR>
                    <a:lnT cmpd="sng" algn="ctr" cap="flat" w="9525">
                      <a:solidFill>
                        <a:srgbClr val="C1C1C1"/>
                      </a:solidFill>
                      <a:prstDash val="solid"/>
                      <a:round/>
                      <a:headEnd type="none" w="med" len="med"/>
                      <a:tailEnd type="none" w="med" len="med"/>
                    </a:lnT>
                    <a:lnB cmpd="sng" algn="ctr" cap="flat" w="9525">
                      <a:solidFill>
                        <a:srgbClr val="C1C1C1"/>
                      </a:solidFill>
                      <a:prstDash val="solid"/>
                      <a:round/>
                      <a:headEnd type="none" w="med" len="med"/>
                      <a:tailEnd type="none" w="med" len="med"/>
                    </a:lnB>
                    <a:solidFill>
                      <a:srgbClr val="F1F1F1"/>
                    </a:solidFill>
                  </a:tcPr>
                </a:tc>
                <a:tc>
                  <a:txBody>
                    <a:bodyPr anchor="t" rtlCol="false"/>
                    <a:lstStyle/>
                    <a:p>
                      <a:pPr algn="ctr">
                        <a:lnSpc>
                          <a:spcPts val="2729"/>
                        </a:lnSpc>
                        <a:defRPr/>
                      </a:pPr>
                      <a:r>
                        <a:rPr lang="en-US" sz="1950">
                          <a:solidFill>
                            <a:srgbClr val="333333"/>
                          </a:solidFill>
                          <a:latin typeface="JASO Sans"/>
                          <a:ea typeface="JASO Sans"/>
                          <a:cs typeface="JASO Sans"/>
                          <a:sym typeface="JASO Sans"/>
                        </a:rPr>
                        <a:t>2주</a:t>
                      </a:r>
                      <a:endParaRPr lang="en-US" sz="1100"/>
                    </a:p>
                  </a:txBody>
                  <a:tcPr marL="190500" marR="190500" marT="190500" marB="190500" anchor="ctr">
                    <a:lnL cmpd="sng" algn="ctr" cap="flat" w="9525">
                      <a:solidFill>
                        <a:srgbClr val="C1C1C1"/>
                      </a:solidFill>
                      <a:prstDash val="solid"/>
                      <a:round/>
                      <a:headEnd type="none" w="med" len="med"/>
                      <a:tailEnd type="none" w="med" len="med"/>
                    </a:lnL>
                    <a:lnR cmpd="sng" algn="ctr" cap="flat" w="9525">
                      <a:solidFill>
                        <a:srgbClr val="C1C1C1"/>
                      </a:solidFill>
                      <a:prstDash val="solid"/>
                      <a:round/>
                      <a:headEnd type="none" w="med" len="med"/>
                      <a:tailEnd type="none" w="med" len="med"/>
                    </a:lnR>
                    <a:lnT cmpd="sng" algn="ctr" cap="flat" w="9525">
                      <a:solidFill>
                        <a:srgbClr val="C1C1C1"/>
                      </a:solidFill>
                      <a:prstDash val="solid"/>
                      <a:round/>
                      <a:headEnd type="none" w="med" len="med"/>
                      <a:tailEnd type="none" w="med" len="med"/>
                    </a:lnT>
                    <a:lnB cmpd="sng" algn="ctr" cap="flat" w="9525">
                      <a:solidFill>
                        <a:srgbClr val="C1C1C1"/>
                      </a:solidFill>
                      <a:prstDash val="solid"/>
                      <a:round/>
                      <a:headEnd type="none" w="med" len="med"/>
                      <a:tailEnd type="none" w="med" len="med"/>
                    </a:lnB>
                  </a:tcPr>
                </a:tc>
                <a:tc>
                  <a:txBody>
                    <a:bodyPr anchor="t" rtlCol="false"/>
                    <a:lstStyle/>
                    <a:p>
                      <a:pPr algn="l">
                        <a:lnSpc>
                          <a:spcPts val="2729"/>
                        </a:lnSpc>
                        <a:defRPr/>
                      </a:pPr>
                      <a:r>
                        <a:rPr lang="en-US" sz="1950">
                          <a:solidFill>
                            <a:srgbClr val="333333"/>
                          </a:solidFill>
                          <a:latin typeface="JASO Sans"/>
                          <a:ea typeface="JASO Sans"/>
                          <a:cs typeface="JASO Sans"/>
                          <a:sym typeface="JASO Sans"/>
                        </a:rPr>
                        <a:t>KPI(핵심 성과 지표)를 분석하고, 캠페인의 성공 여부를 판단합니다. 또한, 팀원들과의 </a:t>
                      </a:r>
                      <a:endParaRPr lang="en-US" sz="1100"/>
                    </a:p>
                    <a:p>
                      <a:pPr algn="l">
                        <a:lnSpc>
                          <a:spcPts val="2729"/>
                        </a:lnSpc>
                      </a:pPr>
                      <a:r>
                        <a:rPr lang="en-US" sz="1950">
                          <a:solidFill>
                            <a:srgbClr val="333333"/>
                          </a:solidFill>
                          <a:latin typeface="JASO Sans"/>
                          <a:ea typeface="JASO Sans"/>
                          <a:cs typeface="JASO Sans"/>
                          <a:sym typeface="JASO Sans"/>
                        </a:rPr>
                        <a:t>회고 미팅을 통해 무엇이 잘 되었고, 어떤 부분이 개선되어야 하는지 논의합니다. </a:t>
                      </a:r>
                    </a:p>
                  </a:txBody>
                  <a:tcPr marL="190500" marR="190500" marT="190500" marB="190500" anchor="ctr">
                    <a:lnL cmpd="sng" algn="ctr" cap="flat" w="9525">
                      <a:solidFill>
                        <a:srgbClr val="C1C1C1"/>
                      </a:solidFill>
                      <a:prstDash val="solid"/>
                      <a:round/>
                      <a:headEnd type="none" w="med" len="med"/>
                      <a:tailEnd type="none" w="med" len="med"/>
                    </a:lnL>
                    <a:lnR cmpd="sng" algn="ctr" cap="flat" w="9525">
                      <a:solidFill>
                        <a:srgbClr val="C1C1C1"/>
                      </a:solidFill>
                      <a:prstDash val="solid"/>
                      <a:round/>
                      <a:headEnd type="none" w="med" len="med"/>
                      <a:tailEnd type="none" w="med" len="med"/>
                    </a:lnR>
                    <a:lnT cmpd="sng" algn="ctr" cap="flat" w="9525">
                      <a:solidFill>
                        <a:srgbClr val="C1C1C1"/>
                      </a:solidFill>
                      <a:prstDash val="solid"/>
                      <a:round/>
                      <a:headEnd type="none" w="med" len="med"/>
                      <a:tailEnd type="none" w="med" len="med"/>
                    </a:lnT>
                    <a:lnB cmpd="sng" algn="ctr" cap="flat" w="9525">
                      <a:solidFill>
                        <a:srgbClr val="C1C1C1"/>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1416"/>
            <a:chOff x="0" y="0"/>
            <a:chExt cx="3762963" cy="37328"/>
          </a:xfrm>
        </p:grpSpPr>
        <p:sp>
          <p:nvSpPr>
            <p:cNvPr name="Freeform 3" id="3"/>
            <p:cNvSpPr/>
            <p:nvPr/>
          </p:nvSpPr>
          <p:spPr>
            <a:xfrm flipH="false" flipV="false" rot="0">
              <a:off x="0" y="0"/>
              <a:ext cx="3762963" cy="37328"/>
            </a:xfrm>
            <a:custGeom>
              <a:avLst/>
              <a:gdLst/>
              <a:ahLst/>
              <a:cxnLst/>
              <a:rect r="r" b="b" t="t" l="l"/>
              <a:pathLst>
                <a:path h="37328" w="3762963">
                  <a:moveTo>
                    <a:pt x="0" y="0"/>
                  </a:moveTo>
                  <a:lnTo>
                    <a:pt x="3762963" y="0"/>
                  </a:lnTo>
                  <a:lnTo>
                    <a:pt x="3762963" y="37328"/>
                  </a:lnTo>
                  <a:lnTo>
                    <a:pt x="0" y="37328"/>
                  </a:lnTo>
                  <a:close/>
                </a:path>
              </a:pathLst>
            </a:custGeom>
            <a:solidFill>
              <a:srgbClr val="416F6C"/>
            </a:solidFill>
          </p:spPr>
        </p:sp>
        <p:sp>
          <p:nvSpPr>
            <p:cNvPr name="TextBox 4" id="4"/>
            <p:cNvSpPr txBox="true"/>
            <p:nvPr/>
          </p:nvSpPr>
          <p:spPr>
            <a:xfrm>
              <a:off x="0" y="-57150"/>
              <a:ext cx="3762963" cy="94478"/>
            </a:xfrm>
            <a:prstGeom prst="rect">
              <a:avLst/>
            </a:prstGeom>
          </p:spPr>
          <p:txBody>
            <a:bodyPr anchor="ctr" rtlCol="false" tIns="50800" lIns="50800" bIns="50800" rIns="50800"/>
            <a:lstStyle/>
            <a:p>
              <a:pPr algn="ctr">
                <a:lnSpc>
                  <a:spcPts val="2541"/>
                </a:lnSpc>
              </a:pPr>
            </a:p>
          </p:txBody>
        </p:sp>
      </p:grpSp>
      <p:sp>
        <p:nvSpPr>
          <p:cNvPr name="AutoShape 5" id="5"/>
          <p:cNvSpPr/>
          <p:nvPr/>
        </p:nvSpPr>
        <p:spPr>
          <a:xfrm>
            <a:off x="844732" y="2064885"/>
            <a:ext cx="16598535" cy="0"/>
          </a:xfrm>
          <a:prstGeom prst="line">
            <a:avLst/>
          </a:prstGeom>
          <a:ln cap="flat" w="9525">
            <a:solidFill>
              <a:srgbClr val="416F6C"/>
            </a:solidFill>
            <a:prstDash val="solid"/>
            <a:headEnd type="none" len="sm" w="sm"/>
            <a:tailEnd type="none" len="sm" w="sm"/>
          </a:ln>
        </p:spPr>
      </p:sp>
      <p:sp>
        <p:nvSpPr>
          <p:cNvPr name="TextBox 6" id="6"/>
          <p:cNvSpPr txBox="true"/>
          <p:nvPr/>
        </p:nvSpPr>
        <p:spPr>
          <a:xfrm rot="0">
            <a:off x="1601101" y="917525"/>
            <a:ext cx="9792550" cy="733022"/>
          </a:xfrm>
          <a:prstGeom prst="rect">
            <a:avLst/>
          </a:prstGeom>
        </p:spPr>
        <p:txBody>
          <a:bodyPr anchor="t" rtlCol="false" tIns="0" lIns="0" bIns="0" rIns="0">
            <a:spAutoFit/>
          </a:bodyPr>
          <a:lstStyle/>
          <a:p>
            <a:pPr algn="l" marL="0" indent="0" lvl="0">
              <a:lnSpc>
                <a:spcPts val="5508"/>
              </a:lnSpc>
            </a:pPr>
            <a:r>
              <a:rPr lang="en-US" b="true" sz="5400" spc="-108">
                <a:solidFill>
                  <a:srgbClr val="333333"/>
                </a:solidFill>
                <a:latin typeface="JASO Sans Bold"/>
                <a:ea typeface="JASO Sans Bold"/>
                <a:cs typeface="JASO Sans Bold"/>
                <a:sym typeface="JASO Sans Bold"/>
              </a:rPr>
              <a:t>ROI 최적화 세부 과정</a:t>
            </a:r>
          </a:p>
        </p:txBody>
      </p:sp>
      <p:sp>
        <p:nvSpPr>
          <p:cNvPr name="TextBox 7" id="7"/>
          <p:cNvSpPr txBox="true"/>
          <p:nvPr/>
        </p:nvSpPr>
        <p:spPr>
          <a:xfrm rot="0">
            <a:off x="7681697" y="1328115"/>
            <a:ext cx="4543751" cy="228644"/>
          </a:xfrm>
          <a:prstGeom prst="rect">
            <a:avLst/>
          </a:prstGeom>
        </p:spPr>
        <p:txBody>
          <a:bodyPr anchor="t" rtlCol="false" tIns="0" lIns="0" bIns="0" rIns="0">
            <a:spAutoFit/>
          </a:bodyPr>
          <a:lstStyle/>
          <a:p>
            <a:pPr algn="l">
              <a:lnSpc>
                <a:spcPts val="1800"/>
              </a:lnSpc>
            </a:pPr>
            <a:r>
              <a:rPr lang="en-US" sz="1500" spc="-30">
                <a:solidFill>
                  <a:srgbClr val="333333">
                    <a:alpha val="32941"/>
                  </a:srgbClr>
                </a:solidFill>
                <a:latin typeface="JASO Sans"/>
                <a:ea typeface="JASO Sans"/>
                <a:cs typeface="JASO Sans"/>
                <a:sym typeface="JASO Sans"/>
              </a:rPr>
              <a:t>메인타이틀에 대한 세부 설명을 입력해 주세요.</a:t>
            </a:r>
          </a:p>
        </p:txBody>
      </p:sp>
      <p:sp>
        <p:nvSpPr>
          <p:cNvPr name="Freeform 8" id="8"/>
          <p:cNvSpPr/>
          <p:nvPr/>
        </p:nvSpPr>
        <p:spPr>
          <a:xfrm flipH="false" flipV="false" rot="0">
            <a:off x="1028700" y="1059829"/>
            <a:ext cx="362690" cy="362690"/>
          </a:xfrm>
          <a:custGeom>
            <a:avLst/>
            <a:gdLst/>
            <a:ahLst/>
            <a:cxnLst/>
            <a:rect r="r" b="b" t="t" l="l"/>
            <a:pathLst>
              <a:path h="362690" w="362690">
                <a:moveTo>
                  <a:pt x="0" y="0"/>
                </a:moveTo>
                <a:lnTo>
                  <a:pt x="362690" y="0"/>
                </a:lnTo>
                <a:lnTo>
                  <a:pt x="362690" y="362690"/>
                </a:lnTo>
                <a:lnTo>
                  <a:pt x="0" y="362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9" id="9"/>
          <p:cNvSpPr/>
          <p:nvPr/>
        </p:nvSpPr>
        <p:spPr>
          <a:xfrm>
            <a:off x="1707771" y="5890009"/>
            <a:ext cx="14872457" cy="9525"/>
          </a:xfrm>
          <a:prstGeom prst="line">
            <a:avLst/>
          </a:prstGeom>
          <a:ln cap="flat" w="19050">
            <a:solidFill>
              <a:srgbClr val="D3D3D3"/>
            </a:solidFill>
            <a:prstDash val="solid"/>
            <a:headEnd type="none" len="sm" w="sm"/>
            <a:tailEnd type="none" len="sm" w="sm"/>
          </a:ln>
        </p:spPr>
      </p:sp>
      <p:sp>
        <p:nvSpPr>
          <p:cNvPr name="Freeform 10" id="10"/>
          <p:cNvSpPr/>
          <p:nvPr/>
        </p:nvSpPr>
        <p:spPr>
          <a:xfrm flipH="false" flipV="false" rot="0">
            <a:off x="2989302" y="5243583"/>
            <a:ext cx="1292852" cy="1292852"/>
          </a:xfrm>
          <a:custGeom>
            <a:avLst/>
            <a:gdLst/>
            <a:ahLst/>
            <a:cxnLst/>
            <a:rect r="r" b="b" t="t" l="l"/>
            <a:pathLst>
              <a:path h="1292852" w="1292852">
                <a:moveTo>
                  <a:pt x="0" y="0"/>
                </a:moveTo>
                <a:lnTo>
                  <a:pt x="1292852" y="0"/>
                </a:lnTo>
                <a:lnTo>
                  <a:pt x="1292852" y="1292852"/>
                </a:lnTo>
                <a:lnTo>
                  <a:pt x="0" y="12928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8493615" y="5243583"/>
            <a:ext cx="1292852" cy="1292852"/>
          </a:xfrm>
          <a:custGeom>
            <a:avLst/>
            <a:gdLst/>
            <a:ahLst/>
            <a:cxnLst/>
            <a:rect r="r" b="b" t="t" l="l"/>
            <a:pathLst>
              <a:path h="1292852" w="1292852">
                <a:moveTo>
                  <a:pt x="0" y="0"/>
                </a:moveTo>
                <a:lnTo>
                  <a:pt x="1292852" y="0"/>
                </a:lnTo>
                <a:lnTo>
                  <a:pt x="1292852" y="1292852"/>
                </a:lnTo>
                <a:lnTo>
                  <a:pt x="0" y="12928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4005846" y="5243583"/>
            <a:ext cx="1292852" cy="1292852"/>
          </a:xfrm>
          <a:custGeom>
            <a:avLst/>
            <a:gdLst/>
            <a:ahLst/>
            <a:cxnLst/>
            <a:rect r="r" b="b" t="t" l="l"/>
            <a:pathLst>
              <a:path h="1292852" w="1292852">
                <a:moveTo>
                  <a:pt x="0" y="0"/>
                </a:moveTo>
                <a:lnTo>
                  <a:pt x="1292852" y="0"/>
                </a:lnTo>
                <a:lnTo>
                  <a:pt x="1292852" y="1292852"/>
                </a:lnTo>
                <a:lnTo>
                  <a:pt x="0" y="12928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5743438" y="5243583"/>
            <a:ext cx="1292852" cy="1292852"/>
          </a:xfrm>
          <a:custGeom>
            <a:avLst/>
            <a:gdLst/>
            <a:ahLst/>
            <a:cxnLst/>
            <a:rect r="r" b="b" t="t" l="l"/>
            <a:pathLst>
              <a:path h="1292852" w="1292852">
                <a:moveTo>
                  <a:pt x="0" y="0"/>
                </a:moveTo>
                <a:lnTo>
                  <a:pt x="1292852" y="0"/>
                </a:lnTo>
                <a:lnTo>
                  <a:pt x="1292852" y="1292852"/>
                </a:lnTo>
                <a:lnTo>
                  <a:pt x="0" y="12928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1247751" y="5243583"/>
            <a:ext cx="1292852" cy="1292852"/>
          </a:xfrm>
          <a:custGeom>
            <a:avLst/>
            <a:gdLst/>
            <a:ahLst/>
            <a:cxnLst/>
            <a:rect r="r" b="b" t="t" l="l"/>
            <a:pathLst>
              <a:path h="1292852" w="1292852">
                <a:moveTo>
                  <a:pt x="0" y="0"/>
                </a:moveTo>
                <a:lnTo>
                  <a:pt x="1292852" y="0"/>
                </a:lnTo>
                <a:lnTo>
                  <a:pt x="1292852" y="1292852"/>
                </a:lnTo>
                <a:lnTo>
                  <a:pt x="0" y="12928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3166324" y="5658985"/>
            <a:ext cx="938808" cy="423949"/>
          </a:xfrm>
          <a:prstGeom prst="rect">
            <a:avLst/>
          </a:prstGeom>
        </p:spPr>
        <p:txBody>
          <a:bodyPr anchor="t" rtlCol="false" tIns="0" lIns="0" bIns="0" rIns="0">
            <a:spAutoFit/>
          </a:bodyPr>
          <a:lstStyle/>
          <a:p>
            <a:pPr algn="ctr">
              <a:lnSpc>
                <a:spcPts val="3576"/>
              </a:lnSpc>
            </a:pPr>
            <a:r>
              <a:rPr lang="en-US" b="true" sz="2449" spc="-48">
                <a:solidFill>
                  <a:srgbClr val="FCFCFC"/>
                </a:solidFill>
                <a:latin typeface="JASO Sans Bold"/>
                <a:ea typeface="JASO Sans Bold"/>
                <a:cs typeface="JASO Sans Bold"/>
                <a:sym typeface="JASO Sans Bold"/>
              </a:rPr>
              <a:t>01</a:t>
            </a:r>
          </a:p>
        </p:txBody>
      </p:sp>
      <p:sp>
        <p:nvSpPr>
          <p:cNvPr name="TextBox 16" id="16"/>
          <p:cNvSpPr txBox="true"/>
          <p:nvPr/>
        </p:nvSpPr>
        <p:spPr>
          <a:xfrm rot="0">
            <a:off x="5920460" y="5658985"/>
            <a:ext cx="938808" cy="423949"/>
          </a:xfrm>
          <a:prstGeom prst="rect">
            <a:avLst/>
          </a:prstGeom>
        </p:spPr>
        <p:txBody>
          <a:bodyPr anchor="t" rtlCol="false" tIns="0" lIns="0" bIns="0" rIns="0">
            <a:spAutoFit/>
          </a:bodyPr>
          <a:lstStyle/>
          <a:p>
            <a:pPr algn="ctr">
              <a:lnSpc>
                <a:spcPts val="3576"/>
              </a:lnSpc>
            </a:pPr>
            <a:r>
              <a:rPr lang="en-US" b="true" sz="2449" spc="-48">
                <a:solidFill>
                  <a:srgbClr val="FCFCFC"/>
                </a:solidFill>
                <a:latin typeface="JASO Sans Bold"/>
                <a:ea typeface="JASO Sans Bold"/>
                <a:cs typeface="JASO Sans Bold"/>
                <a:sym typeface="JASO Sans Bold"/>
              </a:rPr>
              <a:t>02</a:t>
            </a:r>
          </a:p>
        </p:txBody>
      </p:sp>
      <p:sp>
        <p:nvSpPr>
          <p:cNvPr name="TextBox 17" id="17"/>
          <p:cNvSpPr txBox="true"/>
          <p:nvPr/>
        </p:nvSpPr>
        <p:spPr>
          <a:xfrm rot="0">
            <a:off x="8674596" y="5658985"/>
            <a:ext cx="938808" cy="423949"/>
          </a:xfrm>
          <a:prstGeom prst="rect">
            <a:avLst/>
          </a:prstGeom>
        </p:spPr>
        <p:txBody>
          <a:bodyPr anchor="t" rtlCol="false" tIns="0" lIns="0" bIns="0" rIns="0">
            <a:spAutoFit/>
          </a:bodyPr>
          <a:lstStyle/>
          <a:p>
            <a:pPr algn="ctr">
              <a:lnSpc>
                <a:spcPts val="3576"/>
              </a:lnSpc>
            </a:pPr>
            <a:r>
              <a:rPr lang="en-US" b="true" sz="2449" spc="-48">
                <a:solidFill>
                  <a:srgbClr val="FCFCFC"/>
                </a:solidFill>
                <a:latin typeface="JASO Sans Bold"/>
                <a:ea typeface="JASO Sans Bold"/>
                <a:cs typeface="JASO Sans Bold"/>
                <a:sym typeface="JASO Sans Bold"/>
              </a:rPr>
              <a:t>03</a:t>
            </a:r>
          </a:p>
        </p:txBody>
      </p:sp>
      <p:sp>
        <p:nvSpPr>
          <p:cNvPr name="TextBox 18" id="18"/>
          <p:cNvSpPr txBox="true"/>
          <p:nvPr/>
        </p:nvSpPr>
        <p:spPr>
          <a:xfrm rot="0">
            <a:off x="11428732" y="5658985"/>
            <a:ext cx="938808" cy="423949"/>
          </a:xfrm>
          <a:prstGeom prst="rect">
            <a:avLst/>
          </a:prstGeom>
        </p:spPr>
        <p:txBody>
          <a:bodyPr anchor="t" rtlCol="false" tIns="0" lIns="0" bIns="0" rIns="0">
            <a:spAutoFit/>
          </a:bodyPr>
          <a:lstStyle/>
          <a:p>
            <a:pPr algn="ctr">
              <a:lnSpc>
                <a:spcPts val="3576"/>
              </a:lnSpc>
            </a:pPr>
            <a:r>
              <a:rPr lang="en-US" b="true" sz="2449" spc="-48">
                <a:solidFill>
                  <a:srgbClr val="FCFCFC"/>
                </a:solidFill>
                <a:latin typeface="JASO Sans Bold"/>
                <a:ea typeface="JASO Sans Bold"/>
                <a:cs typeface="JASO Sans Bold"/>
                <a:sym typeface="JASO Sans Bold"/>
              </a:rPr>
              <a:t>04</a:t>
            </a:r>
          </a:p>
        </p:txBody>
      </p:sp>
      <p:sp>
        <p:nvSpPr>
          <p:cNvPr name="TextBox 19" id="19"/>
          <p:cNvSpPr txBox="true"/>
          <p:nvPr/>
        </p:nvSpPr>
        <p:spPr>
          <a:xfrm rot="0">
            <a:off x="14182868" y="5658985"/>
            <a:ext cx="938808" cy="423949"/>
          </a:xfrm>
          <a:prstGeom prst="rect">
            <a:avLst/>
          </a:prstGeom>
        </p:spPr>
        <p:txBody>
          <a:bodyPr anchor="t" rtlCol="false" tIns="0" lIns="0" bIns="0" rIns="0">
            <a:spAutoFit/>
          </a:bodyPr>
          <a:lstStyle/>
          <a:p>
            <a:pPr algn="ctr">
              <a:lnSpc>
                <a:spcPts val="3576"/>
              </a:lnSpc>
            </a:pPr>
            <a:r>
              <a:rPr lang="en-US" b="true" sz="2449" spc="-48">
                <a:solidFill>
                  <a:srgbClr val="FCFCFC"/>
                </a:solidFill>
                <a:latin typeface="JASO Sans Bold"/>
                <a:ea typeface="JASO Sans Bold"/>
                <a:cs typeface="JASO Sans Bold"/>
                <a:sym typeface="JASO Sans Bold"/>
              </a:rPr>
              <a:t>05</a:t>
            </a:r>
          </a:p>
        </p:txBody>
      </p:sp>
      <p:sp>
        <p:nvSpPr>
          <p:cNvPr name="TextBox 20" id="20"/>
          <p:cNvSpPr txBox="true"/>
          <p:nvPr/>
        </p:nvSpPr>
        <p:spPr>
          <a:xfrm rot="0">
            <a:off x="2125479" y="7665930"/>
            <a:ext cx="3020498" cy="1514475"/>
          </a:xfrm>
          <a:prstGeom prst="rect">
            <a:avLst/>
          </a:prstGeom>
        </p:spPr>
        <p:txBody>
          <a:bodyPr anchor="t" rtlCol="false" tIns="0" lIns="0" bIns="0" rIns="0">
            <a:spAutoFit/>
          </a:bodyPr>
          <a:lstStyle/>
          <a:p>
            <a:pPr algn="ctr">
              <a:lnSpc>
                <a:spcPts val="3000"/>
              </a:lnSpc>
            </a:pPr>
            <a:r>
              <a:rPr lang="en-US" sz="2000" spc="-40">
                <a:solidFill>
                  <a:srgbClr val="333333">
                    <a:alpha val="69804"/>
                  </a:srgbClr>
                </a:solidFill>
                <a:latin typeface="JASO Sans"/>
                <a:ea typeface="JASO Sans"/>
                <a:cs typeface="JASO Sans"/>
                <a:sym typeface="JASO Sans"/>
              </a:rPr>
              <a:t>Larana </a:t>
            </a:r>
            <a:r>
              <a:rPr lang="en-US" sz="2000" spc="-40" strike="noStrike" u="none">
                <a:solidFill>
                  <a:srgbClr val="333333">
                    <a:alpha val="69804"/>
                  </a:srgbClr>
                </a:solidFill>
                <a:latin typeface="JASO Sans"/>
                <a:ea typeface="JASO Sans"/>
                <a:cs typeface="JASO Sans"/>
                <a:sym typeface="JASO Sans"/>
              </a:rPr>
              <a:t>A</a:t>
            </a:r>
            <a:r>
              <a:rPr lang="en-US" sz="2000" spc="-40" strike="noStrike" u="none">
                <a:solidFill>
                  <a:srgbClr val="333333">
                    <a:alpha val="69804"/>
                  </a:srgbClr>
                </a:solidFill>
                <a:latin typeface="JASO Sans"/>
                <a:ea typeface="JASO Sans"/>
                <a:cs typeface="JASO Sans"/>
                <a:sym typeface="JASO Sans"/>
              </a:rPr>
              <a:t>nalytics와 </a:t>
            </a:r>
            <a:r>
              <a:rPr lang="en-US" sz="2000" spc="-40" strike="noStrike" u="none">
                <a:solidFill>
                  <a:srgbClr val="333333">
                    <a:alpha val="69804"/>
                  </a:srgbClr>
                </a:solidFill>
                <a:latin typeface="JASO Sans"/>
                <a:ea typeface="JASO Sans"/>
                <a:cs typeface="JASO Sans"/>
                <a:sym typeface="JASO Sans"/>
              </a:rPr>
              <a:t>Larana Business 로 웹 및 SNS 일일 자동 수집</a:t>
            </a:r>
          </a:p>
          <a:p>
            <a:pPr algn="ctr">
              <a:lnSpc>
                <a:spcPts val="3000"/>
              </a:lnSpc>
            </a:pPr>
          </a:p>
        </p:txBody>
      </p:sp>
      <p:sp>
        <p:nvSpPr>
          <p:cNvPr name="TextBox 21" id="21"/>
          <p:cNvSpPr txBox="true"/>
          <p:nvPr/>
        </p:nvSpPr>
        <p:spPr>
          <a:xfrm rot="0">
            <a:off x="4879615" y="3629025"/>
            <a:ext cx="3020498" cy="1514475"/>
          </a:xfrm>
          <a:prstGeom prst="rect">
            <a:avLst/>
          </a:prstGeom>
        </p:spPr>
        <p:txBody>
          <a:bodyPr anchor="t" rtlCol="false" tIns="0" lIns="0" bIns="0" rIns="0">
            <a:spAutoFit/>
          </a:bodyPr>
          <a:lstStyle/>
          <a:p>
            <a:pPr algn="ctr">
              <a:lnSpc>
                <a:spcPts val="3000"/>
              </a:lnSpc>
            </a:pPr>
            <a:r>
              <a:rPr lang="en-US" sz="2000" spc="-40" strike="noStrike" u="none">
                <a:solidFill>
                  <a:srgbClr val="333333">
                    <a:alpha val="69804"/>
                  </a:srgbClr>
                </a:solidFill>
                <a:latin typeface="JASO Sans"/>
                <a:ea typeface="JASO Sans"/>
                <a:cs typeface="JASO Sans"/>
                <a:sym typeface="JASO Sans"/>
              </a:rPr>
              <a:t>AI </a:t>
            </a:r>
            <a:r>
              <a:rPr lang="en-US" sz="2000" spc="-40" strike="noStrike" u="none">
                <a:solidFill>
                  <a:srgbClr val="333333">
                    <a:alpha val="69804"/>
                  </a:srgbClr>
                </a:solidFill>
                <a:latin typeface="JASO Sans"/>
                <a:ea typeface="JASO Sans"/>
                <a:cs typeface="JASO Sans"/>
                <a:sym typeface="JASO Sans"/>
              </a:rPr>
              <a:t>기반</a:t>
            </a:r>
            <a:r>
              <a:rPr lang="en-US" sz="2000" spc="-40" strike="noStrike" u="none">
                <a:solidFill>
                  <a:srgbClr val="333333">
                    <a:alpha val="69804"/>
                  </a:srgbClr>
                </a:solidFill>
                <a:latin typeface="JASO Sans"/>
                <a:ea typeface="JASO Sans"/>
                <a:cs typeface="JASO Sans"/>
                <a:sym typeface="JASO Sans"/>
              </a:rPr>
              <a:t> 이상 탐지와 실시간 트렌드 분석으로 이벤트 기반 인사이트 도출</a:t>
            </a:r>
          </a:p>
          <a:p>
            <a:pPr algn="ctr">
              <a:lnSpc>
                <a:spcPts val="3000"/>
              </a:lnSpc>
            </a:pPr>
          </a:p>
        </p:txBody>
      </p:sp>
      <p:sp>
        <p:nvSpPr>
          <p:cNvPr name="TextBox 22" id="22"/>
          <p:cNvSpPr txBox="true"/>
          <p:nvPr/>
        </p:nvSpPr>
        <p:spPr>
          <a:xfrm rot="0">
            <a:off x="10387887" y="3629025"/>
            <a:ext cx="3020498" cy="1514475"/>
          </a:xfrm>
          <a:prstGeom prst="rect">
            <a:avLst/>
          </a:prstGeom>
        </p:spPr>
        <p:txBody>
          <a:bodyPr anchor="t" rtlCol="false" tIns="0" lIns="0" bIns="0" rIns="0">
            <a:spAutoFit/>
          </a:bodyPr>
          <a:lstStyle/>
          <a:p>
            <a:pPr algn="ctr">
              <a:lnSpc>
                <a:spcPts val="3000"/>
              </a:lnSpc>
            </a:pPr>
            <a:r>
              <a:rPr lang="en-US" sz="2000" spc="-40">
                <a:solidFill>
                  <a:srgbClr val="333333">
                    <a:alpha val="69804"/>
                  </a:srgbClr>
                </a:solidFill>
                <a:latin typeface="JASO Sans"/>
                <a:ea typeface="JASO Sans"/>
                <a:cs typeface="JASO Sans"/>
                <a:sym typeface="JASO Sans"/>
              </a:rPr>
              <a:t>주간·월간 라라나 비즈니스</a:t>
            </a:r>
          </a:p>
          <a:p>
            <a:pPr algn="ctr">
              <a:lnSpc>
                <a:spcPts val="3000"/>
              </a:lnSpc>
            </a:pPr>
            <a:r>
              <a:rPr lang="en-US" sz="2000" spc="-40">
                <a:solidFill>
                  <a:srgbClr val="333333">
                    <a:alpha val="69804"/>
                  </a:srgbClr>
                </a:solidFill>
                <a:latin typeface="JASO Sans"/>
                <a:ea typeface="JASO Sans"/>
                <a:cs typeface="JASO Sans"/>
                <a:sym typeface="JASO Sans"/>
              </a:rPr>
              <a:t>리포트</a:t>
            </a:r>
            <a:r>
              <a:rPr lang="en-US" sz="2000" spc="-40" strike="noStrike" u="none">
                <a:solidFill>
                  <a:srgbClr val="333333">
                    <a:alpha val="69804"/>
                  </a:srgbClr>
                </a:solidFill>
                <a:latin typeface="JASO Sans"/>
                <a:ea typeface="JASO Sans"/>
                <a:cs typeface="JASO Sans"/>
                <a:sym typeface="JASO Sans"/>
              </a:rPr>
              <a:t> 자동 생성 및 공유로 의사결정 근거 제공</a:t>
            </a:r>
          </a:p>
          <a:p>
            <a:pPr algn="ctr">
              <a:lnSpc>
                <a:spcPts val="3000"/>
              </a:lnSpc>
            </a:pPr>
          </a:p>
        </p:txBody>
      </p:sp>
      <p:sp>
        <p:nvSpPr>
          <p:cNvPr name="TextBox 23" id="23"/>
          <p:cNvSpPr txBox="true"/>
          <p:nvPr/>
        </p:nvSpPr>
        <p:spPr>
          <a:xfrm rot="0">
            <a:off x="7633751" y="7665930"/>
            <a:ext cx="3020498" cy="1514475"/>
          </a:xfrm>
          <a:prstGeom prst="rect">
            <a:avLst/>
          </a:prstGeom>
        </p:spPr>
        <p:txBody>
          <a:bodyPr anchor="t" rtlCol="false" tIns="0" lIns="0" bIns="0" rIns="0">
            <a:spAutoFit/>
          </a:bodyPr>
          <a:lstStyle/>
          <a:p>
            <a:pPr algn="ctr">
              <a:lnSpc>
                <a:spcPts val="3000"/>
              </a:lnSpc>
            </a:pPr>
            <a:r>
              <a:rPr lang="en-US" sz="2000" spc="-40">
                <a:solidFill>
                  <a:srgbClr val="333333">
                    <a:alpha val="69804"/>
                  </a:srgbClr>
                </a:solidFill>
                <a:latin typeface="JASO Sans"/>
                <a:ea typeface="JASO Sans"/>
                <a:cs typeface="JASO Sans"/>
                <a:sym typeface="JASO Sans"/>
              </a:rPr>
              <a:t>Larana</a:t>
            </a:r>
            <a:r>
              <a:rPr lang="en-US" sz="2000" spc="-40" strike="noStrike" u="none">
                <a:solidFill>
                  <a:srgbClr val="333333">
                    <a:alpha val="69804"/>
                  </a:srgbClr>
                </a:solidFill>
                <a:latin typeface="JASO Sans"/>
                <a:ea typeface="JASO Sans"/>
                <a:cs typeface="JASO Sans"/>
                <a:sym typeface="JASO Sans"/>
              </a:rPr>
              <a:t>로 BI 대시보드 30분 주기 자동 업데이트 및 자동 리포팅</a:t>
            </a:r>
          </a:p>
          <a:p>
            <a:pPr algn="ctr">
              <a:lnSpc>
                <a:spcPts val="3000"/>
              </a:lnSpc>
            </a:pPr>
          </a:p>
        </p:txBody>
      </p:sp>
      <p:sp>
        <p:nvSpPr>
          <p:cNvPr name="TextBox 24" id="24"/>
          <p:cNvSpPr txBox="true"/>
          <p:nvPr/>
        </p:nvSpPr>
        <p:spPr>
          <a:xfrm rot="0">
            <a:off x="13142023" y="7665930"/>
            <a:ext cx="3020498" cy="1514475"/>
          </a:xfrm>
          <a:prstGeom prst="rect">
            <a:avLst/>
          </a:prstGeom>
        </p:spPr>
        <p:txBody>
          <a:bodyPr anchor="t" rtlCol="false" tIns="0" lIns="0" bIns="0" rIns="0">
            <a:spAutoFit/>
          </a:bodyPr>
          <a:lstStyle/>
          <a:p>
            <a:pPr algn="ctr">
              <a:lnSpc>
                <a:spcPts val="3000"/>
              </a:lnSpc>
            </a:pPr>
            <a:r>
              <a:rPr lang="en-US" sz="2000" spc="-40">
                <a:solidFill>
                  <a:srgbClr val="333333">
                    <a:alpha val="69804"/>
                  </a:srgbClr>
                </a:solidFill>
                <a:latin typeface="JASO Sans"/>
                <a:ea typeface="JASO Sans"/>
                <a:cs typeface="JASO Sans"/>
                <a:sym typeface="JASO Sans"/>
              </a:rPr>
              <a:t>참여율 5%</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미만</a:t>
            </a:r>
            <a:r>
              <a:rPr lang="en-US" sz="2000" spc="-40" strike="noStrike" u="none">
                <a:solidFill>
                  <a:srgbClr val="333333">
                    <a:alpha val="69804"/>
                  </a:srgbClr>
                </a:solidFill>
                <a:latin typeface="JASO Sans"/>
                <a:ea typeface="JASO Sans"/>
                <a:cs typeface="JASO Sans"/>
                <a:sym typeface="JASO Sans"/>
              </a:rPr>
              <a:t> 콘텐츠 자동 최적화 알림, 클릭율 3% 초과 광고 예산 증액</a:t>
            </a:r>
          </a:p>
          <a:p>
            <a:pPr algn="ctr">
              <a:lnSpc>
                <a:spcPts val="3000"/>
              </a:lnSpc>
            </a:pPr>
          </a:p>
        </p:txBody>
      </p:sp>
      <p:sp>
        <p:nvSpPr>
          <p:cNvPr name="TextBox 25" id="25"/>
          <p:cNvSpPr txBox="true"/>
          <p:nvPr/>
        </p:nvSpPr>
        <p:spPr>
          <a:xfrm rot="0">
            <a:off x="2125479" y="7070025"/>
            <a:ext cx="3020498" cy="480674"/>
          </a:xfrm>
          <a:prstGeom prst="rect">
            <a:avLst/>
          </a:prstGeom>
        </p:spPr>
        <p:txBody>
          <a:bodyPr anchor="t" rtlCol="false" tIns="0" lIns="0" bIns="0" rIns="0">
            <a:spAutoFit/>
          </a:bodyPr>
          <a:lstStyle/>
          <a:p>
            <a:pPr algn="ctr">
              <a:lnSpc>
                <a:spcPts val="4014"/>
              </a:lnSpc>
            </a:pPr>
            <a:r>
              <a:rPr lang="en-US" b="true" sz="2749" spc="-54">
                <a:solidFill>
                  <a:srgbClr val="333333"/>
                </a:solidFill>
                <a:latin typeface="JASO Sans Bold"/>
                <a:ea typeface="JASO Sans Bold"/>
                <a:cs typeface="JASO Sans Bold"/>
                <a:sym typeface="JASO Sans Bold"/>
              </a:rPr>
              <a:t>수집</a:t>
            </a:r>
          </a:p>
        </p:txBody>
      </p:sp>
      <p:sp>
        <p:nvSpPr>
          <p:cNvPr name="TextBox 26" id="26"/>
          <p:cNvSpPr txBox="true"/>
          <p:nvPr/>
        </p:nvSpPr>
        <p:spPr>
          <a:xfrm rot="0">
            <a:off x="4879615" y="3033120"/>
            <a:ext cx="3020498" cy="480674"/>
          </a:xfrm>
          <a:prstGeom prst="rect">
            <a:avLst/>
          </a:prstGeom>
        </p:spPr>
        <p:txBody>
          <a:bodyPr anchor="t" rtlCol="false" tIns="0" lIns="0" bIns="0" rIns="0">
            <a:spAutoFit/>
          </a:bodyPr>
          <a:lstStyle/>
          <a:p>
            <a:pPr algn="ctr">
              <a:lnSpc>
                <a:spcPts val="4014"/>
              </a:lnSpc>
            </a:pPr>
            <a:r>
              <a:rPr lang="en-US" b="true" sz="2749" spc="-54">
                <a:solidFill>
                  <a:srgbClr val="333333"/>
                </a:solidFill>
                <a:latin typeface="JASO Sans Bold"/>
                <a:ea typeface="JASO Sans Bold"/>
                <a:cs typeface="JASO Sans Bold"/>
                <a:sym typeface="JASO Sans Bold"/>
              </a:rPr>
              <a:t>분석</a:t>
            </a:r>
          </a:p>
        </p:txBody>
      </p:sp>
      <p:sp>
        <p:nvSpPr>
          <p:cNvPr name="TextBox 27" id="27"/>
          <p:cNvSpPr txBox="true"/>
          <p:nvPr/>
        </p:nvSpPr>
        <p:spPr>
          <a:xfrm rot="0">
            <a:off x="10387887" y="3033120"/>
            <a:ext cx="3020498" cy="480674"/>
          </a:xfrm>
          <a:prstGeom prst="rect">
            <a:avLst/>
          </a:prstGeom>
        </p:spPr>
        <p:txBody>
          <a:bodyPr anchor="t" rtlCol="false" tIns="0" lIns="0" bIns="0" rIns="0">
            <a:spAutoFit/>
          </a:bodyPr>
          <a:lstStyle/>
          <a:p>
            <a:pPr algn="ctr">
              <a:lnSpc>
                <a:spcPts val="4014"/>
              </a:lnSpc>
            </a:pPr>
            <a:r>
              <a:rPr lang="en-US" b="true" sz="2749" spc="-54">
                <a:solidFill>
                  <a:srgbClr val="333333"/>
                </a:solidFill>
                <a:latin typeface="JASO Sans Bold"/>
                <a:ea typeface="JASO Sans Bold"/>
                <a:cs typeface="JASO Sans Bold"/>
                <a:sym typeface="JASO Sans Bold"/>
              </a:rPr>
              <a:t>보고</a:t>
            </a:r>
          </a:p>
        </p:txBody>
      </p:sp>
      <p:sp>
        <p:nvSpPr>
          <p:cNvPr name="TextBox 28" id="28"/>
          <p:cNvSpPr txBox="true"/>
          <p:nvPr/>
        </p:nvSpPr>
        <p:spPr>
          <a:xfrm rot="0">
            <a:off x="7633751" y="7070025"/>
            <a:ext cx="3020498" cy="480674"/>
          </a:xfrm>
          <a:prstGeom prst="rect">
            <a:avLst/>
          </a:prstGeom>
        </p:spPr>
        <p:txBody>
          <a:bodyPr anchor="t" rtlCol="false" tIns="0" lIns="0" bIns="0" rIns="0">
            <a:spAutoFit/>
          </a:bodyPr>
          <a:lstStyle/>
          <a:p>
            <a:pPr algn="ctr">
              <a:lnSpc>
                <a:spcPts val="4014"/>
              </a:lnSpc>
            </a:pPr>
            <a:r>
              <a:rPr lang="en-US" b="true" sz="2749" spc="-54">
                <a:solidFill>
                  <a:srgbClr val="333333"/>
                </a:solidFill>
                <a:latin typeface="JASO Sans Bold"/>
                <a:ea typeface="JASO Sans Bold"/>
                <a:cs typeface="JASO Sans Bold"/>
                <a:sym typeface="JASO Sans Bold"/>
              </a:rPr>
              <a:t>시각화</a:t>
            </a:r>
          </a:p>
        </p:txBody>
      </p:sp>
      <p:sp>
        <p:nvSpPr>
          <p:cNvPr name="TextBox 29" id="29"/>
          <p:cNvSpPr txBox="true"/>
          <p:nvPr/>
        </p:nvSpPr>
        <p:spPr>
          <a:xfrm rot="0">
            <a:off x="13142023" y="7070025"/>
            <a:ext cx="3020498" cy="480674"/>
          </a:xfrm>
          <a:prstGeom prst="rect">
            <a:avLst/>
          </a:prstGeom>
        </p:spPr>
        <p:txBody>
          <a:bodyPr anchor="t" rtlCol="false" tIns="0" lIns="0" bIns="0" rIns="0">
            <a:spAutoFit/>
          </a:bodyPr>
          <a:lstStyle/>
          <a:p>
            <a:pPr algn="ctr">
              <a:lnSpc>
                <a:spcPts val="4014"/>
              </a:lnSpc>
            </a:pPr>
            <a:r>
              <a:rPr lang="en-US" b="true" sz="2749" spc="-54">
                <a:solidFill>
                  <a:srgbClr val="333333"/>
                </a:solidFill>
                <a:latin typeface="JASO Sans Bold"/>
                <a:ea typeface="JASO Sans Bold"/>
                <a:cs typeface="JASO Sans Bold"/>
                <a:sym typeface="JASO Sans Bold"/>
              </a:rPr>
              <a:t>의사결정 자동화</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1416"/>
            <a:chOff x="0" y="0"/>
            <a:chExt cx="3762963" cy="37328"/>
          </a:xfrm>
        </p:grpSpPr>
        <p:sp>
          <p:nvSpPr>
            <p:cNvPr name="Freeform 3" id="3"/>
            <p:cNvSpPr/>
            <p:nvPr/>
          </p:nvSpPr>
          <p:spPr>
            <a:xfrm flipH="false" flipV="false" rot="0">
              <a:off x="0" y="0"/>
              <a:ext cx="3762963" cy="37328"/>
            </a:xfrm>
            <a:custGeom>
              <a:avLst/>
              <a:gdLst/>
              <a:ahLst/>
              <a:cxnLst/>
              <a:rect r="r" b="b" t="t" l="l"/>
              <a:pathLst>
                <a:path h="37328" w="3762963">
                  <a:moveTo>
                    <a:pt x="0" y="0"/>
                  </a:moveTo>
                  <a:lnTo>
                    <a:pt x="3762963" y="0"/>
                  </a:lnTo>
                  <a:lnTo>
                    <a:pt x="3762963" y="37328"/>
                  </a:lnTo>
                  <a:lnTo>
                    <a:pt x="0" y="37328"/>
                  </a:lnTo>
                  <a:close/>
                </a:path>
              </a:pathLst>
            </a:custGeom>
            <a:solidFill>
              <a:srgbClr val="416F6C"/>
            </a:solidFill>
          </p:spPr>
        </p:sp>
        <p:sp>
          <p:nvSpPr>
            <p:cNvPr name="TextBox 4" id="4"/>
            <p:cNvSpPr txBox="true"/>
            <p:nvPr/>
          </p:nvSpPr>
          <p:spPr>
            <a:xfrm>
              <a:off x="0" y="-57150"/>
              <a:ext cx="3762963" cy="94478"/>
            </a:xfrm>
            <a:prstGeom prst="rect">
              <a:avLst/>
            </a:prstGeom>
          </p:spPr>
          <p:txBody>
            <a:bodyPr anchor="ctr" rtlCol="false" tIns="50800" lIns="50800" bIns="50800" rIns="50800"/>
            <a:lstStyle/>
            <a:p>
              <a:pPr algn="ctr">
                <a:lnSpc>
                  <a:spcPts val="2541"/>
                </a:lnSpc>
              </a:pPr>
            </a:p>
          </p:txBody>
        </p:sp>
      </p:grpSp>
      <p:sp>
        <p:nvSpPr>
          <p:cNvPr name="AutoShape 5" id="5"/>
          <p:cNvSpPr/>
          <p:nvPr/>
        </p:nvSpPr>
        <p:spPr>
          <a:xfrm>
            <a:off x="844732" y="2064885"/>
            <a:ext cx="16598535" cy="0"/>
          </a:xfrm>
          <a:prstGeom prst="line">
            <a:avLst/>
          </a:prstGeom>
          <a:ln cap="flat" w="9525">
            <a:solidFill>
              <a:srgbClr val="416F6C"/>
            </a:solidFill>
            <a:prstDash val="solid"/>
            <a:headEnd type="none" len="sm" w="sm"/>
            <a:tailEnd type="none" len="sm" w="sm"/>
          </a:ln>
        </p:spPr>
      </p:sp>
      <p:sp>
        <p:nvSpPr>
          <p:cNvPr name="TextBox 6" id="6"/>
          <p:cNvSpPr txBox="true"/>
          <p:nvPr/>
        </p:nvSpPr>
        <p:spPr>
          <a:xfrm rot="0">
            <a:off x="1601101" y="917525"/>
            <a:ext cx="9792550" cy="733022"/>
          </a:xfrm>
          <a:prstGeom prst="rect">
            <a:avLst/>
          </a:prstGeom>
        </p:spPr>
        <p:txBody>
          <a:bodyPr anchor="t" rtlCol="false" tIns="0" lIns="0" bIns="0" rIns="0">
            <a:spAutoFit/>
          </a:bodyPr>
          <a:lstStyle/>
          <a:p>
            <a:pPr algn="l" marL="0" indent="0" lvl="0">
              <a:lnSpc>
                <a:spcPts val="5508"/>
              </a:lnSpc>
            </a:pPr>
            <a:r>
              <a:rPr lang="en-US" b="true" sz="5400" spc="-108">
                <a:solidFill>
                  <a:srgbClr val="333333"/>
                </a:solidFill>
                <a:latin typeface="JASO Sans Bold"/>
                <a:ea typeface="JASO Sans Bold"/>
                <a:cs typeface="JASO Sans Bold"/>
                <a:sym typeface="JASO Sans Bold"/>
              </a:rPr>
              <a:t>SNS 마케팅 팀 구성</a:t>
            </a:r>
          </a:p>
        </p:txBody>
      </p:sp>
      <p:sp>
        <p:nvSpPr>
          <p:cNvPr name="TextBox 7" id="7"/>
          <p:cNvSpPr txBox="true"/>
          <p:nvPr/>
        </p:nvSpPr>
        <p:spPr>
          <a:xfrm rot="0">
            <a:off x="7392630" y="1328115"/>
            <a:ext cx="4543751" cy="228644"/>
          </a:xfrm>
          <a:prstGeom prst="rect">
            <a:avLst/>
          </a:prstGeom>
        </p:spPr>
        <p:txBody>
          <a:bodyPr anchor="t" rtlCol="false" tIns="0" lIns="0" bIns="0" rIns="0">
            <a:spAutoFit/>
          </a:bodyPr>
          <a:lstStyle/>
          <a:p>
            <a:pPr algn="l">
              <a:lnSpc>
                <a:spcPts val="1800"/>
              </a:lnSpc>
            </a:pPr>
            <a:r>
              <a:rPr lang="en-US" sz="1500" spc="-30">
                <a:solidFill>
                  <a:srgbClr val="333333">
                    <a:alpha val="32941"/>
                  </a:srgbClr>
                </a:solidFill>
                <a:latin typeface="JASO Sans"/>
                <a:ea typeface="JASO Sans"/>
                <a:cs typeface="JASO Sans"/>
                <a:sym typeface="JASO Sans"/>
              </a:rPr>
              <a:t>메인타이틀에 대한 세부 설명을 입력해 주세요.</a:t>
            </a:r>
          </a:p>
        </p:txBody>
      </p:sp>
      <p:sp>
        <p:nvSpPr>
          <p:cNvPr name="Freeform 8" id="8"/>
          <p:cNvSpPr/>
          <p:nvPr/>
        </p:nvSpPr>
        <p:spPr>
          <a:xfrm flipH="false" flipV="false" rot="0">
            <a:off x="1028700" y="1059829"/>
            <a:ext cx="362690" cy="362690"/>
          </a:xfrm>
          <a:custGeom>
            <a:avLst/>
            <a:gdLst/>
            <a:ahLst/>
            <a:cxnLst/>
            <a:rect r="r" b="b" t="t" l="l"/>
            <a:pathLst>
              <a:path h="362690" w="362690">
                <a:moveTo>
                  <a:pt x="0" y="0"/>
                </a:moveTo>
                <a:lnTo>
                  <a:pt x="362690" y="0"/>
                </a:lnTo>
                <a:lnTo>
                  <a:pt x="362690" y="362690"/>
                </a:lnTo>
                <a:lnTo>
                  <a:pt x="0" y="362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2249099" y="3136448"/>
            <a:ext cx="3496729" cy="349672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79379" t="-55793" r="-71166" b="-220259"/>
              </a:stretch>
            </a:blipFill>
          </p:spPr>
        </p:sp>
      </p:grpSp>
      <p:grpSp>
        <p:nvGrpSpPr>
          <p:cNvPr name="Group 11" id="11"/>
          <p:cNvGrpSpPr/>
          <p:nvPr/>
        </p:nvGrpSpPr>
        <p:grpSpPr>
          <a:xfrm rot="0">
            <a:off x="7395635" y="3136448"/>
            <a:ext cx="3496729" cy="349672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0" r="0" b="-50093"/>
              </a:stretch>
            </a:blipFill>
          </p:spPr>
        </p:sp>
      </p:grpSp>
      <p:grpSp>
        <p:nvGrpSpPr>
          <p:cNvPr name="Group 13" id="13"/>
          <p:cNvGrpSpPr/>
          <p:nvPr/>
        </p:nvGrpSpPr>
        <p:grpSpPr>
          <a:xfrm rot="0">
            <a:off x="12540190" y="3136448"/>
            <a:ext cx="3496729" cy="349672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56867" t="-37512" r="-38268" b="-155373"/>
              </a:stretch>
            </a:blipFill>
          </p:spPr>
        </p:sp>
      </p:grpSp>
      <p:sp>
        <p:nvSpPr>
          <p:cNvPr name="TextBox 15" id="15"/>
          <p:cNvSpPr txBox="true"/>
          <p:nvPr/>
        </p:nvSpPr>
        <p:spPr>
          <a:xfrm rot="0">
            <a:off x="1988263" y="7064736"/>
            <a:ext cx="4018401" cy="429216"/>
          </a:xfrm>
          <a:prstGeom prst="rect">
            <a:avLst/>
          </a:prstGeom>
        </p:spPr>
        <p:txBody>
          <a:bodyPr anchor="t" rtlCol="false" tIns="0" lIns="0" bIns="0" rIns="0">
            <a:spAutoFit/>
          </a:bodyPr>
          <a:lstStyle/>
          <a:p>
            <a:pPr algn="ctr">
              <a:lnSpc>
                <a:spcPts val="3519"/>
              </a:lnSpc>
            </a:pPr>
            <a:r>
              <a:rPr lang="en-US" b="true" sz="2749" spc="-54">
                <a:solidFill>
                  <a:srgbClr val="333333"/>
                </a:solidFill>
                <a:latin typeface="JASO Sans Bold"/>
                <a:ea typeface="JASO Sans Bold"/>
                <a:cs typeface="JASO Sans Bold"/>
                <a:sym typeface="JASO Sans Bold"/>
              </a:rPr>
              <a:t>프로젝트 매니저</a:t>
            </a:r>
          </a:p>
        </p:txBody>
      </p:sp>
      <p:sp>
        <p:nvSpPr>
          <p:cNvPr name="TextBox 16" id="16"/>
          <p:cNvSpPr txBox="true"/>
          <p:nvPr/>
        </p:nvSpPr>
        <p:spPr>
          <a:xfrm rot="0">
            <a:off x="7134799" y="7064736"/>
            <a:ext cx="4018401" cy="429216"/>
          </a:xfrm>
          <a:prstGeom prst="rect">
            <a:avLst/>
          </a:prstGeom>
        </p:spPr>
        <p:txBody>
          <a:bodyPr anchor="t" rtlCol="false" tIns="0" lIns="0" bIns="0" rIns="0">
            <a:spAutoFit/>
          </a:bodyPr>
          <a:lstStyle/>
          <a:p>
            <a:pPr algn="ctr">
              <a:lnSpc>
                <a:spcPts val="3519"/>
              </a:lnSpc>
            </a:pPr>
            <a:r>
              <a:rPr lang="en-US" b="true" sz="2749" spc="-54">
                <a:solidFill>
                  <a:srgbClr val="333333"/>
                </a:solidFill>
                <a:latin typeface="JASO Sans Bold"/>
                <a:ea typeface="JASO Sans Bold"/>
                <a:cs typeface="JASO Sans Bold"/>
                <a:sym typeface="JASO Sans Bold"/>
              </a:rPr>
              <a:t>마케팅 전략가</a:t>
            </a:r>
          </a:p>
        </p:txBody>
      </p:sp>
      <p:sp>
        <p:nvSpPr>
          <p:cNvPr name="TextBox 17" id="17"/>
          <p:cNvSpPr txBox="true"/>
          <p:nvPr/>
        </p:nvSpPr>
        <p:spPr>
          <a:xfrm rot="0">
            <a:off x="12319436" y="7064736"/>
            <a:ext cx="4018401" cy="429216"/>
          </a:xfrm>
          <a:prstGeom prst="rect">
            <a:avLst/>
          </a:prstGeom>
        </p:spPr>
        <p:txBody>
          <a:bodyPr anchor="t" rtlCol="false" tIns="0" lIns="0" bIns="0" rIns="0">
            <a:spAutoFit/>
          </a:bodyPr>
          <a:lstStyle/>
          <a:p>
            <a:pPr algn="ctr">
              <a:lnSpc>
                <a:spcPts val="3519"/>
              </a:lnSpc>
            </a:pPr>
            <a:r>
              <a:rPr lang="en-US" b="true" sz="2749" spc="-54">
                <a:solidFill>
                  <a:srgbClr val="333333"/>
                </a:solidFill>
                <a:latin typeface="JASO Sans Bold"/>
                <a:ea typeface="JASO Sans Bold"/>
                <a:cs typeface="JASO Sans Bold"/>
                <a:sym typeface="JASO Sans Bold"/>
              </a:rPr>
              <a:t>인플루언서 매니저</a:t>
            </a:r>
          </a:p>
        </p:txBody>
      </p:sp>
      <p:sp>
        <p:nvSpPr>
          <p:cNvPr name="TextBox 18" id="18"/>
          <p:cNvSpPr txBox="true"/>
          <p:nvPr/>
        </p:nvSpPr>
        <p:spPr>
          <a:xfrm rot="0">
            <a:off x="1717316" y="8085030"/>
            <a:ext cx="4560294" cy="752475"/>
          </a:xfrm>
          <a:prstGeom prst="rect">
            <a:avLst/>
          </a:prstGeom>
        </p:spPr>
        <p:txBody>
          <a:bodyPr anchor="t" rtlCol="false" tIns="0" lIns="0" bIns="0" rIns="0">
            <a:spAutoFit/>
          </a:bodyPr>
          <a:lstStyle/>
          <a:p>
            <a:pPr algn="ctr">
              <a:lnSpc>
                <a:spcPts val="3000"/>
              </a:lnSpc>
            </a:pPr>
            <a:r>
              <a:rPr lang="en-US" sz="2000" spc="-40">
                <a:solidFill>
                  <a:srgbClr val="333333">
                    <a:alpha val="69804"/>
                  </a:srgbClr>
                </a:solidFill>
                <a:latin typeface="JASO Sans"/>
                <a:ea typeface="JASO Sans"/>
                <a:cs typeface="JASO Sans"/>
                <a:sym typeface="JASO Sans"/>
              </a:rPr>
              <a:t>프로젝트</a:t>
            </a:r>
            <a:r>
              <a:rPr lang="en-US" sz="2000" spc="-40" strike="noStrike" u="none">
                <a:solidFill>
                  <a:srgbClr val="333333">
                    <a:alpha val="69804"/>
                  </a:srgbClr>
                </a:solidFill>
                <a:latin typeface="JASO Sans"/>
                <a:ea typeface="JASO Sans"/>
                <a:cs typeface="JASO Sans"/>
                <a:sym typeface="JASO Sans"/>
              </a:rPr>
              <a:t> 전체 일정 수립 및 진행 관리</a:t>
            </a:r>
          </a:p>
          <a:p>
            <a:pPr algn="ctr">
              <a:lnSpc>
                <a:spcPts val="3000"/>
              </a:lnSpc>
            </a:pPr>
            <a:r>
              <a:rPr lang="en-US" sz="2000" spc="-40" strike="noStrike" u="none">
                <a:solidFill>
                  <a:srgbClr val="333333">
                    <a:alpha val="69804"/>
                  </a:srgbClr>
                </a:solidFill>
                <a:latin typeface="JASO Sans"/>
                <a:ea typeface="JASO Sans"/>
                <a:cs typeface="JASO Sans"/>
                <a:sym typeface="JASO Sans"/>
              </a:rPr>
              <a:t>예산 집행 및 비용 효율성 모니터링</a:t>
            </a:r>
          </a:p>
        </p:txBody>
      </p:sp>
      <p:sp>
        <p:nvSpPr>
          <p:cNvPr name="TextBox 19" id="19"/>
          <p:cNvSpPr txBox="true"/>
          <p:nvPr/>
        </p:nvSpPr>
        <p:spPr>
          <a:xfrm rot="0">
            <a:off x="6863853" y="8085030"/>
            <a:ext cx="4560294" cy="1133475"/>
          </a:xfrm>
          <a:prstGeom prst="rect">
            <a:avLst/>
          </a:prstGeom>
        </p:spPr>
        <p:txBody>
          <a:bodyPr anchor="t" rtlCol="false" tIns="0" lIns="0" bIns="0" rIns="0">
            <a:spAutoFit/>
          </a:bodyPr>
          <a:lstStyle/>
          <a:p>
            <a:pPr algn="ctr">
              <a:lnSpc>
                <a:spcPts val="3000"/>
              </a:lnSpc>
            </a:pPr>
            <a:r>
              <a:rPr lang="en-US" sz="2000" spc="-40">
                <a:solidFill>
                  <a:srgbClr val="333333">
                    <a:alpha val="69804"/>
                  </a:srgbClr>
                </a:solidFill>
                <a:latin typeface="JASO Sans"/>
                <a:ea typeface="JASO Sans"/>
                <a:cs typeface="JASO Sans"/>
                <a:sym typeface="JASO Sans"/>
              </a:rPr>
              <a:t>시장</a:t>
            </a:r>
            <a:r>
              <a:rPr lang="en-US" sz="2000" spc="-40" strike="noStrike" u="none">
                <a:solidFill>
                  <a:srgbClr val="333333">
                    <a:alpha val="69804"/>
                  </a:srgbClr>
                </a:solidFill>
                <a:latin typeface="JASO Sans"/>
                <a:ea typeface="JASO Sans"/>
                <a:cs typeface="JASO Sans"/>
                <a:sym typeface="JASO Sans"/>
              </a:rPr>
              <a:t> 조사 및 경쟁사 분석</a:t>
            </a:r>
          </a:p>
          <a:p>
            <a:pPr algn="ctr">
              <a:lnSpc>
                <a:spcPts val="3000"/>
              </a:lnSpc>
            </a:pPr>
            <a:r>
              <a:rPr lang="en-US" sz="2000" spc="-40" strike="noStrike" u="none">
                <a:solidFill>
                  <a:srgbClr val="333333">
                    <a:alpha val="69804"/>
                  </a:srgbClr>
                </a:solidFill>
                <a:latin typeface="JASO Sans"/>
                <a:ea typeface="JASO Sans"/>
                <a:cs typeface="JASO Sans"/>
                <a:sym typeface="JASO Sans"/>
              </a:rPr>
              <a:t>타겟</a:t>
            </a:r>
            <a:r>
              <a:rPr lang="en-US" sz="2000" spc="-40" strike="noStrike" u="none">
                <a:solidFill>
                  <a:srgbClr val="333333">
                    <a:alpha val="69804"/>
                  </a:srgbClr>
                </a:solidFill>
                <a:latin typeface="JASO Sans"/>
                <a:ea typeface="JASO Sans"/>
                <a:cs typeface="JASO Sans"/>
                <a:sym typeface="JASO Sans"/>
              </a:rPr>
              <a:t> 고객 세분화 및 페르소나 개발</a:t>
            </a:r>
          </a:p>
          <a:p>
            <a:pPr algn="ctr">
              <a:lnSpc>
                <a:spcPts val="3000"/>
              </a:lnSpc>
            </a:pPr>
          </a:p>
        </p:txBody>
      </p:sp>
      <p:sp>
        <p:nvSpPr>
          <p:cNvPr name="TextBox 20" id="20"/>
          <p:cNvSpPr txBox="true"/>
          <p:nvPr/>
        </p:nvSpPr>
        <p:spPr>
          <a:xfrm rot="0">
            <a:off x="12019915" y="8085030"/>
            <a:ext cx="4560294" cy="1133475"/>
          </a:xfrm>
          <a:prstGeom prst="rect">
            <a:avLst/>
          </a:prstGeom>
        </p:spPr>
        <p:txBody>
          <a:bodyPr anchor="t" rtlCol="false" tIns="0" lIns="0" bIns="0" rIns="0">
            <a:spAutoFit/>
          </a:bodyPr>
          <a:lstStyle/>
          <a:p>
            <a:pPr algn="ctr">
              <a:lnSpc>
                <a:spcPts val="3000"/>
              </a:lnSpc>
            </a:pPr>
            <a:r>
              <a:rPr lang="en-US" sz="2000" spc="-40">
                <a:solidFill>
                  <a:srgbClr val="333333">
                    <a:alpha val="69804"/>
                  </a:srgbClr>
                </a:solidFill>
                <a:latin typeface="JASO Sans"/>
                <a:ea typeface="JASO Sans"/>
                <a:cs typeface="JASO Sans"/>
                <a:sym typeface="JASO Sans"/>
              </a:rPr>
              <a:t>인플루언서</a:t>
            </a:r>
            <a:r>
              <a:rPr lang="en-US" sz="2000" spc="-40" strike="noStrike" u="none">
                <a:solidFill>
                  <a:srgbClr val="333333">
                    <a:alpha val="69804"/>
                  </a:srgbClr>
                </a:solidFill>
                <a:latin typeface="JASO Sans"/>
                <a:ea typeface="JASO Sans"/>
                <a:cs typeface="JASO Sans"/>
                <a:sym typeface="JASO Sans"/>
              </a:rPr>
              <a:t> 발굴 및 선정</a:t>
            </a:r>
          </a:p>
          <a:p>
            <a:pPr algn="ctr">
              <a:lnSpc>
                <a:spcPts val="3000"/>
              </a:lnSpc>
            </a:pPr>
            <a:r>
              <a:rPr lang="en-US" sz="2000" spc="-40" strike="noStrike" u="none">
                <a:solidFill>
                  <a:srgbClr val="333333">
                    <a:alpha val="69804"/>
                  </a:srgbClr>
                </a:solidFill>
                <a:latin typeface="JASO Sans"/>
                <a:ea typeface="JASO Sans"/>
                <a:cs typeface="JASO Sans"/>
                <a:sym typeface="JASO Sans"/>
              </a:rPr>
              <a:t>계약</a:t>
            </a:r>
            <a:r>
              <a:rPr lang="en-US" sz="2000" spc="-40" strike="noStrike" u="none">
                <a:solidFill>
                  <a:srgbClr val="333333">
                    <a:alpha val="69804"/>
                  </a:srgbClr>
                </a:solidFill>
                <a:latin typeface="JASO Sans"/>
                <a:ea typeface="JASO Sans"/>
                <a:cs typeface="JASO Sans"/>
                <a:sym typeface="JASO Sans"/>
              </a:rPr>
              <a:t> 협상 및 브리핑 진행</a:t>
            </a:r>
          </a:p>
          <a:p>
            <a:pPr algn="ctr">
              <a:lnSpc>
                <a:spcPts val="3000"/>
              </a:lnSpc>
            </a:pPr>
          </a:p>
        </p:txBody>
      </p:sp>
      <p:sp>
        <p:nvSpPr>
          <p:cNvPr name="Freeform 21" id="21"/>
          <p:cNvSpPr/>
          <p:nvPr/>
        </p:nvSpPr>
        <p:spPr>
          <a:xfrm flipH="false" flipV="false" rot="0">
            <a:off x="2577352" y="7227097"/>
            <a:ext cx="187008" cy="142594"/>
          </a:xfrm>
          <a:custGeom>
            <a:avLst/>
            <a:gdLst/>
            <a:ahLst/>
            <a:cxnLst/>
            <a:rect r="r" b="b" t="t" l="l"/>
            <a:pathLst>
              <a:path h="142594" w="187008">
                <a:moveTo>
                  <a:pt x="0" y="0"/>
                </a:moveTo>
                <a:lnTo>
                  <a:pt x="187008" y="0"/>
                </a:lnTo>
                <a:lnTo>
                  <a:pt x="187008" y="142594"/>
                </a:lnTo>
                <a:lnTo>
                  <a:pt x="0" y="1425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7891867" y="7227097"/>
            <a:ext cx="187008" cy="142594"/>
          </a:xfrm>
          <a:custGeom>
            <a:avLst/>
            <a:gdLst/>
            <a:ahLst/>
            <a:cxnLst/>
            <a:rect r="r" b="b" t="t" l="l"/>
            <a:pathLst>
              <a:path h="142594" w="187008">
                <a:moveTo>
                  <a:pt x="0" y="0"/>
                </a:moveTo>
                <a:lnTo>
                  <a:pt x="187008" y="0"/>
                </a:lnTo>
                <a:lnTo>
                  <a:pt x="187008" y="142594"/>
                </a:lnTo>
                <a:lnTo>
                  <a:pt x="0" y="1425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p:cNvSpPr/>
          <p:nvPr/>
        </p:nvSpPr>
        <p:spPr>
          <a:xfrm flipH="false" flipV="false" rot="0">
            <a:off x="12796540" y="7227097"/>
            <a:ext cx="187008" cy="142594"/>
          </a:xfrm>
          <a:custGeom>
            <a:avLst/>
            <a:gdLst/>
            <a:ahLst/>
            <a:cxnLst/>
            <a:rect r="r" b="b" t="t" l="l"/>
            <a:pathLst>
              <a:path h="142594" w="187008">
                <a:moveTo>
                  <a:pt x="0" y="0"/>
                </a:moveTo>
                <a:lnTo>
                  <a:pt x="187009" y="0"/>
                </a:lnTo>
                <a:lnTo>
                  <a:pt x="187009" y="142594"/>
                </a:lnTo>
                <a:lnTo>
                  <a:pt x="0" y="1425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24" id="24"/>
          <p:cNvSpPr/>
          <p:nvPr/>
        </p:nvSpPr>
        <p:spPr>
          <a:xfrm>
            <a:off x="1717316" y="7818066"/>
            <a:ext cx="4560294" cy="9525"/>
          </a:xfrm>
          <a:prstGeom prst="line">
            <a:avLst/>
          </a:prstGeom>
          <a:ln cap="flat" w="9525">
            <a:solidFill>
              <a:srgbClr val="B3B3B3"/>
            </a:solidFill>
            <a:prstDash val="solid"/>
            <a:headEnd type="none" len="sm" w="sm"/>
            <a:tailEnd type="none" len="sm" w="sm"/>
          </a:ln>
        </p:spPr>
      </p:sp>
      <p:sp>
        <p:nvSpPr>
          <p:cNvPr name="AutoShape 25" id="25"/>
          <p:cNvSpPr/>
          <p:nvPr/>
        </p:nvSpPr>
        <p:spPr>
          <a:xfrm>
            <a:off x="6863853" y="7818066"/>
            <a:ext cx="4560294" cy="9525"/>
          </a:xfrm>
          <a:prstGeom prst="line">
            <a:avLst/>
          </a:prstGeom>
          <a:ln cap="flat" w="9525">
            <a:solidFill>
              <a:srgbClr val="B3B3B3"/>
            </a:solidFill>
            <a:prstDash val="solid"/>
            <a:headEnd type="none" len="sm" w="sm"/>
            <a:tailEnd type="none" len="sm" w="sm"/>
          </a:ln>
        </p:spPr>
      </p:sp>
      <p:sp>
        <p:nvSpPr>
          <p:cNvPr name="AutoShape 26" id="26"/>
          <p:cNvSpPr/>
          <p:nvPr/>
        </p:nvSpPr>
        <p:spPr>
          <a:xfrm>
            <a:off x="12019915" y="7818066"/>
            <a:ext cx="4560294" cy="9525"/>
          </a:xfrm>
          <a:prstGeom prst="line">
            <a:avLst/>
          </a:prstGeom>
          <a:ln cap="flat" w="9525">
            <a:solidFill>
              <a:srgbClr val="B3B3B3"/>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1416"/>
            <a:chOff x="0" y="0"/>
            <a:chExt cx="3762963" cy="37328"/>
          </a:xfrm>
        </p:grpSpPr>
        <p:sp>
          <p:nvSpPr>
            <p:cNvPr name="Freeform 3" id="3"/>
            <p:cNvSpPr/>
            <p:nvPr/>
          </p:nvSpPr>
          <p:spPr>
            <a:xfrm flipH="false" flipV="false" rot="0">
              <a:off x="0" y="0"/>
              <a:ext cx="3762963" cy="37328"/>
            </a:xfrm>
            <a:custGeom>
              <a:avLst/>
              <a:gdLst/>
              <a:ahLst/>
              <a:cxnLst/>
              <a:rect r="r" b="b" t="t" l="l"/>
              <a:pathLst>
                <a:path h="37328" w="3762963">
                  <a:moveTo>
                    <a:pt x="0" y="0"/>
                  </a:moveTo>
                  <a:lnTo>
                    <a:pt x="3762963" y="0"/>
                  </a:lnTo>
                  <a:lnTo>
                    <a:pt x="3762963" y="37328"/>
                  </a:lnTo>
                  <a:lnTo>
                    <a:pt x="0" y="37328"/>
                  </a:lnTo>
                  <a:close/>
                </a:path>
              </a:pathLst>
            </a:custGeom>
            <a:solidFill>
              <a:srgbClr val="416F6C"/>
            </a:solidFill>
          </p:spPr>
        </p:sp>
        <p:sp>
          <p:nvSpPr>
            <p:cNvPr name="TextBox 4" id="4"/>
            <p:cNvSpPr txBox="true"/>
            <p:nvPr/>
          </p:nvSpPr>
          <p:spPr>
            <a:xfrm>
              <a:off x="0" y="-57150"/>
              <a:ext cx="3762963" cy="94478"/>
            </a:xfrm>
            <a:prstGeom prst="rect">
              <a:avLst/>
            </a:prstGeom>
          </p:spPr>
          <p:txBody>
            <a:bodyPr anchor="ctr" rtlCol="false" tIns="50800" lIns="50800" bIns="50800" rIns="50800"/>
            <a:lstStyle/>
            <a:p>
              <a:pPr algn="ctr">
                <a:lnSpc>
                  <a:spcPts val="2541"/>
                </a:lnSpc>
              </a:pPr>
            </a:p>
          </p:txBody>
        </p:sp>
      </p:grpSp>
      <p:sp>
        <p:nvSpPr>
          <p:cNvPr name="AutoShape 5" id="5"/>
          <p:cNvSpPr/>
          <p:nvPr/>
        </p:nvSpPr>
        <p:spPr>
          <a:xfrm>
            <a:off x="844732" y="2064885"/>
            <a:ext cx="16598535" cy="0"/>
          </a:xfrm>
          <a:prstGeom prst="line">
            <a:avLst/>
          </a:prstGeom>
          <a:ln cap="flat" w="9525">
            <a:solidFill>
              <a:srgbClr val="416F6C"/>
            </a:solidFill>
            <a:prstDash val="solid"/>
            <a:headEnd type="none" len="sm" w="sm"/>
            <a:tailEnd type="none" len="sm" w="sm"/>
          </a:ln>
        </p:spPr>
      </p:sp>
      <p:sp>
        <p:nvSpPr>
          <p:cNvPr name="TextBox 6" id="6"/>
          <p:cNvSpPr txBox="true"/>
          <p:nvPr/>
        </p:nvSpPr>
        <p:spPr>
          <a:xfrm rot="0">
            <a:off x="1601101" y="917525"/>
            <a:ext cx="9792550" cy="733022"/>
          </a:xfrm>
          <a:prstGeom prst="rect">
            <a:avLst/>
          </a:prstGeom>
        </p:spPr>
        <p:txBody>
          <a:bodyPr anchor="t" rtlCol="false" tIns="0" lIns="0" bIns="0" rIns="0">
            <a:spAutoFit/>
          </a:bodyPr>
          <a:lstStyle/>
          <a:p>
            <a:pPr algn="l" marL="0" indent="0" lvl="0">
              <a:lnSpc>
                <a:spcPts val="5508"/>
              </a:lnSpc>
            </a:pPr>
            <a:r>
              <a:rPr lang="en-US" b="true" sz="5400" spc="-108">
                <a:solidFill>
                  <a:srgbClr val="333333"/>
                </a:solidFill>
                <a:latin typeface="JASO Sans Bold"/>
                <a:ea typeface="JASO Sans Bold"/>
                <a:cs typeface="JASO Sans Bold"/>
                <a:sym typeface="JASO Sans Bold"/>
              </a:rPr>
              <a:t>위험 요소 및 완화 전략</a:t>
            </a:r>
          </a:p>
        </p:txBody>
      </p:sp>
      <p:sp>
        <p:nvSpPr>
          <p:cNvPr name="TextBox 7" id="7"/>
          <p:cNvSpPr txBox="true"/>
          <p:nvPr/>
        </p:nvSpPr>
        <p:spPr>
          <a:xfrm rot="0">
            <a:off x="8078875" y="1328115"/>
            <a:ext cx="4543751" cy="228644"/>
          </a:xfrm>
          <a:prstGeom prst="rect">
            <a:avLst/>
          </a:prstGeom>
        </p:spPr>
        <p:txBody>
          <a:bodyPr anchor="t" rtlCol="false" tIns="0" lIns="0" bIns="0" rIns="0">
            <a:spAutoFit/>
          </a:bodyPr>
          <a:lstStyle/>
          <a:p>
            <a:pPr algn="l">
              <a:lnSpc>
                <a:spcPts val="1800"/>
              </a:lnSpc>
            </a:pPr>
            <a:r>
              <a:rPr lang="en-US" sz="1500" spc="-30">
                <a:solidFill>
                  <a:srgbClr val="333333">
                    <a:alpha val="32941"/>
                  </a:srgbClr>
                </a:solidFill>
                <a:latin typeface="JASO Sans"/>
                <a:ea typeface="JASO Sans"/>
                <a:cs typeface="JASO Sans"/>
                <a:sym typeface="JASO Sans"/>
              </a:rPr>
              <a:t>메인타이틀에 대한 세부 설명을 입력해 주세요.</a:t>
            </a:r>
          </a:p>
        </p:txBody>
      </p:sp>
      <p:sp>
        <p:nvSpPr>
          <p:cNvPr name="Freeform 8" id="8"/>
          <p:cNvSpPr/>
          <p:nvPr/>
        </p:nvSpPr>
        <p:spPr>
          <a:xfrm flipH="false" flipV="false" rot="0">
            <a:off x="1028700" y="1059829"/>
            <a:ext cx="362690" cy="362690"/>
          </a:xfrm>
          <a:custGeom>
            <a:avLst/>
            <a:gdLst/>
            <a:ahLst/>
            <a:cxnLst/>
            <a:rect r="r" b="b" t="t" l="l"/>
            <a:pathLst>
              <a:path h="362690" w="362690">
                <a:moveTo>
                  <a:pt x="0" y="0"/>
                </a:moveTo>
                <a:lnTo>
                  <a:pt x="362690" y="0"/>
                </a:lnTo>
                <a:lnTo>
                  <a:pt x="362690" y="362690"/>
                </a:lnTo>
                <a:lnTo>
                  <a:pt x="0" y="362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6648529" y="3549218"/>
            <a:ext cx="4990942" cy="4953510"/>
          </a:xfrm>
          <a:custGeom>
            <a:avLst/>
            <a:gdLst/>
            <a:ahLst/>
            <a:cxnLst/>
            <a:rect r="r" b="b" t="t" l="l"/>
            <a:pathLst>
              <a:path h="4953510" w="4990942">
                <a:moveTo>
                  <a:pt x="0" y="0"/>
                </a:moveTo>
                <a:lnTo>
                  <a:pt x="4990942" y="0"/>
                </a:lnTo>
                <a:lnTo>
                  <a:pt x="4990942" y="4953510"/>
                </a:lnTo>
                <a:lnTo>
                  <a:pt x="0" y="49535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7193271" y="4038027"/>
            <a:ext cx="1364411" cy="1259452"/>
            <a:chOff x="0" y="0"/>
            <a:chExt cx="359351" cy="331708"/>
          </a:xfrm>
        </p:grpSpPr>
        <p:sp>
          <p:nvSpPr>
            <p:cNvPr name="Freeform 11" id="11"/>
            <p:cNvSpPr/>
            <p:nvPr/>
          </p:nvSpPr>
          <p:spPr>
            <a:xfrm flipH="false" flipV="false" rot="0">
              <a:off x="0" y="0"/>
              <a:ext cx="359351" cy="331708"/>
            </a:xfrm>
            <a:custGeom>
              <a:avLst/>
              <a:gdLst/>
              <a:ahLst/>
              <a:cxnLst/>
              <a:rect r="r" b="b" t="t" l="l"/>
              <a:pathLst>
                <a:path h="331708" w="359351">
                  <a:moveTo>
                    <a:pt x="0" y="0"/>
                  </a:moveTo>
                  <a:lnTo>
                    <a:pt x="359351" y="0"/>
                  </a:lnTo>
                  <a:lnTo>
                    <a:pt x="359351" y="331708"/>
                  </a:lnTo>
                  <a:lnTo>
                    <a:pt x="0" y="331708"/>
                  </a:lnTo>
                  <a:close/>
                </a:path>
              </a:pathLst>
            </a:custGeom>
            <a:solidFill>
              <a:srgbClr val="416F6C"/>
            </a:solidFill>
          </p:spPr>
        </p:sp>
        <p:sp>
          <p:nvSpPr>
            <p:cNvPr name="TextBox 12" id="12"/>
            <p:cNvSpPr txBox="true"/>
            <p:nvPr/>
          </p:nvSpPr>
          <p:spPr>
            <a:xfrm>
              <a:off x="0" y="-57150"/>
              <a:ext cx="359351" cy="388858"/>
            </a:xfrm>
            <a:prstGeom prst="rect">
              <a:avLst/>
            </a:prstGeom>
          </p:spPr>
          <p:txBody>
            <a:bodyPr anchor="ctr" rtlCol="false" tIns="50800" lIns="50800" bIns="50800" rIns="50800"/>
            <a:lstStyle/>
            <a:p>
              <a:pPr algn="ctr">
                <a:lnSpc>
                  <a:spcPts val="2541"/>
                </a:lnSpc>
              </a:pPr>
            </a:p>
          </p:txBody>
        </p:sp>
      </p:grpSp>
      <p:grpSp>
        <p:nvGrpSpPr>
          <p:cNvPr name="Group 13" id="13"/>
          <p:cNvGrpSpPr/>
          <p:nvPr/>
        </p:nvGrpSpPr>
        <p:grpSpPr>
          <a:xfrm rot="0">
            <a:off x="9880916" y="4038027"/>
            <a:ext cx="1364411" cy="1259452"/>
            <a:chOff x="0" y="0"/>
            <a:chExt cx="359351" cy="331708"/>
          </a:xfrm>
        </p:grpSpPr>
        <p:sp>
          <p:nvSpPr>
            <p:cNvPr name="Freeform 14" id="14"/>
            <p:cNvSpPr/>
            <p:nvPr/>
          </p:nvSpPr>
          <p:spPr>
            <a:xfrm flipH="false" flipV="false" rot="0">
              <a:off x="0" y="0"/>
              <a:ext cx="359351" cy="331708"/>
            </a:xfrm>
            <a:custGeom>
              <a:avLst/>
              <a:gdLst/>
              <a:ahLst/>
              <a:cxnLst/>
              <a:rect r="r" b="b" t="t" l="l"/>
              <a:pathLst>
                <a:path h="331708" w="359351">
                  <a:moveTo>
                    <a:pt x="0" y="0"/>
                  </a:moveTo>
                  <a:lnTo>
                    <a:pt x="359351" y="0"/>
                  </a:lnTo>
                  <a:lnTo>
                    <a:pt x="359351" y="331708"/>
                  </a:lnTo>
                  <a:lnTo>
                    <a:pt x="0" y="331708"/>
                  </a:lnTo>
                  <a:close/>
                </a:path>
              </a:pathLst>
            </a:custGeom>
            <a:solidFill>
              <a:srgbClr val="C1C1C1"/>
            </a:solidFill>
          </p:spPr>
        </p:sp>
        <p:sp>
          <p:nvSpPr>
            <p:cNvPr name="TextBox 15" id="15"/>
            <p:cNvSpPr txBox="true"/>
            <p:nvPr/>
          </p:nvSpPr>
          <p:spPr>
            <a:xfrm>
              <a:off x="0" y="-57150"/>
              <a:ext cx="359351" cy="388858"/>
            </a:xfrm>
            <a:prstGeom prst="rect">
              <a:avLst/>
            </a:prstGeom>
          </p:spPr>
          <p:txBody>
            <a:bodyPr anchor="ctr" rtlCol="false" tIns="50800" lIns="50800" bIns="50800" rIns="50800"/>
            <a:lstStyle/>
            <a:p>
              <a:pPr algn="ctr">
                <a:lnSpc>
                  <a:spcPts val="2541"/>
                </a:lnSpc>
              </a:pPr>
            </a:p>
          </p:txBody>
        </p:sp>
      </p:grpSp>
      <p:grpSp>
        <p:nvGrpSpPr>
          <p:cNvPr name="Group 16" id="16"/>
          <p:cNvGrpSpPr/>
          <p:nvPr/>
        </p:nvGrpSpPr>
        <p:grpSpPr>
          <a:xfrm rot="0">
            <a:off x="9880916" y="6781665"/>
            <a:ext cx="1364411" cy="1259452"/>
            <a:chOff x="0" y="0"/>
            <a:chExt cx="359351" cy="331708"/>
          </a:xfrm>
        </p:grpSpPr>
        <p:sp>
          <p:nvSpPr>
            <p:cNvPr name="Freeform 17" id="17"/>
            <p:cNvSpPr/>
            <p:nvPr/>
          </p:nvSpPr>
          <p:spPr>
            <a:xfrm flipH="false" flipV="false" rot="0">
              <a:off x="0" y="0"/>
              <a:ext cx="359351" cy="331708"/>
            </a:xfrm>
            <a:custGeom>
              <a:avLst/>
              <a:gdLst/>
              <a:ahLst/>
              <a:cxnLst/>
              <a:rect r="r" b="b" t="t" l="l"/>
              <a:pathLst>
                <a:path h="331708" w="359351">
                  <a:moveTo>
                    <a:pt x="0" y="0"/>
                  </a:moveTo>
                  <a:lnTo>
                    <a:pt x="359351" y="0"/>
                  </a:lnTo>
                  <a:lnTo>
                    <a:pt x="359351" y="331708"/>
                  </a:lnTo>
                  <a:lnTo>
                    <a:pt x="0" y="331708"/>
                  </a:lnTo>
                  <a:close/>
                </a:path>
              </a:pathLst>
            </a:custGeom>
            <a:solidFill>
              <a:srgbClr val="416F6C"/>
            </a:solidFill>
          </p:spPr>
        </p:sp>
        <p:sp>
          <p:nvSpPr>
            <p:cNvPr name="TextBox 18" id="18"/>
            <p:cNvSpPr txBox="true"/>
            <p:nvPr/>
          </p:nvSpPr>
          <p:spPr>
            <a:xfrm>
              <a:off x="0" y="-57150"/>
              <a:ext cx="359351" cy="388858"/>
            </a:xfrm>
            <a:prstGeom prst="rect">
              <a:avLst/>
            </a:prstGeom>
          </p:spPr>
          <p:txBody>
            <a:bodyPr anchor="ctr" rtlCol="false" tIns="50800" lIns="50800" bIns="50800" rIns="50800"/>
            <a:lstStyle/>
            <a:p>
              <a:pPr algn="ctr">
                <a:lnSpc>
                  <a:spcPts val="2541"/>
                </a:lnSpc>
              </a:pPr>
            </a:p>
          </p:txBody>
        </p:sp>
      </p:grpSp>
      <p:grpSp>
        <p:nvGrpSpPr>
          <p:cNvPr name="Group 19" id="19"/>
          <p:cNvGrpSpPr/>
          <p:nvPr/>
        </p:nvGrpSpPr>
        <p:grpSpPr>
          <a:xfrm rot="0">
            <a:off x="6941305" y="6781665"/>
            <a:ext cx="1364411" cy="1259452"/>
            <a:chOff x="0" y="0"/>
            <a:chExt cx="359351" cy="331708"/>
          </a:xfrm>
        </p:grpSpPr>
        <p:sp>
          <p:nvSpPr>
            <p:cNvPr name="Freeform 20" id="20"/>
            <p:cNvSpPr/>
            <p:nvPr/>
          </p:nvSpPr>
          <p:spPr>
            <a:xfrm flipH="false" flipV="false" rot="0">
              <a:off x="0" y="0"/>
              <a:ext cx="359351" cy="331708"/>
            </a:xfrm>
            <a:custGeom>
              <a:avLst/>
              <a:gdLst/>
              <a:ahLst/>
              <a:cxnLst/>
              <a:rect r="r" b="b" t="t" l="l"/>
              <a:pathLst>
                <a:path h="331708" w="359351">
                  <a:moveTo>
                    <a:pt x="0" y="0"/>
                  </a:moveTo>
                  <a:lnTo>
                    <a:pt x="359351" y="0"/>
                  </a:lnTo>
                  <a:lnTo>
                    <a:pt x="359351" y="331708"/>
                  </a:lnTo>
                  <a:lnTo>
                    <a:pt x="0" y="331708"/>
                  </a:lnTo>
                  <a:close/>
                </a:path>
              </a:pathLst>
            </a:custGeom>
            <a:solidFill>
              <a:srgbClr val="D3D3D3"/>
            </a:solidFill>
          </p:spPr>
        </p:sp>
        <p:sp>
          <p:nvSpPr>
            <p:cNvPr name="TextBox 21" id="21"/>
            <p:cNvSpPr txBox="true"/>
            <p:nvPr/>
          </p:nvSpPr>
          <p:spPr>
            <a:xfrm>
              <a:off x="0" y="-57150"/>
              <a:ext cx="359351" cy="388858"/>
            </a:xfrm>
            <a:prstGeom prst="rect">
              <a:avLst/>
            </a:prstGeom>
          </p:spPr>
          <p:txBody>
            <a:bodyPr anchor="ctr" rtlCol="false" tIns="50800" lIns="50800" bIns="50800" rIns="50800"/>
            <a:lstStyle/>
            <a:p>
              <a:pPr algn="ctr">
                <a:lnSpc>
                  <a:spcPts val="2541"/>
                </a:lnSpc>
              </a:pPr>
            </a:p>
          </p:txBody>
        </p:sp>
      </p:grpSp>
      <p:sp>
        <p:nvSpPr>
          <p:cNvPr name="TextBox 22" id="22"/>
          <p:cNvSpPr txBox="true"/>
          <p:nvPr/>
        </p:nvSpPr>
        <p:spPr>
          <a:xfrm rot="0">
            <a:off x="7098021" y="4123467"/>
            <a:ext cx="1364411" cy="1333126"/>
          </a:xfrm>
          <a:prstGeom prst="rect">
            <a:avLst/>
          </a:prstGeom>
        </p:spPr>
        <p:txBody>
          <a:bodyPr anchor="t" rtlCol="false" tIns="0" lIns="0" bIns="0" rIns="0">
            <a:spAutoFit/>
          </a:bodyPr>
          <a:lstStyle/>
          <a:p>
            <a:pPr algn="ctr">
              <a:lnSpc>
                <a:spcPts val="8742"/>
              </a:lnSpc>
            </a:pPr>
            <a:r>
              <a:rPr lang="en-US" sz="10533" spc="179">
                <a:solidFill>
                  <a:srgbClr val="FAFAFA"/>
                </a:solidFill>
                <a:latin typeface="Poppins"/>
                <a:ea typeface="Poppins"/>
                <a:cs typeface="Poppins"/>
                <a:sym typeface="Poppins"/>
              </a:rPr>
              <a:t>S</a:t>
            </a:r>
          </a:p>
        </p:txBody>
      </p:sp>
      <p:sp>
        <p:nvSpPr>
          <p:cNvPr name="TextBox 23" id="23"/>
          <p:cNvSpPr txBox="true"/>
          <p:nvPr/>
        </p:nvSpPr>
        <p:spPr>
          <a:xfrm rot="0">
            <a:off x="7098021" y="6843002"/>
            <a:ext cx="1364411" cy="1333126"/>
          </a:xfrm>
          <a:prstGeom prst="rect">
            <a:avLst/>
          </a:prstGeom>
        </p:spPr>
        <p:txBody>
          <a:bodyPr anchor="t" rtlCol="false" tIns="0" lIns="0" bIns="0" rIns="0">
            <a:spAutoFit/>
          </a:bodyPr>
          <a:lstStyle/>
          <a:p>
            <a:pPr algn="ctr">
              <a:lnSpc>
                <a:spcPts val="8742"/>
              </a:lnSpc>
            </a:pPr>
            <a:r>
              <a:rPr lang="en-US" sz="10533" spc="179">
                <a:solidFill>
                  <a:srgbClr val="416F6C"/>
                </a:solidFill>
                <a:latin typeface="Poppins"/>
                <a:ea typeface="Poppins"/>
                <a:cs typeface="Poppins"/>
                <a:sym typeface="Poppins"/>
              </a:rPr>
              <a:t>O</a:t>
            </a:r>
          </a:p>
        </p:txBody>
      </p:sp>
      <p:sp>
        <p:nvSpPr>
          <p:cNvPr name="TextBox 24" id="24"/>
          <p:cNvSpPr txBox="true"/>
          <p:nvPr/>
        </p:nvSpPr>
        <p:spPr>
          <a:xfrm rot="0">
            <a:off x="9823766" y="4123467"/>
            <a:ext cx="1364411" cy="1333126"/>
          </a:xfrm>
          <a:prstGeom prst="rect">
            <a:avLst/>
          </a:prstGeom>
        </p:spPr>
        <p:txBody>
          <a:bodyPr anchor="t" rtlCol="false" tIns="0" lIns="0" bIns="0" rIns="0">
            <a:spAutoFit/>
          </a:bodyPr>
          <a:lstStyle/>
          <a:p>
            <a:pPr algn="ctr">
              <a:lnSpc>
                <a:spcPts val="8742"/>
              </a:lnSpc>
            </a:pPr>
            <a:r>
              <a:rPr lang="en-US" sz="10533" spc="179">
                <a:solidFill>
                  <a:srgbClr val="416F6C"/>
                </a:solidFill>
                <a:latin typeface="Poppins"/>
                <a:ea typeface="Poppins"/>
                <a:cs typeface="Poppins"/>
                <a:sym typeface="Poppins"/>
              </a:rPr>
              <a:t>W</a:t>
            </a:r>
          </a:p>
        </p:txBody>
      </p:sp>
      <p:sp>
        <p:nvSpPr>
          <p:cNvPr name="TextBox 25" id="25"/>
          <p:cNvSpPr txBox="true"/>
          <p:nvPr/>
        </p:nvSpPr>
        <p:spPr>
          <a:xfrm rot="0">
            <a:off x="9823766" y="6881102"/>
            <a:ext cx="1364411" cy="1333126"/>
          </a:xfrm>
          <a:prstGeom prst="rect">
            <a:avLst/>
          </a:prstGeom>
        </p:spPr>
        <p:txBody>
          <a:bodyPr anchor="t" rtlCol="false" tIns="0" lIns="0" bIns="0" rIns="0">
            <a:spAutoFit/>
          </a:bodyPr>
          <a:lstStyle/>
          <a:p>
            <a:pPr algn="ctr">
              <a:lnSpc>
                <a:spcPts val="8742"/>
              </a:lnSpc>
            </a:pPr>
            <a:r>
              <a:rPr lang="en-US" sz="10533" spc="179">
                <a:solidFill>
                  <a:srgbClr val="FAFAFA"/>
                </a:solidFill>
                <a:latin typeface="Poppins"/>
                <a:ea typeface="Poppins"/>
                <a:cs typeface="Poppins"/>
                <a:sym typeface="Poppins"/>
              </a:rPr>
              <a:t>T</a:t>
            </a:r>
          </a:p>
        </p:txBody>
      </p:sp>
      <p:sp>
        <p:nvSpPr>
          <p:cNvPr name="TextBox 26" id="26"/>
          <p:cNvSpPr txBox="true"/>
          <p:nvPr/>
        </p:nvSpPr>
        <p:spPr>
          <a:xfrm rot="0">
            <a:off x="12197437" y="4323118"/>
            <a:ext cx="4382791" cy="1133475"/>
          </a:xfrm>
          <a:prstGeom prst="rect">
            <a:avLst/>
          </a:prstGeom>
        </p:spPr>
        <p:txBody>
          <a:bodyPr anchor="t" rtlCol="false" tIns="0" lIns="0" bIns="0" rIns="0">
            <a:spAutoFit/>
          </a:bodyPr>
          <a:lstStyle/>
          <a:p>
            <a:pPr algn="l">
              <a:lnSpc>
                <a:spcPts val="3000"/>
              </a:lnSpc>
            </a:pPr>
            <a:r>
              <a:rPr lang="en-US" sz="2000" spc="-40">
                <a:solidFill>
                  <a:srgbClr val="333333">
                    <a:alpha val="69804"/>
                  </a:srgbClr>
                </a:solidFill>
                <a:latin typeface="JASO Sans"/>
                <a:ea typeface="JASO Sans"/>
                <a:cs typeface="JASO Sans"/>
                <a:sym typeface="JASO Sans"/>
              </a:rPr>
              <a:t>플랫폼 알고리즘 변</a:t>
            </a:r>
            <a:r>
              <a:rPr lang="en-US" sz="2000" spc="-40" strike="noStrike" u="none">
                <a:solidFill>
                  <a:srgbClr val="333333">
                    <a:alpha val="69804"/>
                  </a:srgbClr>
                </a:solidFill>
                <a:latin typeface="JASO Sans"/>
                <a:ea typeface="JASO Sans"/>
                <a:cs typeface="JASO Sans"/>
                <a:sym typeface="JASO Sans"/>
              </a:rPr>
              <a:t>화에 민감해 연 2-3회 주요 변경 시 도달율 30-5</a:t>
            </a:r>
            <a:r>
              <a:rPr lang="en-US" sz="2000" spc="-40" strike="noStrike" u="none">
                <a:solidFill>
                  <a:srgbClr val="333333">
                    <a:alpha val="69804"/>
                  </a:srgbClr>
                </a:solidFill>
                <a:latin typeface="JASO Sans"/>
                <a:ea typeface="JASO Sans"/>
                <a:cs typeface="JASO Sans"/>
                <a:sym typeface="JASO Sans"/>
              </a:rPr>
              <a:t>0% 감소</a:t>
            </a:r>
            <a:r>
              <a:rPr lang="en-US" sz="2000" spc="-40" strike="noStrike" u="none">
                <a:solidFill>
                  <a:srgbClr val="333333">
                    <a:alpha val="69804"/>
                  </a:srgbClr>
                </a:solidFill>
                <a:latin typeface="JASO Sans"/>
                <a:ea typeface="JASO Sans"/>
                <a:cs typeface="JASO Sans"/>
                <a:sym typeface="JASO Sans"/>
              </a:rPr>
              <a:t> 가능 브랜드 평판 이슈 월 1-2회 소규모 발생 가능</a:t>
            </a:r>
          </a:p>
        </p:txBody>
      </p:sp>
      <p:sp>
        <p:nvSpPr>
          <p:cNvPr name="TextBox 27" id="27"/>
          <p:cNvSpPr txBox="true"/>
          <p:nvPr/>
        </p:nvSpPr>
        <p:spPr>
          <a:xfrm rot="0">
            <a:off x="1717296" y="4323118"/>
            <a:ext cx="4382791" cy="1133475"/>
          </a:xfrm>
          <a:prstGeom prst="rect">
            <a:avLst/>
          </a:prstGeom>
        </p:spPr>
        <p:txBody>
          <a:bodyPr anchor="t" rtlCol="false" tIns="0" lIns="0" bIns="0" rIns="0">
            <a:spAutoFit/>
          </a:bodyPr>
          <a:lstStyle/>
          <a:p>
            <a:pPr algn="r">
              <a:lnSpc>
                <a:spcPts val="3000"/>
              </a:lnSpc>
            </a:pPr>
            <a:r>
              <a:rPr lang="en-US" sz="2000" spc="-40">
                <a:solidFill>
                  <a:srgbClr val="333333">
                    <a:alpha val="69804"/>
                  </a:srgbClr>
                </a:solidFill>
                <a:latin typeface="JASO Sans"/>
                <a:ea typeface="JASO Sans"/>
                <a:cs typeface="JASO Sans"/>
                <a:sym typeface="JASO Sans"/>
              </a:rPr>
              <a:t>다채널 분산 전략으로 단일 플랫폼 의존도 최대 28%로 제한 유료 광고 예산 탄력적</a:t>
            </a:r>
          </a:p>
          <a:p>
            <a:pPr algn="r">
              <a:lnSpc>
                <a:spcPts val="3000"/>
              </a:lnSpc>
            </a:pPr>
            <a:r>
              <a:rPr lang="en-US" sz="2000" spc="-40">
                <a:solidFill>
                  <a:srgbClr val="333333">
                    <a:alpha val="69804"/>
                  </a:srgbClr>
                </a:solidFill>
                <a:latin typeface="JASO Sans"/>
                <a:ea typeface="JASO Sans"/>
                <a:cs typeface="JASO Sans"/>
                <a:sym typeface="JASO Sans"/>
              </a:rPr>
              <a:t>운영으로</a:t>
            </a:r>
            <a:r>
              <a:rPr lang="en-US" sz="2000" spc="-40" strike="noStrike" u="none">
                <a:solidFill>
                  <a:srgbClr val="333333">
                    <a:alpha val="69804"/>
                  </a:srgbClr>
                </a:solidFill>
                <a:latin typeface="JASO Sans"/>
                <a:ea typeface="JASO Sans"/>
                <a:cs typeface="JASO Sans"/>
                <a:sym typeface="JASO Sans"/>
              </a:rPr>
              <a:t> 즉시 대응 가능</a:t>
            </a:r>
          </a:p>
        </p:txBody>
      </p:sp>
      <p:sp>
        <p:nvSpPr>
          <p:cNvPr name="TextBox 28" id="28"/>
          <p:cNvSpPr txBox="true"/>
          <p:nvPr/>
        </p:nvSpPr>
        <p:spPr>
          <a:xfrm rot="0">
            <a:off x="12197437" y="7093143"/>
            <a:ext cx="4382791" cy="1133475"/>
          </a:xfrm>
          <a:prstGeom prst="rect">
            <a:avLst/>
          </a:prstGeom>
        </p:spPr>
        <p:txBody>
          <a:bodyPr anchor="t" rtlCol="false" tIns="0" lIns="0" bIns="0" rIns="0">
            <a:spAutoFit/>
          </a:bodyPr>
          <a:lstStyle/>
          <a:p>
            <a:pPr algn="l">
              <a:lnSpc>
                <a:spcPts val="3000"/>
              </a:lnSpc>
            </a:pPr>
            <a:r>
              <a:rPr lang="en-US" sz="2000" spc="-40">
                <a:solidFill>
                  <a:srgbClr val="333333">
                    <a:alpha val="69804"/>
                  </a:srgbClr>
                </a:solidFill>
                <a:latin typeface="JASO Sans"/>
                <a:ea typeface="JASO Sans"/>
                <a:cs typeface="JASO Sans"/>
                <a:sym typeface="JASO Sans"/>
              </a:rPr>
              <a:t>알고리즘 변경</a:t>
            </a:r>
            <a:r>
              <a:rPr lang="en-US" sz="2000" spc="-40" strike="noStrike" u="none">
                <a:solidFill>
                  <a:srgbClr val="333333">
                    <a:alpha val="69804"/>
                  </a:srgbClr>
                </a:solidFill>
                <a:latin typeface="JASO Sans"/>
                <a:ea typeface="JASO Sans"/>
                <a:cs typeface="JASO Sans"/>
                <a:sym typeface="JASO Sans"/>
              </a:rPr>
              <a:t> 빈도로 오가닉 도달 급감(도달율 30-50% 감소 가능) 브랜드 신뢰도 급락 위험(악성 댓글 및 확산)</a:t>
            </a:r>
          </a:p>
        </p:txBody>
      </p:sp>
      <p:sp>
        <p:nvSpPr>
          <p:cNvPr name="TextBox 29" id="29"/>
          <p:cNvSpPr txBox="true"/>
          <p:nvPr/>
        </p:nvSpPr>
        <p:spPr>
          <a:xfrm rot="0">
            <a:off x="1717296" y="7093143"/>
            <a:ext cx="4382791" cy="1514475"/>
          </a:xfrm>
          <a:prstGeom prst="rect">
            <a:avLst/>
          </a:prstGeom>
        </p:spPr>
        <p:txBody>
          <a:bodyPr anchor="t" rtlCol="false" tIns="0" lIns="0" bIns="0" rIns="0">
            <a:spAutoFit/>
          </a:bodyPr>
          <a:lstStyle/>
          <a:p>
            <a:pPr algn="r">
              <a:lnSpc>
                <a:spcPts val="3000"/>
              </a:lnSpc>
            </a:pPr>
            <a:r>
              <a:rPr lang="en-US" sz="2000" spc="-40">
                <a:solidFill>
                  <a:srgbClr val="333333">
                    <a:alpha val="69804"/>
                  </a:srgbClr>
                </a:solidFill>
                <a:latin typeface="JASO Sans"/>
                <a:ea typeface="JASO Sans"/>
                <a:cs typeface="JASO Sans"/>
                <a:sym typeface="JASO Sans"/>
              </a:rPr>
              <a:t>플랫폼 공식 파트너</a:t>
            </a:r>
            <a:r>
              <a:rPr lang="en-US" sz="2000" spc="-40" strike="noStrike" u="none">
                <a:solidFill>
                  <a:srgbClr val="333333">
                    <a:alpha val="69804"/>
                  </a:srgbClr>
                </a:solidFill>
                <a:latin typeface="JASO Sans"/>
                <a:ea typeface="JASO Sans"/>
                <a:cs typeface="JASO Sans"/>
                <a:sym typeface="JASO Sans"/>
              </a:rPr>
              <a:t> 관계로 사전 정보 수집 가능 신흥 플랫폼 조기 진입으로 초기 진입이점 확보력 강화</a:t>
            </a:r>
          </a:p>
          <a:p>
            <a:pPr algn="r">
              <a:lnSpc>
                <a:spcPts val="3000"/>
              </a:lnSpc>
            </a:pPr>
          </a:p>
        </p:txBody>
      </p:sp>
      <p:sp>
        <p:nvSpPr>
          <p:cNvPr name="TextBox 30" id="30"/>
          <p:cNvSpPr txBox="true"/>
          <p:nvPr/>
        </p:nvSpPr>
        <p:spPr>
          <a:xfrm rot="0">
            <a:off x="12470171" y="3689113"/>
            <a:ext cx="4018401" cy="480674"/>
          </a:xfrm>
          <a:prstGeom prst="rect">
            <a:avLst/>
          </a:prstGeom>
        </p:spPr>
        <p:txBody>
          <a:bodyPr anchor="t" rtlCol="false" tIns="0" lIns="0" bIns="0" rIns="0">
            <a:spAutoFit/>
          </a:bodyPr>
          <a:lstStyle/>
          <a:p>
            <a:pPr algn="l">
              <a:lnSpc>
                <a:spcPts val="4014"/>
              </a:lnSpc>
            </a:pPr>
            <a:r>
              <a:rPr lang="en-US" sz="2749" spc="-54" b="true">
                <a:solidFill>
                  <a:srgbClr val="333333"/>
                </a:solidFill>
                <a:latin typeface="JASO Sans Bold"/>
                <a:ea typeface="JASO Sans Bold"/>
                <a:cs typeface="JASO Sans Bold"/>
                <a:sym typeface="JASO Sans Bold"/>
              </a:rPr>
              <a:t>약점</a:t>
            </a:r>
          </a:p>
        </p:txBody>
      </p:sp>
      <p:sp>
        <p:nvSpPr>
          <p:cNvPr name="TextBox 31" id="31"/>
          <p:cNvSpPr txBox="true"/>
          <p:nvPr/>
        </p:nvSpPr>
        <p:spPr>
          <a:xfrm rot="0">
            <a:off x="1990030" y="3689113"/>
            <a:ext cx="4018401" cy="480674"/>
          </a:xfrm>
          <a:prstGeom prst="rect">
            <a:avLst/>
          </a:prstGeom>
        </p:spPr>
        <p:txBody>
          <a:bodyPr anchor="t" rtlCol="false" tIns="0" lIns="0" bIns="0" rIns="0">
            <a:spAutoFit/>
          </a:bodyPr>
          <a:lstStyle/>
          <a:p>
            <a:pPr algn="r">
              <a:lnSpc>
                <a:spcPts val="4014"/>
              </a:lnSpc>
            </a:pPr>
            <a:r>
              <a:rPr lang="en-US" b="true" sz="2749" spc="-54">
                <a:solidFill>
                  <a:srgbClr val="333333"/>
                </a:solidFill>
                <a:latin typeface="JASO Sans Bold"/>
                <a:ea typeface="JASO Sans Bold"/>
                <a:cs typeface="JASO Sans Bold"/>
                <a:sym typeface="JASO Sans Bold"/>
              </a:rPr>
              <a:t>강점</a:t>
            </a:r>
          </a:p>
        </p:txBody>
      </p:sp>
      <p:sp>
        <p:nvSpPr>
          <p:cNvPr name="TextBox 32" id="32"/>
          <p:cNvSpPr txBox="true"/>
          <p:nvPr/>
        </p:nvSpPr>
        <p:spPr>
          <a:xfrm rot="0">
            <a:off x="12470171" y="6459138"/>
            <a:ext cx="4018401" cy="480674"/>
          </a:xfrm>
          <a:prstGeom prst="rect">
            <a:avLst/>
          </a:prstGeom>
        </p:spPr>
        <p:txBody>
          <a:bodyPr anchor="t" rtlCol="false" tIns="0" lIns="0" bIns="0" rIns="0">
            <a:spAutoFit/>
          </a:bodyPr>
          <a:lstStyle/>
          <a:p>
            <a:pPr algn="l">
              <a:lnSpc>
                <a:spcPts val="4014"/>
              </a:lnSpc>
            </a:pPr>
            <a:r>
              <a:rPr lang="en-US" sz="2749" spc="-54" b="true">
                <a:solidFill>
                  <a:srgbClr val="333333"/>
                </a:solidFill>
                <a:latin typeface="JASO Sans Bold"/>
                <a:ea typeface="JASO Sans Bold"/>
                <a:cs typeface="JASO Sans Bold"/>
                <a:sym typeface="JASO Sans Bold"/>
              </a:rPr>
              <a:t>위협</a:t>
            </a:r>
          </a:p>
        </p:txBody>
      </p:sp>
      <p:sp>
        <p:nvSpPr>
          <p:cNvPr name="TextBox 33" id="33"/>
          <p:cNvSpPr txBox="true"/>
          <p:nvPr/>
        </p:nvSpPr>
        <p:spPr>
          <a:xfrm rot="0">
            <a:off x="1990030" y="6459138"/>
            <a:ext cx="4018401" cy="480674"/>
          </a:xfrm>
          <a:prstGeom prst="rect">
            <a:avLst/>
          </a:prstGeom>
        </p:spPr>
        <p:txBody>
          <a:bodyPr anchor="t" rtlCol="false" tIns="0" lIns="0" bIns="0" rIns="0">
            <a:spAutoFit/>
          </a:bodyPr>
          <a:lstStyle/>
          <a:p>
            <a:pPr algn="r">
              <a:lnSpc>
                <a:spcPts val="4014"/>
              </a:lnSpc>
            </a:pPr>
            <a:r>
              <a:rPr lang="en-US" b="true" sz="2749" spc="-54">
                <a:solidFill>
                  <a:srgbClr val="333333"/>
                </a:solidFill>
                <a:latin typeface="JASO Sans Bold"/>
                <a:ea typeface="JASO Sans Bold"/>
                <a:cs typeface="JASO Sans Bold"/>
                <a:sym typeface="JASO Sans Bold"/>
              </a:rPr>
              <a:t>기회</a:t>
            </a:r>
          </a:p>
        </p:txBody>
      </p:sp>
      <p:sp>
        <p:nvSpPr>
          <p:cNvPr name="Freeform 34" id="34"/>
          <p:cNvSpPr/>
          <p:nvPr/>
        </p:nvSpPr>
        <p:spPr>
          <a:xfrm flipH="false" flipV="false" rot="0">
            <a:off x="12197437" y="3881966"/>
            <a:ext cx="187008" cy="142594"/>
          </a:xfrm>
          <a:custGeom>
            <a:avLst/>
            <a:gdLst/>
            <a:ahLst/>
            <a:cxnLst/>
            <a:rect r="r" b="b" t="t" l="l"/>
            <a:pathLst>
              <a:path h="142594" w="187008">
                <a:moveTo>
                  <a:pt x="0" y="0"/>
                </a:moveTo>
                <a:lnTo>
                  <a:pt x="187009" y="0"/>
                </a:lnTo>
                <a:lnTo>
                  <a:pt x="187009" y="142594"/>
                </a:lnTo>
                <a:lnTo>
                  <a:pt x="0" y="1425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5" id="35"/>
          <p:cNvSpPr/>
          <p:nvPr/>
        </p:nvSpPr>
        <p:spPr>
          <a:xfrm flipH="false" flipV="false" rot="0">
            <a:off x="5099446" y="3881966"/>
            <a:ext cx="187008" cy="142594"/>
          </a:xfrm>
          <a:custGeom>
            <a:avLst/>
            <a:gdLst/>
            <a:ahLst/>
            <a:cxnLst/>
            <a:rect r="r" b="b" t="t" l="l"/>
            <a:pathLst>
              <a:path h="142594" w="187008">
                <a:moveTo>
                  <a:pt x="0" y="0"/>
                </a:moveTo>
                <a:lnTo>
                  <a:pt x="187008" y="0"/>
                </a:lnTo>
                <a:lnTo>
                  <a:pt x="187008" y="142594"/>
                </a:lnTo>
                <a:lnTo>
                  <a:pt x="0" y="1425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6" id="36"/>
          <p:cNvSpPr/>
          <p:nvPr/>
        </p:nvSpPr>
        <p:spPr>
          <a:xfrm flipH="false" flipV="false" rot="0">
            <a:off x="12197437" y="6651991"/>
            <a:ext cx="187008" cy="142594"/>
          </a:xfrm>
          <a:custGeom>
            <a:avLst/>
            <a:gdLst/>
            <a:ahLst/>
            <a:cxnLst/>
            <a:rect r="r" b="b" t="t" l="l"/>
            <a:pathLst>
              <a:path h="142594" w="187008">
                <a:moveTo>
                  <a:pt x="0" y="0"/>
                </a:moveTo>
                <a:lnTo>
                  <a:pt x="187009" y="0"/>
                </a:lnTo>
                <a:lnTo>
                  <a:pt x="187009" y="142593"/>
                </a:lnTo>
                <a:lnTo>
                  <a:pt x="0" y="1425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0">
            <a:off x="5099446" y="6651991"/>
            <a:ext cx="187008" cy="142594"/>
          </a:xfrm>
          <a:custGeom>
            <a:avLst/>
            <a:gdLst/>
            <a:ahLst/>
            <a:cxnLst/>
            <a:rect r="r" b="b" t="t" l="l"/>
            <a:pathLst>
              <a:path h="142594" w="187008">
                <a:moveTo>
                  <a:pt x="0" y="0"/>
                </a:moveTo>
                <a:lnTo>
                  <a:pt x="187008" y="0"/>
                </a:lnTo>
                <a:lnTo>
                  <a:pt x="187008" y="142593"/>
                </a:lnTo>
                <a:lnTo>
                  <a:pt x="0" y="1425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1416"/>
            <a:chOff x="0" y="0"/>
            <a:chExt cx="3762963" cy="37328"/>
          </a:xfrm>
        </p:grpSpPr>
        <p:sp>
          <p:nvSpPr>
            <p:cNvPr name="Freeform 3" id="3"/>
            <p:cNvSpPr/>
            <p:nvPr/>
          </p:nvSpPr>
          <p:spPr>
            <a:xfrm flipH="false" flipV="false" rot="0">
              <a:off x="0" y="0"/>
              <a:ext cx="3762963" cy="37328"/>
            </a:xfrm>
            <a:custGeom>
              <a:avLst/>
              <a:gdLst/>
              <a:ahLst/>
              <a:cxnLst/>
              <a:rect r="r" b="b" t="t" l="l"/>
              <a:pathLst>
                <a:path h="37328" w="3762963">
                  <a:moveTo>
                    <a:pt x="0" y="0"/>
                  </a:moveTo>
                  <a:lnTo>
                    <a:pt x="3762963" y="0"/>
                  </a:lnTo>
                  <a:lnTo>
                    <a:pt x="3762963" y="37328"/>
                  </a:lnTo>
                  <a:lnTo>
                    <a:pt x="0" y="37328"/>
                  </a:lnTo>
                  <a:close/>
                </a:path>
              </a:pathLst>
            </a:custGeom>
            <a:solidFill>
              <a:srgbClr val="416F6C"/>
            </a:solidFill>
          </p:spPr>
        </p:sp>
        <p:sp>
          <p:nvSpPr>
            <p:cNvPr name="TextBox 4" id="4"/>
            <p:cNvSpPr txBox="true"/>
            <p:nvPr/>
          </p:nvSpPr>
          <p:spPr>
            <a:xfrm>
              <a:off x="0" y="-57150"/>
              <a:ext cx="3762963" cy="94478"/>
            </a:xfrm>
            <a:prstGeom prst="rect">
              <a:avLst/>
            </a:prstGeom>
          </p:spPr>
          <p:txBody>
            <a:bodyPr anchor="ctr" rtlCol="false" tIns="50800" lIns="50800" bIns="50800" rIns="50800"/>
            <a:lstStyle/>
            <a:p>
              <a:pPr algn="ctr">
                <a:lnSpc>
                  <a:spcPts val="2541"/>
                </a:lnSpc>
              </a:pPr>
            </a:p>
          </p:txBody>
        </p:sp>
      </p:grpSp>
      <p:sp>
        <p:nvSpPr>
          <p:cNvPr name="AutoShape 5" id="5"/>
          <p:cNvSpPr/>
          <p:nvPr/>
        </p:nvSpPr>
        <p:spPr>
          <a:xfrm>
            <a:off x="844732" y="2064885"/>
            <a:ext cx="16598535" cy="0"/>
          </a:xfrm>
          <a:prstGeom prst="line">
            <a:avLst/>
          </a:prstGeom>
          <a:ln cap="flat" w="9525">
            <a:solidFill>
              <a:srgbClr val="416F6C"/>
            </a:solidFill>
            <a:prstDash val="solid"/>
            <a:headEnd type="none" len="sm" w="sm"/>
            <a:tailEnd type="none" len="sm" w="sm"/>
          </a:ln>
        </p:spPr>
      </p:sp>
      <p:sp>
        <p:nvSpPr>
          <p:cNvPr name="TextBox 6" id="6"/>
          <p:cNvSpPr txBox="true"/>
          <p:nvPr/>
        </p:nvSpPr>
        <p:spPr>
          <a:xfrm rot="0">
            <a:off x="1601101" y="917525"/>
            <a:ext cx="9792550" cy="733022"/>
          </a:xfrm>
          <a:prstGeom prst="rect">
            <a:avLst/>
          </a:prstGeom>
        </p:spPr>
        <p:txBody>
          <a:bodyPr anchor="t" rtlCol="false" tIns="0" lIns="0" bIns="0" rIns="0">
            <a:spAutoFit/>
          </a:bodyPr>
          <a:lstStyle/>
          <a:p>
            <a:pPr algn="l" marL="0" indent="0" lvl="0">
              <a:lnSpc>
                <a:spcPts val="5508"/>
              </a:lnSpc>
            </a:pPr>
            <a:r>
              <a:rPr lang="en-US" b="true" sz="5400" spc="-108">
                <a:solidFill>
                  <a:srgbClr val="333333"/>
                </a:solidFill>
                <a:latin typeface="JASO Sans Bold"/>
                <a:ea typeface="JASO Sans Bold"/>
                <a:cs typeface="JASO Sans Bold"/>
                <a:sym typeface="JASO Sans Bold"/>
              </a:rPr>
              <a:t>재무 전망과 ROI 요약</a:t>
            </a:r>
          </a:p>
        </p:txBody>
      </p:sp>
      <p:sp>
        <p:nvSpPr>
          <p:cNvPr name="TextBox 7" id="7"/>
          <p:cNvSpPr txBox="true"/>
          <p:nvPr/>
        </p:nvSpPr>
        <p:spPr>
          <a:xfrm rot="0">
            <a:off x="7780227" y="1328115"/>
            <a:ext cx="4543751" cy="228644"/>
          </a:xfrm>
          <a:prstGeom prst="rect">
            <a:avLst/>
          </a:prstGeom>
        </p:spPr>
        <p:txBody>
          <a:bodyPr anchor="t" rtlCol="false" tIns="0" lIns="0" bIns="0" rIns="0">
            <a:spAutoFit/>
          </a:bodyPr>
          <a:lstStyle/>
          <a:p>
            <a:pPr algn="l">
              <a:lnSpc>
                <a:spcPts val="1800"/>
              </a:lnSpc>
            </a:pPr>
            <a:r>
              <a:rPr lang="en-US" sz="1500" spc="-30">
                <a:solidFill>
                  <a:srgbClr val="333333">
                    <a:alpha val="32941"/>
                  </a:srgbClr>
                </a:solidFill>
                <a:latin typeface="JASO Sans"/>
                <a:ea typeface="JASO Sans"/>
                <a:cs typeface="JASO Sans"/>
                <a:sym typeface="JASO Sans"/>
              </a:rPr>
              <a:t>메인타이틀에 대한 세부 설명을 입력해 주세요.</a:t>
            </a:r>
          </a:p>
        </p:txBody>
      </p:sp>
      <p:sp>
        <p:nvSpPr>
          <p:cNvPr name="Freeform 8" id="8"/>
          <p:cNvSpPr/>
          <p:nvPr/>
        </p:nvSpPr>
        <p:spPr>
          <a:xfrm flipH="false" flipV="false" rot="0">
            <a:off x="1028700" y="1059829"/>
            <a:ext cx="362690" cy="362690"/>
          </a:xfrm>
          <a:custGeom>
            <a:avLst/>
            <a:gdLst/>
            <a:ahLst/>
            <a:cxnLst/>
            <a:rect r="r" b="b" t="t" l="l"/>
            <a:pathLst>
              <a:path h="362690" w="362690">
                <a:moveTo>
                  <a:pt x="0" y="0"/>
                </a:moveTo>
                <a:lnTo>
                  <a:pt x="362690" y="0"/>
                </a:lnTo>
                <a:lnTo>
                  <a:pt x="362690" y="362690"/>
                </a:lnTo>
                <a:lnTo>
                  <a:pt x="0" y="362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9458567" y="3069773"/>
            <a:ext cx="7121661" cy="2657475"/>
          </a:xfrm>
          <a:prstGeom prst="rect">
            <a:avLst/>
          </a:prstGeom>
        </p:spPr>
        <p:txBody>
          <a:bodyPr anchor="t" rtlCol="false" tIns="0" lIns="0" bIns="0" rIns="0">
            <a:spAutoFit/>
          </a:bodyPr>
          <a:lstStyle/>
          <a:p>
            <a:pPr algn="l" marL="0" indent="0" lvl="0">
              <a:lnSpc>
                <a:spcPts val="3000"/>
              </a:lnSpc>
              <a:spcBef>
                <a:spcPct val="0"/>
              </a:spcBef>
            </a:pPr>
            <a:r>
              <a:rPr lang="en-US" sz="2000" spc="-40">
                <a:solidFill>
                  <a:srgbClr val="333333">
                    <a:alpha val="69804"/>
                  </a:srgbClr>
                </a:solidFill>
                <a:latin typeface="JASO Sans"/>
                <a:ea typeface="JASO Sans"/>
                <a:cs typeface="JASO Sans"/>
                <a:sym typeface="JASO Sans"/>
              </a:rPr>
              <a:t>이번</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달 마케팅 활동의 주요</a:t>
            </a:r>
            <a:r>
              <a:rPr lang="en-US" sz="2000" spc="-40" strike="noStrike" u="none">
                <a:solidFill>
                  <a:srgbClr val="333333">
                    <a:alpha val="69804"/>
                  </a:srgbClr>
                </a:solidFill>
                <a:latin typeface="JASO Sans"/>
                <a:ea typeface="JASO Sans"/>
                <a:cs typeface="JASO Sans"/>
                <a:sym typeface="JASO Sans"/>
              </a:rPr>
              <a:t> 성과</a:t>
            </a:r>
            <a:r>
              <a:rPr lang="en-US" sz="2000" spc="-40" strike="noStrike" u="none">
                <a:solidFill>
                  <a:srgbClr val="333333">
                    <a:alpha val="69804"/>
                  </a:srgbClr>
                </a:solidFill>
                <a:latin typeface="JASO Sans"/>
                <a:ea typeface="JASO Sans"/>
                <a:cs typeface="JASO Sans"/>
                <a:sym typeface="JASO Sans"/>
              </a:rPr>
              <a:t> 지표를 표로 요약하면, 모든</a:t>
            </a:r>
            <a:r>
              <a:rPr lang="en-US" sz="2000" spc="-40" strike="noStrike" u="none">
                <a:solidFill>
                  <a:srgbClr val="333333">
                    <a:alpha val="69804"/>
                  </a:srgbClr>
                </a:solidFill>
                <a:latin typeface="JASO Sans"/>
                <a:ea typeface="JASO Sans"/>
                <a:cs typeface="JASO Sans"/>
                <a:sym typeface="JASO Sans"/>
              </a:rPr>
              <a:t> 핵심</a:t>
            </a:r>
            <a:r>
              <a:rPr lang="en-US" sz="2000" spc="-40" strike="noStrike" u="none">
                <a:solidFill>
                  <a:srgbClr val="333333">
                    <a:alpha val="69804"/>
                  </a:srgbClr>
                </a:solidFill>
                <a:latin typeface="JASO Sans"/>
                <a:ea typeface="JASO Sans"/>
                <a:cs typeface="JASO Sans"/>
                <a:sym typeface="JASO Sans"/>
              </a:rPr>
              <a:t> 수치가 개선세를 보였습</a:t>
            </a:r>
            <a:r>
              <a:rPr lang="en-US" sz="2000" spc="-40" strike="noStrike" u="none">
                <a:solidFill>
                  <a:srgbClr val="333333">
                    <a:alpha val="69804"/>
                  </a:srgbClr>
                </a:solidFill>
                <a:latin typeface="JASO Sans"/>
                <a:ea typeface="JASO Sans"/>
                <a:cs typeface="JASO Sans"/>
                <a:sym typeface="JASO Sans"/>
              </a:rPr>
              <a:t>니다.</a:t>
            </a:r>
          </a:p>
          <a:p>
            <a:pPr algn="l" marL="0" indent="0" lvl="0">
              <a:lnSpc>
                <a:spcPts val="3000"/>
              </a:lnSpc>
              <a:spcBef>
                <a:spcPct val="0"/>
              </a:spcBef>
            </a:pPr>
            <a:r>
              <a:rPr lang="en-US" sz="2000" spc="-40" strike="noStrike" u="none">
                <a:solidFill>
                  <a:srgbClr val="333333">
                    <a:alpha val="69804"/>
                  </a:srgbClr>
                </a:solidFill>
                <a:latin typeface="JASO Sans"/>
                <a:ea typeface="JASO Sans"/>
                <a:cs typeface="JASO Sans"/>
                <a:sym typeface="JASO Sans"/>
              </a:rPr>
              <a:t>특히</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총 노출수는 28% 증가, 클릭수는</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34%</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증가</a:t>
            </a:r>
            <a:r>
              <a:rPr lang="en-US" sz="2000" spc="-40" strike="noStrike" u="none">
                <a:solidFill>
                  <a:srgbClr val="333333">
                    <a:alpha val="69804"/>
                  </a:srgbClr>
                </a:solidFill>
                <a:latin typeface="JASO Sans"/>
                <a:ea typeface="JASO Sans"/>
                <a:cs typeface="JASO Sans"/>
                <a:sym typeface="JASO Sans"/>
              </a:rPr>
              <a:t>하</a:t>
            </a:r>
            <a:r>
              <a:rPr lang="en-US" sz="2000" spc="-40" strike="noStrike" u="none">
                <a:solidFill>
                  <a:srgbClr val="333333">
                    <a:alpha val="69804"/>
                  </a:srgbClr>
                </a:solidFill>
                <a:latin typeface="JASO Sans"/>
                <a:ea typeface="JASO Sans"/>
                <a:cs typeface="JASO Sans"/>
                <a:sym typeface="JASO Sans"/>
              </a:rPr>
              <a:t>며</a:t>
            </a:r>
            <a:r>
              <a:rPr lang="en-US" sz="2000" spc="-40" strike="noStrike" u="none">
                <a:solidFill>
                  <a:srgbClr val="333333">
                    <a:alpha val="69804"/>
                  </a:srgbClr>
                </a:solidFill>
                <a:latin typeface="JASO Sans"/>
                <a:ea typeface="JASO Sans"/>
                <a:cs typeface="JASO Sans"/>
                <a:sym typeface="JASO Sans"/>
              </a:rPr>
              <a:t> 사용자 반응</a:t>
            </a:r>
            <a:r>
              <a:rPr lang="en-US" sz="2000" spc="-40" strike="noStrike" u="none">
                <a:solidFill>
                  <a:srgbClr val="333333">
                    <a:alpha val="69804"/>
                  </a:srgbClr>
                </a:solidFill>
                <a:latin typeface="JASO Sans"/>
                <a:ea typeface="JASO Sans"/>
                <a:cs typeface="JASO Sans"/>
                <a:sym typeface="JASO Sans"/>
              </a:rPr>
              <a:t>성이</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전반적으로</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상승했음을</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나타냅</a:t>
            </a:r>
            <a:r>
              <a:rPr lang="en-US" sz="2000" spc="-40" strike="noStrike" u="none">
                <a:solidFill>
                  <a:srgbClr val="333333">
                    <a:alpha val="69804"/>
                  </a:srgbClr>
                </a:solidFill>
                <a:latin typeface="JASO Sans"/>
                <a:ea typeface="JASO Sans"/>
                <a:cs typeface="JASO Sans"/>
                <a:sym typeface="JASO Sans"/>
              </a:rPr>
              <a:t>니다.</a:t>
            </a:r>
          </a:p>
          <a:p>
            <a:pPr algn="l" marL="0" indent="0" lvl="0">
              <a:lnSpc>
                <a:spcPts val="3000"/>
              </a:lnSpc>
              <a:spcBef>
                <a:spcPct val="0"/>
              </a:spcBef>
            </a:pPr>
            <a:r>
              <a:rPr lang="en-US" sz="2000" spc="-40" strike="noStrike" u="none">
                <a:solidFill>
                  <a:srgbClr val="333333">
                    <a:alpha val="69804"/>
                  </a:srgbClr>
                </a:solidFill>
                <a:latin typeface="JASO Sans"/>
                <a:ea typeface="JASO Sans"/>
                <a:cs typeface="JASO Sans"/>
                <a:sym typeface="JASO Sans"/>
              </a:rPr>
              <a:t>이는</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콘텐츠</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주제의</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최적화,</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제목의</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주목도</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향상</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이미지 소재의 </a:t>
            </a:r>
            <a:r>
              <a:rPr lang="en-US" sz="2000" spc="-40" strike="noStrike" u="none">
                <a:solidFill>
                  <a:srgbClr val="333333">
                    <a:alpha val="69804"/>
                  </a:srgbClr>
                </a:solidFill>
                <a:latin typeface="JASO Sans"/>
                <a:ea typeface="JASO Sans"/>
                <a:cs typeface="JASO Sans"/>
                <a:sym typeface="JASO Sans"/>
              </a:rPr>
              <a:t>시각적 </a:t>
            </a:r>
            <a:r>
              <a:rPr lang="en-US" sz="2000" spc="-40" strike="noStrike" u="none">
                <a:solidFill>
                  <a:srgbClr val="333333">
                    <a:alpha val="69804"/>
                  </a:srgbClr>
                </a:solidFill>
                <a:latin typeface="JASO Sans"/>
                <a:ea typeface="JASO Sans"/>
                <a:cs typeface="JASO Sans"/>
                <a:sym typeface="JASO Sans"/>
              </a:rPr>
              <a:t>변화가</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사용자</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이탈률을 줄인</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효과로</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해석할</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수</a:t>
            </a:r>
            <a:r>
              <a:rPr lang="en-US" sz="2000" spc="-40" strike="noStrike" u="none">
                <a:solidFill>
                  <a:srgbClr val="333333">
                    <a:alpha val="69804"/>
                  </a:srgbClr>
                </a:solidFill>
                <a:latin typeface="JASO Sans"/>
                <a:ea typeface="JASO Sans"/>
                <a:cs typeface="JASO Sans"/>
                <a:sym typeface="JASO Sans"/>
              </a:rPr>
              <a:t> </a:t>
            </a:r>
            <a:r>
              <a:rPr lang="en-US" sz="2000" spc="-40" strike="noStrike" u="none">
                <a:solidFill>
                  <a:srgbClr val="333333">
                    <a:alpha val="69804"/>
                  </a:srgbClr>
                </a:solidFill>
                <a:latin typeface="JASO Sans"/>
                <a:ea typeface="JASO Sans"/>
                <a:cs typeface="JASO Sans"/>
                <a:sym typeface="JASO Sans"/>
              </a:rPr>
              <a:t>있습</a:t>
            </a:r>
            <a:r>
              <a:rPr lang="en-US" sz="2000" spc="-40" strike="noStrike" u="none">
                <a:solidFill>
                  <a:srgbClr val="333333">
                    <a:alpha val="69804"/>
                  </a:srgbClr>
                </a:solidFill>
                <a:latin typeface="JASO Sans"/>
                <a:ea typeface="JASO Sans"/>
                <a:cs typeface="JASO Sans"/>
                <a:sym typeface="JASO Sans"/>
              </a:rPr>
              <a:t>니다.</a:t>
            </a:r>
          </a:p>
          <a:p>
            <a:pPr algn="l" marL="0" indent="0" lvl="0">
              <a:lnSpc>
                <a:spcPts val="3000"/>
              </a:lnSpc>
              <a:spcBef>
                <a:spcPct val="0"/>
              </a:spcBef>
            </a:pPr>
          </a:p>
        </p:txBody>
      </p:sp>
      <p:sp>
        <p:nvSpPr>
          <p:cNvPr name="TextBox 10" id="10"/>
          <p:cNvSpPr txBox="true"/>
          <p:nvPr/>
        </p:nvSpPr>
        <p:spPr>
          <a:xfrm rot="0">
            <a:off x="2052389" y="8559331"/>
            <a:ext cx="1396418" cy="306749"/>
          </a:xfrm>
          <a:prstGeom prst="rect">
            <a:avLst/>
          </a:prstGeom>
        </p:spPr>
        <p:txBody>
          <a:bodyPr anchor="t" rtlCol="false" tIns="0" lIns="0" bIns="0" rIns="0">
            <a:spAutoFit/>
          </a:bodyPr>
          <a:lstStyle/>
          <a:p>
            <a:pPr algn="ctr" marL="0" indent="0" lvl="0">
              <a:lnSpc>
                <a:spcPts val="2550"/>
              </a:lnSpc>
              <a:spcBef>
                <a:spcPct val="0"/>
              </a:spcBef>
            </a:pPr>
            <a:r>
              <a:rPr lang="en-US" sz="1700" spc="-34">
                <a:solidFill>
                  <a:srgbClr val="333333"/>
                </a:solidFill>
                <a:latin typeface="JASO Sans"/>
                <a:ea typeface="JASO Sans"/>
                <a:cs typeface="JASO Sans"/>
                <a:sym typeface="JASO Sans"/>
              </a:rPr>
              <a:t>2060년</a:t>
            </a:r>
          </a:p>
        </p:txBody>
      </p:sp>
      <p:sp>
        <p:nvSpPr>
          <p:cNvPr name="TextBox 11" id="11"/>
          <p:cNvSpPr txBox="true"/>
          <p:nvPr/>
        </p:nvSpPr>
        <p:spPr>
          <a:xfrm rot="0">
            <a:off x="3666525" y="8559331"/>
            <a:ext cx="1396418" cy="306749"/>
          </a:xfrm>
          <a:prstGeom prst="rect">
            <a:avLst/>
          </a:prstGeom>
        </p:spPr>
        <p:txBody>
          <a:bodyPr anchor="t" rtlCol="false" tIns="0" lIns="0" bIns="0" rIns="0">
            <a:spAutoFit/>
          </a:bodyPr>
          <a:lstStyle/>
          <a:p>
            <a:pPr algn="ctr" marL="0" indent="0" lvl="0">
              <a:lnSpc>
                <a:spcPts val="2550"/>
              </a:lnSpc>
              <a:spcBef>
                <a:spcPct val="0"/>
              </a:spcBef>
            </a:pPr>
            <a:r>
              <a:rPr lang="en-US" sz="1700" spc="-34">
                <a:solidFill>
                  <a:srgbClr val="333333"/>
                </a:solidFill>
                <a:latin typeface="JASO Sans"/>
                <a:ea typeface="JASO Sans"/>
                <a:cs typeface="JASO Sans"/>
                <a:sym typeface="JASO Sans"/>
              </a:rPr>
              <a:t>2065년</a:t>
            </a:r>
          </a:p>
        </p:txBody>
      </p:sp>
      <p:sp>
        <p:nvSpPr>
          <p:cNvPr name="TextBox 12" id="12"/>
          <p:cNvSpPr txBox="true"/>
          <p:nvPr/>
        </p:nvSpPr>
        <p:spPr>
          <a:xfrm rot="0">
            <a:off x="5405341" y="8559331"/>
            <a:ext cx="1396418" cy="306749"/>
          </a:xfrm>
          <a:prstGeom prst="rect">
            <a:avLst/>
          </a:prstGeom>
        </p:spPr>
        <p:txBody>
          <a:bodyPr anchor="t" rtlCol="false" tIns="0" lIns="0" bIns="0" rIns="0">
            <a:spAutoFit/>
          </a:bodyPr>
          <a:lstStyle/>
          <a:p>
            <a:pPr algn="ctr" marL="0" indent="0" lvl="0">
              <a:lnSpc>
                <a:spcPts val="2550"/>
              </a:lnSpc>
              <a:spcBef>
                <a:spcPct val="0"/>
              </a:spcBef>
            </a:pPr>
            <a:r>
              <a:rPr lang="en-US" sz="1700" spc="-34">
                <a:solidFill>
                  <a:srgbClr val="333333"/>
                </a:solidFill>
                <a:latin typeface="JASO Sans"/>
                <a:ea typeface="JASO Sans"/>
                <a:cs typeface="JASO Sans"/>
                <a:sym typeface="JASO Sans"/>
              </a:rPr>
              <a:t>2070년</a:t>
            </a:r>
          </a:p>
        </p:txBody>
      </p:sp>
      <p:sp>
        <p:nvSpPr>
          <p:cNvPr name="TextBox 13" id="13"/>
          <p:cNvSpPr txBox="true"/>
          <p:nvPr/>
        </p:nvSpPr>
        <p:spPr>
          <a:xfrm rot="0">
            <a:off x="7144659" y="8559331"/>
            <a:ext cx="1396418" cy="306749"/>
          </a:xfrm>
          <a:prstGeom prst="rect">
            <a:avLst/>
          </a:prstGeom>
        </p:spPr>
        <p:txBody>
          <a:bodyPr anchor="t" rtlCol="false" tIns="0" lIns="0" bIns="0" rIns="0">
            <a:spAutoFit/>
          </a:bodyPr>
          <a:lstStyle/>
          <a:p>
            <a:pPr algn="ctr" marL="0" indent="0" lvl="0">
              <a:lnSpc>
                <a:spcPts val="2550"/>
              </a:lnSpc>
              <a:spcBef>
                <a:spcPct val="0"/>
              </a:spcBef>
            </a:pPr>
            <a:r>
              <a:rPr lang="en-US" sz="1700" spc="-34">
                <a:solidFill>
                  <a:srgbClr val="333333"/>
                </a:solidFill>
                <a:latin typeface="JASO Sans"/>
                <a:ea typeface="JASO Sans"/>
                <a:cs typeface="JASO Sans"/>
                <a:sym typeface="JASO Sans"/>
              </a:rPr>
              <a:t>2075년</a:t>
            </a:r>
          </a:p>
        </p:txBody>
      </p:sp>
      <p:pic>
        <p:nvPicPr>
          <p:cNvPr name="Picture 14" id="14"/>
          <p:cNvPicPr>
            <a:picLocks noChangeAspect="true"/>
          </p:cNvPicPr>
          <p:nvPr/>
        </p:nvPicPr>
        <p:blipFill>
          <a:blip r:embed="rId4"/>
          <a:stretch>
            <a:fillRect/>
          </a:stretch>
        </p:blipFill>
        <p:spPr>
          <a:xfrm rot="0">
            <a:off x="695413" y="2408526"/>
            <a:ext cx="8735060" cy="6982537"/>
          </a:xfrm>
          <a:prstGeom prst="rect">
            <a:avLst/>
          </a:prstGeom>
        </p:spPr>
      </p:pic>
      <p:grpSp>
        <p:nvGrpSpPr>
          <p:cNvPr name="Group 15" id="15"/>
          <p:cNvGrpSpPr/>
          <p:nvPr/>
        </p:nvGrpSpPr>
        <p:grpSpPr>
          <a:xfrm rot="0">
            <a:off x="9458567" y="5727247"/>
            <a:ext cx="7121661" cy="3110257"/>
            <a:chOff x="0" y="0"/>
            <a:chExt cx="1875664" cy="819162"/>
          </a:xfrm>
        </p:grpSpPr>
        <p:sp>
          <p:nvSpPr>
            <p:cNvPr name="Freeform 16" id="16"/>
            <p:cNvSpPr/>
            <p:nvPr/>
          </p:nvSpPr>
          <p:spPr>
            <a:xfrm flipH="false" flipV="false" rot="0">
              <a:off x="0" y="0"/>
              <a:ext cx="1875664" cy="819162"/>
            </a:xfrm>
            <a:custGeom>
              <a:avLst/>
              <a:gdLst/>
              <a:ahLst/>
              <a:cxnLst/>
              <a:rect r="r" b="b" t="t" l="l"/>
              <a:pathLst>
                <a:path h="819162" w="1875664">
                  <a:moveTo>
                    <a:pt x="21742" y="0"/>
                  </a:moveTo>
                  <a:lnTo>
                    <a:pt x="1853922" y="0"/>
                  </a:lnTo>
                  <a:cubicBezTo>
                    <a:pt x="1859688" y="0"/>
                    <a:pt x="1865219" y="2291"/>
                    <a:pt x="1869296" y="6368"/>
                  </a:cubicBezTo>
                  <a:cubicBezTo>
                    <a:pt x="1873373" y="10445"/>
                    <a:pt x="1875664" y="15976"/>
                    <a:pt x="1875664" y="21742"/>
                  </a:cubicBezTo>
                  <a:lnTo>
                    <a:pt x="1875664" y="797421"/>
                  </a:lnTo>
                  <a:cubicBezTo>
                    <a:pt x="1875664" y="803187"/>
                    <a:pt x="1873373" y="808717"/>
                    <a:pt x="1869296" y="812794"/>
                  </a:cubicBezTo>
                  <a:cubicBezTo>
                    <a:pt x="1865219" y="816872"/>
                    <a:pt x="1859688" y="819162"/>
                    <a:pt x="1853922" y="819162"/>
                  </a:cubicBezTo>
                  <a:lnTo>
                    <a:pt x="21742" y="819162"/>
                  </a:lnTo>
                  <a:cubicBezTo>
                    <a:pt x="15976" y="819162"/>
                    <a:pt x="10445" y="816872"/>
                    <a:pt x="6368" y="812794"/>
                  </a:cubicBezTo>
                  <a:cubicBezTo>
                    <a:pt x="2291" y="808717"/>
                    <a:pt x="0" y="803187"/>
                    <a:pt x="0" y="797421"/>
                  </a:cubicBezTo>
                  <a:lnTo>
                    <a:pt x="0" y="21742"/>
                  </a:lnTo>
                  <a:cubicBezTo>
                    <a:pt x="0" y="15976"/>
                    <a:pt x="2291" y="10445"/>
                    <a:pt x="6368" y="6368"/>
                  </a:cubicBezTo>
                  <a:cubicBezTo>
                    <a:pt x="10445" y="2291"/>
                    <a:pt x="15976" y="0"/>
                    <a:pt x="21742" y="0"/>
                  </a:cubicBezTo>
                  <a:close/>
                </a:path>
              </a:pathLst>
            </a:custGeom>
            <a:solidFill>
              <a:srgbClr val="F1F1F1"/>
            </a:solidFill>
            <a:ln w="9525" cap="sq">
              <a:solidFill>
                <a:srgbClr val="B3B3B3"/>
              </a:solidFill>
              <a:prstDash val="solid"/>
              <a:miter/>
            </a:ln>
          </p:spPr>
        </p:sp>
        <p:sp>
          <p:nvSpPr>
            <p:cNvPr name="TextBox 17" id="17"/>
            <p:cNvSpPr txBox="true"/>
            <p:nvPr/>
          </p:nvSpPr>
          <p:spPr>
            <a:xfrm>
              <a:off x="0" y="-57150"/>
              <a:ext cx="1875664" cy="876312"/>
            </a:xfrm>
            <a:prstGeom prst="rect">
              <a:avLst/>
            </a:prstGeom>
          </p:spPr>
          <p:txBody>
            <a:bodyPr anchor="ctr" rtlCol="false" tIns="50800" lIns="50800" bIns="50800" rIns="50800"/>
            <a:lstStyle/>
            <a:p>
              <a:pPr algn="ctr" marL="0" indent="0" lvl="0">
                <a:lnSpc>
                  <a:spcPts val="2541"/>
                </a:lnSpc>
                <a:spcBef>
                  <a:spcPct val="0"/>
                </a:spcBef>
              </a:pPr>
            </a:p>
          </p:txBody>
        </p:sp>
      </p:grpSp>
      <p:sp>
        <p:nvSpPr>
          <p:cNvPr name="TextBox 18" id="18"/>
          <p:cNvSpPr txBox="true"/>
          <p:nvPr/>
        </p:nvSpPr>
        <p:spPr>
          <a:xfrm rot="0">
            <a:off x="10158475" y="6740056"/>
            <a:ext cx="5721846" cy="1895475"/>
          </a:xfrm>
          <a:prstGeom prst="rect">
            <a:avLst/>
          </a:prstGeom>
        </p:spPr>
        <p:txBody>
          <a:bodyPr anchor="t" rtlCol="false" tIns="0" lIns="0" bIns="0" rIns="0">
            <a:spAutoFit/>
          </a:bodyPr>
          <a:lstStyle/>
          <a:p>
            <a:pPr algn="ctr" marL="0" indent="0" lvl="0">
              <a:lnSpc>
                <a:spcPts val="3000"/>
              </a:lnSpc>
              <a:spcBef>
                <a:spcPct val="0"/>
              </a:spcBef>
            </a:pPr>
            <a:r>
              <a:rPr lang="en-US" sz="2000" spc="-40">
                <a:solidFill>
                  <a:srgbClr val="333333"/>
                </a:solidFill>
                <a:latin typeface="JASO Sans"/>
                <a:ea typeface="JASO Sans"/>
                <a:cs typeface="JASO Sans"/>
                <a:sym typeface="JASO Sans"/>
              </a:rPr>
              <a:t>글</a:t>
            </a:r>
            <a:r>
              <a:rPr lang="en-US" sz="2000" spc="-40" strike="noStrike" u="none">
                <a:solidFill>
                  <a:srgbClr val="333333"/>
                </a:solidFill>
                <a:latin typeface="JASO Sans"/>
                <a:ea typeface="JASO Sans"/>
                <a:cs typeface="JASO Sans"/>
                <a:sym typeface="JASO Sans"/>
              </a:rPr>
              <a:t>로</a:t>
            </a:r>
            <a:r>
              <a:rPr lang="en-US" sz="2000" spc="-40" strike="noStrike" u="none">
                <a:solidFill>
                  <a:srgbClr val="333333"/>
                </a:solidFill>
                <a:latin typeface="JASO Sans"/>
                <a:ea typeface="JASO Sans"/>
                <a:cs typeface="JASO Sans"/>
                <a:sym typeface="JASO Sans"/>
              </a:rPr>
              <a:t>벌</a:t>
            </a:r>
            <a:r>
              <a:rPr lang="en-US" sz="2000" spc="-40" strike="noStrike" u="none">
                <a:solidFill>
                  <a:srgbClr val="333333"/>
                </a:solidFill>
                <a:latin typeface="JASO Sans"/>
                <a:ea typeface="JASO Sans"/>
                <a:cs typeface="JASO Sans"/>
                <a:sym typeface="JASO Sans"/>
              </a:rPr>
              <a:t> 사용자 확장·높은 체류시간·멀티플랫폼 소비로 SNS 마케팅 영향력 확대하고 있는 시점에서,</a:t>
            </a:r>
          </a:p>
          <a:p>
            <a:pPr algn="ctr" marL="0" indent="0" lvl="0">
              <a:lnSpc>
                <a:spcPts val="3000"/>
              </a:lnSpc>
              <a:spcBef>
                <a:spcPct val="0"/>
              </a:spcBef>
            </a:pPr>
            <a:r>
              <a:rPr lang="en-US" sz="2000" spc="-40" strike="noStrike" u="none">
                <a:solidFill>
                  <a:srgbClr val="333333"/>
                </a:solidFill>
                <a:latin typeface="JASO Sans"/>
                <a:ea typeface="JASO Sans"/>
                <a:cs typeface="JASO Sans"/>
                <a:sym typeface="JASO Sans"/>
              </a:rPr>
              <a:t>기업들은 더욱 </a:t>
            </a:r>
            <a:r>
              <a:rPr lang="en-US" sz="2000" spc="-40" strike="noStrike" u="none">
                <a:solidFill>
                  <a:srgbClr val="333333"/>
                </a:solidFill>
                <a:latin typeface="JASO Sans"/>
                <a:ea typeface="JASO Sans"/>
                <a:cs typeface="JASO Sans"/>
                <a:sym typeface="JASO Sans"/>
              </a:rPr>
              <a:t>창</a:t>
            </a:r>
            <a:r>
              <a:rPr lang="en-US" sz="2000" spc="-40" strike="noStrike" u="none">
                <a:solidFill>
                  <a:srgbClr val="333333"/>
                </a:solidFill>
                <a:latin typeface="JASO Sans"/>
                <a:ea typeface="JASO Sans"/>
                <a:cs typeface="JASO Sans"/>
                <a:sym typeface="JASO Sans"/>
              </a:rPr>
              <a:t>의적이</a:t>
            </a:r>
            <a:r>
              <a:rPr lang="en-US" sz="2000" spc="-40" strike="noStrike" u="none">
                <a:solidFill>
                  <a:srgbClr val="333333"/>
                </a:solidFill>
                <a:latin typeface="JASO Sans"/>
                <a:ea typeface="JASO Sans"/>
                <a:cs typeface="JASO Sans"/>
                <a:sym typeface="JASO Sans"/>
              </a:rPr>
              <a:t>고</a:t>
            </a:r>
            <a:r>
              <a:rPr lang="en-US" sz="2000" spc="-40" strike="noStrike" u="none">
                <a:solidFill>
                  <a:srgbClr val="333333"/>
                </a:solidFill>
                <a:latin typeface="JASO Sans"/>
                <a:ea typeface="JASO Sans"/>
                <a:cs typeface="JASO Sans"/>
                <a:sym typeface="JASO Sans"/>
              </a:rPr>
              <a:t> </a:t>
            </a:r>
            <a:r>
              <a:rPr lang="en-US" sz="2000" spc="-40" strike="noStrike" u="none">
                <a:solidFill>
                  <a:srgbClr val="333333"/>
                </a:solidFill>
                <a:latin typeface="JASO Sans"/>
                <a:ea typeface="JASO Sans"/>
                <a:cs typeface="JASO Sans"/>
                <a:sym typeface="JASO Sans"/>
              </a:rPr>
              <a:t>개</a:t>
            </a:r>
            <a:r>
              <a:rPr lang="en-US" sz="2000" spc="-40" strike="noStrike" u="none">
                <a:solidFill>
                  <a:srgbClr val="333333"/>
                </a:solidFill>
                <a:latin typeface="JASO Sans"/>
                <a:ea typeface="JASO Sans"/>
                <a:cs typeface="JASO Sans"/>
                <a:sym typeface="JASO Sans"/>
              </a:rPr>
              <a:t>인</a:t>
            </a:r>
            <a:r>
              <a:rPr lang="en-US" sz="2000" spc="-40" strike="noStrike" u="none">
                <a:solidFill>
                  <a:srgbClr val="333333"/>
                </a:solidFill>
                <a:latin typeface="JASO Sans"/>
                <a:ea typeface="JASO Sans"/>
                <a:cs typeface="JASO Sans"/>
                <a:sym typeface="JASO Sans"/>
              </a:rPr>
              <a:t>화된</a:t>
            </a:r>
            <a:r>
              <a:rPr lang="en-US" sz="2000" spc="-40" strike="noStrike" u="none">
                <a:solidFill>
                  <a:srgbClr val="333333"/>
                </a:solidFill>
                <a:latin typeface="JASO Sans"/>
                <a:ea typeface="JASO Sans"/>
                <a:cs typeface="JASO Sans"/>
                <a:sym typeface="JASO Sans"/>
              </a:rPr>
              <a:t> 전략을 통해 소비자와의 연결을 강화하고 있습니다.</a:t>
            </a:r>
            <a:r>
              <a:rPr lang="en-US" sz="2000" spc="-40" strike="noStrike" u="none">
                <a:solidFill>
                  <a:srgbClr val="333333"/>
                </a:solidFill>
                <a:latin typeface="JASO Sans"/>
                <a:ea typeface="JASO Sans"/>
                <a:cs typeface="JASO Sans"/>
                <a:sym typeface="JASO Sans"/>
              </a:rPr>
              <a:t> </a:t>
            </a:r>
          </a:p>
          <a:p>
            <a:pPr algn="ctr" marL="0" indent="0" lvl="0">
              <a:lnSpc>
                <a:spcPts val="3000"/>
              </a:lnSpc>
              <a:spcBef>
                <a:spcPct val="0"/>
              </a:spcBef>
            </a:pPr>
          </a:p>
        </p:txBody>
      </p:sp>
      <p:sp>
        <p:nvSpPr>
          <p:cNvPr name="Freeform 19" id="19"/>
          <p:cNvSpPr/>
          <p:nvPr/>
        </p:nvSpPr>
        <p:spPr>
          <a:xfrm flipH="false" flipV="false" rot="0">
            <a:off x="12738733" y="6159292"/>
            <a:ext cx="561331" cy="439943"/>
          </a:xfrm>
          <a:custGeom>
            <a:avLst/>
            <a:gdLst/>
            <a:ahLst/>
            <a:cxnLst/>
            <a:rect r="r" b="b" t="t" l="l"/>
            <a:pathLst>
              <a:path h="439943" w="561331">
                <a:moveTo>
                  <a:pt x="0" y="0"/>
                </a:moveTo>
                <a:lnTo>
                  <a:pt x="561330" y="0"/>
                </a:lnTo>
                <a:lnTo>
                  <a:pt x="561330" y="439943"/>
                </a:lnTo>
                <a:lnTo>
                  <a:pt x="0" y="4399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1416"/>
            <a:chOff x="0" y="0"/>
            <a:chExt cx="3762963" cy="37328"/>
          </a:xfrm>
        </p:grpSpPr>
        <p:sp>
          <p:nvSpPr>
            <p:cNvPr name="Freeform 3" id="3"/>
            <p:cNvSpPr/>
            <p:nvPr/>
          </p:nvSpPr>
          <p:spPr>
            <a:xfrm flipH="false" flipV="false" rot="0">
              <a:off x="0" y="0"/>
              <a:ext cx="3762963" cy="37328"/>
            </a:xfrm>
            <a:custGeom>
              <a:avLst/>
              <a:gdLst/>
              <a:ahLst/>
              <a:cxnLst/>
              <a:rect r="r" b="b" t="t" l="l"/>
              <a:pathLst>
                <a:path h="37328" w="3762963">
                  <a:moveTo>
                    <a:pt x="0" y="0"/>
                  </a:moveTo>
                  <a:lnTo>
                    <a:pt x="3762963" y="0"/>
                  </a:lnTo>
                  <a:lnTo>
                    <a:pt x="3762963" y="37328"/>
                  </a:lnTo>
                  <a:lnTo>
                    <a:pt x="0" y="37328"/>
                  </a:lnTo>
                  <a:close/>
                </a:path>
              </a:pathLst>
            </a:custGeom>
            <a:solidFill>
              <a:srgbClr val="416F6C"/>
            </a:solidFill>
          </p:spPr>
        </p:sp>
        <p:sp>
          <p:nvSpPr>
            <p:cNvPr name="TextBox 4" id="4"/>
            <p:cNvSpPr txBox="true"/>
            <p:nvPr/>
          </p:nvSpPr>
          <p:spPr>
            <a:xfrm>
              <a:off x="0" y="-57150"/>
              <a:ext cx="3762963" cy="94478"/>
            </a:xfrm>
            <a:prstGeom prst="rect">
              <a:avLst/>
            </a:prstGeom>
          </p:spPr>
          <p:txBody>
            <a:bodyPr anchor="ctr" rtlCol="false" tIns="50800" lIns="50800" bIns="50800" rIns="50800"/>
            <a:lstStyle/>
            <a:p>
              <a:pPr algn="ctr">
                <a:lnSpc>
                  <a:spcPts val="2541"/>
                </a:lnSpc>
              </a:pPr>
            </a:p>
          </p:txBody>
        </p:sp>
      </p:grpSp>
      <p:sp>
        <p:nvSpPr>
          <p:cNvPr name="AutoShape 5" id="5"/>
          <p:cNvSpPr/>
          <p:nvPr/>
        </p:nvSpPr>
        <p:spPr>
          <a:xfrm>
            <a:off x="844732" y="2064885"/>
            <a:ext cx="16598535" cy="0"/>
          </a:xfrm>
          <a:prstGeom prst="line">
            <a:avLst/>
          </a:prstGeom>
          <a:ln cap="flat" w="9525">
            <a:solidFill>
              <a:srgbClr val="416F6C"/>
            </a:solidFill>
            <a:prstDash val="solid"/>
            <a:headEnd type="none" len="sm" w="sm"/>
            <a:tailEnd type="none" len="sm" w="sm"/>
          </a:ln>
        </p:spPr>
      </p:sp>
      <p:sp>
        <p:nvSpPr>
          <p:cNvPr name="TextBox 6" id="6"/>
          <p:cNvSpPr txBox="true"/>
          <p:nvPr/>
        </p:nvSpPr>
        <p:spPr>
          <a:xfrm rot="0">
            <a:off x="1601101" y="917525"/>
            <a:ext cx="9792550" cy="733022"/>
          </a:xfrm>
          <a:prstGeom prst="rect">
            <a:avLst/>
          </a:prstGeom>
        </p:spPr>
        <p:txBody>
          <a:bodyPr anchor="t" rtlCol="false" tIns="0" lIns="0" bIns="0" rIns="0">
            <a:spAutoFit/>
          </a:bodyPr>
          <a:lstStyle/>
          <a:p>
            <a:pPr algn="l" marL="0" indent="0" lvl="0">
              <a:lnSpc>
                <a:spcPts val="5508"/>
              </a:lnSpc>
            </a:pPr>
            <a:r>
              <a:rPr lang="en-US" b="true" sz="5400" spc="-108">
                <a:solidFill>
                  <a:srgbClr val="333333"/>
                </a:solidFill>
                <a:latin typeface="JASO Sans Bold"/>
                <a:ea typeface="JASO Sans Bold"/>
                <a:cs typeface="JASO Sans Bold"/>
                <a:sym typeface="JASO Sans Bold"/>
              </a:rPr>
              <a:t>핵심 과제 정의</a:t>
            </a:r>
          </a:p>
        </p:txBody>
      </p:sp>
      <p:sp>
        <p:nvSpPr>
          <p:cNvPr name="TextBox 7" id="7"/>
          <p:cNvSpPr txBox="true"/>
          <p:nvPr/>
        </p:nvSpPr>
        <p:spPr>
          <a:xfrm rot="0">
            <a:off x="5814572" y="1328115"/>
            <a:ext cx="4543751" cy="228644"/>
          </a:xfrm>
          <a:prstGeom prst="rect">
            <a:avLst/>
          </a:prstGeom>
        </p:spPr>
        <p:txBody>
          <a:bodyPr anchor="t" rtlCol="false" tIns="0" lIns="0" bIns="0" rIns="0">
            <a:spAutoFit/>
          </a:bodyPr>
          <a:lstStyle/>
          <a:p>
            <a:pPr algn="l">
              <a:lnSpc>
                <a:spcPts val="1800"/>
              </a:lnSpc>
            </a:pPr>
            <a:r>
              <a:rPr lang="en-US" sz="1500" spc="-30">
                <a:solidFill>
                  <a:srgbClr val="333333">
                    <a:alpha val="32941"/>
                  </a:srgbClr>
                </a:solidFill>
                <a:latin typeface="JASO Sans"/>
                <a:ea typeface="JASO Sans"/>
                <a:cs typeface="JASO Sans"/>
                <a:sym typeface="JASO Sans"/>
              </a:rPr>
              <a:t>메인타이틀에 대한 세부 설명을 입력해 주세요.</a:t>
            </a:r>
          </a:p>
        </p:txBody>
      </p:sp>
      <p:sp>
        <p:nvSpPr>
          <p:cNvPr name="Freeform 8" id="8"/>
          <p:cNvSpPr/>
          <p:nvPr/>
        </p:nvSpPr>
        <p:spPr>
          <a:xfrm flipH="false" flipV="false" rot="0">
            <a:off x="1028700" y="1059829"/>
            <a:ext cx="362690" cy="362690"/>
          </a:xfrm>
          <a:custGeom>
            <a:avLst/>
            <a:gdLst/>
            <a:ahLst/>
            <a:cxnLst/>
            <a:rect r="r" b="b" t="t" l="l"/>
            <a:pathLst>
              <a:path h="362690" w="362690">
                <a:moveTo>
                  <a:pt x="0" y="0"/>
                </a:moveTo>
                <a:lnTo>
                  <a:pt x="362690" y="0"/>
                </a:lnTo>
                <a:lnTo>
                  <a:pt x="362690" y="362690"/>
                </a:lnTo>
                <a:lnTo>
                  <a:pt x="0" y="362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17296" y="3136448"/>
            <a:ext cx="3558363" cy="3055810"/>
            <a:chOff x="0" y="0"/>
            <a:chExt cx="937182" cy="804822"/>
          </a:xfrm>
        </p:grpSpPr>
        <p:sp>
          <p:nvSpPr>
            <p:cNvPr name="Freeform 10" id="10"/>
            <p:cNvSpPr/>
            <p:nvPr/>
          </p:nvSpPr>
          <p:spPr>
            <a:xfrm flipH="false" flipV="false" rot="0">
              <a:off x="0" y="0"/>
              <a:ext cx="937182" cy="804822"/>
            </a:xfrm>
            <a:custGeom>
              <a:avLst/>
              <a:gdLst/>
              <a:ahLst/>
              <a:cxnLst/>
              <a:rect r="r" b="b" t="t" l="l"/>
              <a:pathLst>
                <a:path h="804822" w="937182">
                  <a:moveTo>
                    <a:pt x="43514" y="0"/>
                  </a:moveTo>
                  <a:lnTo>
                    <a:pt x="893668" y="0"/>
                  </a:lnTo>
                  <a:cubicBezTo>
                    <a:pt x="917700" y="0"/>
                    <a:pt x="937182" y="19482"/>
                    <a:pt x="937182" y="43514"/>
                  </a:cubicBezTo>
                  <a:lnTo>
                    <a:pt x="937182" y="761309"/>
                  </a:lnTo>
                  <a:cubicBezTo>
                    <a:pt x="937182" y="785341"/>
                    <a:pt x="917700" y="804822"/>
                    <a:pt x="893668" y="804822"/>
                  </a:cubicBezTo>
                  <a:lnTo>
                    <a:pt x="43514" y="804822"/>
                  </a:lnTo>
                  <a:cubicBezTo>
                    <a:pt x="19482" y="804822"/>
                    <a:pt x="0" y="785341"/>
                    <a:pt x="0" y="761309"/>
                  </a:cubicBezTo>
                  <a:lnTo>
                    <a:pt x="0" y="43514"/>
                  </a:lnTo>
                  <a:cubicBezTo>
                    <a:pt x="0" y="19482"/>
                    <a:pt x="19482" y="0"/>
                    <a:pt x="43514" y="0"/>
                  </a:cubicBezTo>
                  <a:close/>
                </a:path>
              </a:pathLst>
            </a:custGeom>
            <a:solidFill>
              <a:srgbClr val="F1F1F1"/>
            </a:solidFill>
            <a:ln w="9525" cap="sq">
              <a:solidFill>
                <a:srgbClr val="B3B3B3"/>
              </a:solidFill>
              <a:prstDash val="solid"/>
              <a:miter/>
            </a:ln>
          </p:spPr>
        </p:sp>
        <p:sp>
          <p:nvSpPr>
            <p:cNvPr name="TextBox 11" id="11"/>
            <p:cNvSpPr txBox="true"/>
            <p:nvPr/>
          </p:nvSpPr>
          <p:spPr>
            <a:xfrm>
              <a:off x="0" y="-57150"/>
              <a:ext cx="937182" cy="861972"/>
            </a:xfrm>
            <a:prstGeom prst="rect">
              <a:avLst/>
            </a:prstGeom>
          </p:spPr>
          <p:txBody>
            <a:bodyPr anchor="ctr" rtlCol="false" tIns="50800" lIns="50800" bIns="50800" rIns="50800"/>
            <a:lstStyle/>
            <a:p>
              <a:pPr algn="ctr" marL="0" indent="0" lvl="0">
                <a:lnSpc>
                  <a:spcPts val="2541"/>
                </a:lnSpc>
                <a:spcBef>
                  <a:spcPct val="0"/>
                </a:spcBef>
              </a:pPr>
            </a:p>
          </p:txBody>
        </p:sp>
      </p:grpSp>
      <p:grpSp>
        <p:nvGrpSpPr>
          <p:cNvPr name="Group 12" id="12"/>
          <p:cNvGrpSpPr/>
          <p:nvPr/>
        </p:nvGrpSpPr>
        <p:grpSpPr>
          <a:xfrm rot="0">
            <a:off x="1717296" y="7278108"/>
            <a:ext cx="14853407" cy="1559397"/>
            <a:chOff x="0" y="0"/>
            <a:chExt cx="3912009" cy="410705"/>
          </a:xfrm>
        </p:grpSpPr>
        <p:sp>
          <p:nvSpPr>
            <p:cNvPr name="Freeform 13" id="13"/>
            <p:cNvSpPr/>
            <p:nvPr/>
          </p:nvSpPr>
          <p:spPr>
            <a:xfrm flipH="false" flipV="false" rot="0">
              <a:off x="0" y="0"/>
              <a:ext cx="3912009" cy="410705"/>
            </a:xfrm>
            <a:custGeom>
              <a:avLst/>
              <a:gdLst/>
              <a:ahLst/>
              <a:cxnLst/>
              <a:rect r="r" b="b" t="t" l="l"/>
              <a:pathLst>
                <a:path h="410705" w="3912009">
                  <a:moveTo>
                    <a:pt x="10424" y="0"/>
                  </a:moveTo>
                  <a:lnTo>
                    <a:pt x="3901584" y="0"/>
                  </a:lnTo>
                  <a:cubicBezTo>
                    <a:pt x="3904349" y="0"/>
                    <a:pt x="3907000" y="1098"/>
                    <a:pt x="3908955" y="3053"/>
                  </a:cubicBezTo>
                  <a:cubicBezTo>
                    <a:pt x="3910910" y="5008"/>
                    <a:pt x="3912009" y="7660"/>
                    <a:pt x="3912009" y="10424"/>
                  </a:cubicBezTo>
                  <a:lnTo>
                    <a:pt x="3912009" y="400281"/>
                  </a:lnTo>
                  <a:cubicBezTo>
                    <a:pt x="3912009" y="406038"/>
                    <a:pt x="3907341" y="410705"/>
                    <a:pt x="3901584" y="410705"/>
                  </a:cubicBezTo>
                  <a:lnTo>
                    <a:pt x="10424" y="410705"/>
                  </a:lnTo>
                  <a:cubicBezTo>
                    <a:pt x="7660" y="410705"/>
                    <a:pt x="5008" y="409607"/>
                    <a:pt x="3053" y="407652"/>
                  </a:cubicBezTo>
                  <a:cubicBezTo>
                    <a:pt x="1098" y="405697"/>
                    <a:pt x="0" y="403046"/>
                    <a:pt x="0" y="400281"/>
                  </a:cubicBezTo>
                  <a:lnTo>
                    <a:pt x="0" y="10424"/>
                  </a:lnTo>
                  <a:cubicBezTo>
                    <a:pt x="0" y="7660"/>
                    <a:pt x="1098" y="5008"/>
                    <a:pt x="3053" y="3053"/>
                  </a:cubicBezTo>
                  <a:cubicBezTo>
                    <a:pt x="5008" y="1098"/>
                    <a:pt x="7660" y="0"/>
                    <a:pt x="10424" y="0"/>
                  </a:cubicBezTo>
                  <a:close/>
                </a:path>
              </a:pathLst>
            </a:custGeom>
            <a:solidFill>
              <a:srgbClr val="416F6C"/>
            </a:solidFill>
            <a:ln cap="sq">
              <a:noFill/>
              <a:prstDash val="solid"/>
              <a:miter/>
            </a:ln>
          </p:spPr>
        </p:sp>
        <p:sp>
          <p:nvSpPr>
            <p:cNvPr name="TextBox 14" id="14"/>
            <p:cNvSpPr txBox="true"/>
            <p:nvPr/>
          </p:nvSpPr>
          <p:spPr>
            <a:xfrm>
              <a:off x="0" y="-47625"/>
              <a:ext cx="3912009" cy="458330"/>
            </a:xfrm>
            <a:prstGeom prst="rect">
              <a:avLst/>
            </a:prstGeom>
          </p:spPr>
          <p:txBody>
            <a:bodyPr anchor="ctr" rtlCol="false" tIns="50800" lIns="50800" bIns="50800" rIns="50800"/>
            <a:lstStyle/>
            <a:p>
              <a:pPr algn="ctr">
                <a:lnSpc>
                  <a:spcPts val="2587"/>
                </a:lnSpc>
              </a:pPr>
            </a:p>
          </p:txBody>
        </p:sp>
      </p:grpSp>
      <p:grpSp>
        <p:nvGrpSpPr>
          <p:cNvPr name="Group 15" id="15"/>
          <p:cNvGrpSpPr/>
          <p:nvPr/>
        </p:nvGrpSpPr>
        <p:grpSpPr>
          <a:xfrm rot="0">
            <a:off x="5482311" y="3136448"/>
            <a:ext cx="3558363" cy="3055810"/>
            <a:chOff x="0" y="0"/>
            <a:chExt cx="937182" cy="804822"/>
          </a:xfrm>
        </p:grpSpPr>
        <p:sp>
          <p:nvSpPr>
            <p:cNvPr name="Freeform 16" id="16"/>
            <p:cNvSpPr/>
            <p:nvPr/>
          </p:nvSpPr>
          <p:spPr>
            <a:xfrm flipH="false" flipV="false" rot="0">
              <a:off x="0" y="0"/>
              <a:ext cx="937182" cy="804822"/>
            </a:xfrm>
            <a:custGeom>
              <a:avLst/>
              <a:gdLst/>
              <a:ahLst/>
              <a:cxnLst/>
              <a:rect r="r" b="b" t="t" l="l"/>
              <a:pathLst>
                <a:path h="804822" w="937182">
                  <a:moveTo>
                    <a:pt x="43514" y="0"/>
                  </a:moveTo>
                  <a:lnTo>
                    <a:pt x="893668" y="0"/>
                  </a:lnTo>
                  <a:cubicBezTo>
                    <a:pt x="917700" y="0"/>
                    <a:pt x="937182" y="19482"/>
                    <a:pt x="937182" y="43514"/>
                  </a:cubicBezTo>
                  <a:lnTo>
                    <a:pt x="937182" y="761309"/>
                  </a:lnTo>
                  <a:cubicBezTo>
                    <a:pt x="937182" y="785341"/>
                    <a:pt x="917700" y="804822"/>
                    <a:pt x="893668" y="804822"/>
                  </a:cubicBezTo>
                  <a:lnTo>
                    <a:pt x="43514" y="804822"/>
                  </a:lnTo>
                  <a:cubicBezTo>
                    <a:pt x="19482" y="804822"/>
                    <a:pt x="0" y="785341"/>
                    <a:pt x="0" y="761309"/>
                  </a:cubicBezTo>
                  <a:lnTo>
                    <a:pt x="0" y="43514"/>
                  </a:lnTo>
                  <a:cubicBezTo>
                    <a:pt x="0" y="19482"/>
                    <a:pt x="19482" y="0"/>
                    <a:pt x="43514" y="0"/>
                  </a:cubicBezTo>
                  <a:close/>
                </a:path>
              </a:pathLst>
            </a:custGeom>
            <a:solidFill>
              <a:srgbClr val="F1F1F1"/>
            </a:solidFill>
            <a:ln w="9525" cap="sq">
              <a:solidFill>
                <a:srgbClr val="B3B3B3"/>
              </a:solidFill>
              <a:prstDash val="solid"/>
              <a:miter/>
            </a:ln>
          </p:spPr>
        </p:sp>
        <p:sp>
          <p:nvSpPr>
            <p:cNvPr name="TextBox 17" id="17"/>
            <p:cNvSpPr txBox="true"/>
            <p:nvPr/>
          </p:nvSpPr>
          <p:spPr>
            <a:xfrm>
              <a:off x="0" y="-57150"/>
              <a:ext cx="937182" cy="861972"/>
            </a:xfrm>
            <a:prstGeom prst="rect">
              <a:avLst/>
            </a:prstGeom>
          </p:spPr>
          <p:txBody>
            <a:bodyPr anchor="ctr" rtlCol="false" tIns="50800" lIns="50800" bIns="50800" rIns="50800"/>
            <a:lstStyle/>
            <a:p>
              <a:pPr algn="ctr" marL="0" indent="0" lvl="0">
                <a:lnSpc>
                  <a:spcPts val="2541"/>
                </a:lnSpc>
                <a:spcBef>
                  <a:spcPct val="0"/>
                </a:spcBef>
              </a:pPr>
            </a:p>
          </p:txBody>
        </p:sp>
      </p:grpSp>
      <p:grpSp>
        <p:nvGrpSpPr>
          <p:cNvPr name="Group 18" id="18"/>
          <p:cNvGrpSpPr/>
          <p:nvPr/>
        </p:nvGrpSpPr>
        <p:grpSpPr>
          <a:xfrm rot="0">
            <a:off x="9247326" y="3136448"/>
            <a:ext cx="3558363" cy="3055810"/>
            <a:chOff x="0" y="0"/>
            <a:chExt cx="937182" cy="804822"/>
          </a:xfrm>
        </p:grpSpPr>
        <p:sp>
          <p:nvSpPr>
            <p:cNvPr name="Freeform 19" id="19"/>
            <p:cNvSpPr/>
            <p:nvPr/>
          </p:nvSpPr>
          <p:spPr>
            <a:xfrm flipH="false" flipV="false" rot="0">
              <a:off x="0" y="0"/>
              <a:ext cx="937182" cy="804822"/>
            </a:xfrm>
            <a:custGeom>
              <a:avLst/>
              <a:gdLst/>
              <a:ahLst/>
              <a:cxnLst/>
              <a:rect r="r" b="b" t="t" l="l"/>
              <a:pathLst>
                <a:path h="804822" w="937182">
                  <a:moveTo>
                    <a:pt x="43514" y="0"/>
                  </a:moveTo>
                  <a:lnTo>
                    <a:pt x="893668" y="0"/>
                  </a:lnTo>
                  <a:cubicBezTo>
                    <a:pt x="917700" y="0"/>
                    <a:pt x="937182" y="19482"/>
                    <a:pt x="937182" y="43514"/>
                  </a:cubicBezTo>
                  <a:lnTo>
                    <a:pt x="937182" y="761309"/>
                  </a:lnTo>
                  <a:cubicBezTo>
                    <a:pt x="937182" y="785341"/>
                    <a:pt x="917700" y="804822"/>
                    <a:pt x="893668" y="804822"/>
                  </a:cubicBezTo>
                  <a:lnTo>
                    <a:pt x="43514" y="804822"/>
                  </a:lnTo>
                  <a:cubicBezTo>
                    <a:pt x="19482" y="804822"/>
                    <a:pt x="0" y="785341"/>
                    <a:pt x="0" y="761309"/>
                  </a:cubicBezTo>
                  <a:lnTo>
                    <a:pt x="0" y="43514"/>
                  </a:lnTo>
                  <a:cubicBezTo>
                    <a:pt x="0" y="19482"/>
                    <a:pt x="19482" y="0"/>
                    <a:pt x="43514" y="0"/>
                  </a:cubicBezTo>
                  <a:close/>
                </a:path>
              </a:pathLst>
            </a:custGeom>
            <a:solidFill>
              <a:srgbClr val="F1F1F1"/>
            </a:solidFill>
            <a:ln w="9525" cap="sq">
              <a:solidFill>
                <a:srgbClr val="B3B3B3"/>
              </a:solidFill>
              <a:prstDash val="solid"/>
              <a:miter/>
            </a:ln>
          </p:spPr>
        </p:sp>
        <p:sp>
          <p:nvSpPr>
            <p:cNvPr name="TextBox 20" id="20"/>
            <p:cNvSpPr txBox="true"/>
            <p:nvPr/>
          </p:nvSpPr>
          <p:spPr>
            <a:xfrm>
              <a:off x="0" y="-57150"/>
              <a:ext cx="937182" cy="861972"/>
            </a:xfrm>
            <a:prstGeom prst="rect">
              <a:avLst/>
            </a:prstGeom>
          </p:spPr>
          <p:txBody>
            <a:bodyPr anchor="ctr" rtlCol="false" tIns="50800" lIns="50800" bIns="50800" rIns="50800"/>
            <a:lstStyle/>
            <a:p>
              <a:pPr algn="ctr" marL="0" indent="0" lvl="0">
                <a:lnSpc>
                  <a:spcPts val="2541"/>
                </a:lnSpc>
                <a:spcBef>
                  <a:spcPct val="0"/>
                </a:spcBef>
              </a:pPr>
            </a:p>
          </p:txBody>
        </p:sp>
      </p:grpSp>
      <p:grpSp>
        <p:nvGrpSpPr>
          <p:cNvPr name="Group 21" id="21"/>
          <p:cNvGrpSpPr/>
          <p:nvPr/>
        </p:nvGrpSpPr>
        <p:grpSpPr>
          <a:xfrm rot="0">
            <a:off x="13012341" y="3136448"/>
            <a:ext cx="3558363" cy="3055810"/>
            <a:chOff x="0" y="0"/>
            <a:chExt cx="937182" cy="804822"/>
          </a:xfrm>
        </p:grpSpPr>
        <p:sp>
          <p:nvSpPr>
            <p:cNvPr name="Freeform 22" id="22"/>
            <p:cNvSpPr/>
            <p:nvPr/>
          </p:nvSpPr>
          <p:spPr>
            <a:xfrm flipH="false" flipV="false" rot="0">
              <a:off x="0" y="0"/>
              <a:ext cx="937182" cy="804822"/>
            </a:xfrm>
            <a:custGeom>
              <a:avLst/>
              <a:gdLst/>
              <a:ahLst/>
              <a:cxnLst/>
              <a:rect r="r" b="b" t="t" l="l"/>
              <a:pathLst>
                <a:path h="804822" w="937182">
                  <a:moveTo>
                    <a:pt x="43514" y="0"/>
                  </a:moveTo>
                  <a:lnTo>
                    <a:pt x="893668" y="0"/>
                  </a:lnTo>
                  <a:cubicBezTo>
                    <a:pt x="917700" y="0"/>
                    <a:pt x="937182" y="19482"/>
                    <a:pt x="937182" y="43514"/>
                  </a:cubicBezTo>
                  <a:lnTo>
                    <a:pt x="937182" y="761309"/>
                  </a:lnTo>
                  <a:cubicBezTo>
                    <a:pt x="937182" y="785341"/>
                    <a:pt x="917700" y="804822"/>
                    <a:pt x="893668" y="804822"/>
                  </a:cubicBezTo>
                  <a:lnTo>
                    <a:pt x="43514" y="804822"/>
                  </a:lnTo>
                  <a:cubicBezTo>
                    <a:pt x="19482" y="804822"/>
                    <a:pt x="0" y="785341"/>
                    <a:pt x="0" y="761309"/>
                  </a:cubicBezTo>
                  <a:lnTo>
                    <a:pt x="0" y="43514"/>
                  </a:lnTo>
                  <a:cubicBezTo>
                    <a:pt x="0" y="19482"/>
                    <a:pt x="19482" y="0"/>
                    <a:pt x="43514" y="0"/>
                  </a:cubicBezTo>
                  <a:close/>
                </a:path>
              </a:pathLst>
            </a:custGeom>
            <a:solidFill>
              <a:srgbClr val="F1F1F1"/>
            </a:solidFill>
            <a:ln w="9525" cap="sq">
              <a:solidFill>
                <a:srgbClr val="B3B3B3"/>
              </a:solidFill>
              <a:prstDash val="solid"/>
              <a:miter/>
            </a:ln>
          </p:spPr>
        </p:sp>
        <p:sp>
          <p:nvSpPr>
            <p:cNvPr name="TextBox 23" id="23"/>
            <p:cNvSpPr txBox="true"/>
            <p:nvPr/>
          </p:nvSpPr>
          <p:spPr>
            <a:xfrm>
              <a:off x="0" y="-57150"/>
              <a:ext cx="937182" cy="861972"/>
            </a:xfrm>
            <a:prstGeom prst="rect">
              <a:avLst/>
            </a:prstGeom>
          </p:spPr>
          <p:txBody>
            <a:bodyPr anchor="ctr" rtlCol="false" tIns="50800" lIns="50800" bIns="50800" rIns="50800"/>
            <a:lstStyle/>
            <a:p>
              <a:pPr algn="ctr" marL="0" indent="0" lvl="0">
                <a:lnSpc>
                  <a:spcPts val="2541"/>
                </a:lnSpc>
                <a:spcBef>
                  <a:spcPct val="0"/>
                </a:spcBef>
              </a:pPr>
            </a:p>
          </p:txBody>
        </p:sp>
      </p:grpSp>
      <p:sp>
        <p:nvSpPr>
          <p:cNvPr name="TextBox 24" id="24"/>
          <p:cNvSpPr txBox="true"/>
          <p:nvPr/>
        </p:nvSpPr>
        <p:spPr>
          <a:xfrm rot="0">
            <a:off x="2238942" y="3422413"/>
            <a:ext cx="2515072" cy="455296"/>
          </a:xfrm>
          <a:prstGeom prst="rect">
            <a:avLst/>
          </a:prstGeom>
        </p:spPr>
        <p:txBody>
          <a:bodyPr anchor="t" rtlCol="false" tIns="0" lIns="0" bIns="0" rIns="0">
            <a:spAutoFit/>
          </a:bodyPr>
          <a:lstStyle/>
          <a:p>
            <a:pPr algn="ctr">
              <a:lnSpc>
                <a:spcPts val="3824"/>
              </a:lnSpc>
            </a:pPr>
            <a:r>
              <a:rPr lang="en-US" b="true" sz="2549" spc="-50">
                <a:solidFill>
                  <a:srgbClr val="333333"/>
                </a:solidFill>
                <a:latin typeface="JASO Sans Bold"/>
                <a:ea typeface="JASO Sans Bold"/>
                <a:cs typeface="JASO Sans Bold"/>
                <a:sym typeface="JASO Sans Bold"/>
              </a:rPr>
              <a:t>문제</a:t>
            </a:r>
          </a:p>
        </p:txBody>
      </p:sp>
      <p:sp>
        <p:nvSpPr>
          <p:cNvPr name="TextBox 25" id="25"/>
          <p:cNvSpPr txBox="true"/>
          <p:nvPr/>
        </p:nvSpPr>
        <p:spPr>
          <a:xfrm rot="0">
            <a:off x="1955171" y="7792058"/>
            <a:ext cx="2515072" cy="455296"/>
          </a:xfrm>
          <a:prstGeom prst="rect">
            <a:avLst/>
          </a:prstGeom>
        </p:spPr>
        <p:txBody>
          <a:bodyPr anchor="t" rtlCol="false" tIns="0" lIns="0" bIns="0" rIns="0">
            <a:spAutoFit/>
          </a:bodyPr>
          <a:lstStyle/>
          <a:p>
            <a:pPr algn="ctr">
              <a:lnSpc>
                <a:spcPts val="3824"/>
              </a:lnSpc>
            </a:pPr>
            <a:r>
              <a:rPr lang="en-US" b="true" sz="2549" spc="-50">
                <a:solidFill>
                  <a:srgbClr val="FAFAFA"/>
                </a:solidFill>
                <a:latin typeface="JASO Sans Bold"/>
                <a:ea typeface="JASO Sans Bold"/>
                <a:cs typeface="JASO Sans Bold"/>
                <a:sym typeface="JASO Sans Bold"/>
              </a:rPr>
              <a:t>해결과제</a:t>
            </a:r>
          </a:p>
        </p:txBody>
      </p:sp>
      <p:sp>
        <p:nvSpPr>
          <p:cNvPr name="TextBox 26" id="26"/>
          <p:cNvSpPr txBox="true"/>
          <p:nvPr/>
        </p:nvSpPr>
        <p:spPr>
          <a:xfrm rot="0">
            <a:off x="6003957" y="3422413"/>
            <a:ext cx="2515072" cy="455296"/>
          </a:xfrm>
          <a:prstGeom prst="rect">
            <a:avLst/>
          </a:prstGeom>
        </p:spPr>
        <p:txBody>
          <a:bodyPr anchor="t" rtlCol="false" tIns="0" lIns="0" bIns="0" rIns="0">
            <a:spAutoFit/>
          </a:bodyPr>
          <a:lstStyle/>
          <a:p>
            <a:pPr algn="ctr">
              <a:lnSpc>
                <a:spcPts val="3824"/>
              </a:lnSpc>
            </a:pPr>
            <a:r>
              <a:rPr lang="en-US" b="true" sz="2549" spc="-50">
                <a:solidFill>
                  <a:srgbClr val="333333"/>
                </a:solidFill>
                <a:latin typeface="JASO Sans Bold"/>
                <a:ea typeface="JASO Sans Bold"/>
                <a:cs typeface="JASO Sans Bold"/>
                <a:sym typeface="JASO Sans Bold"/>
              </a:rPr>
              <a:t>문제</a:t>
            </a:r>
          </a:p>
        </p:txBody>
      </p:sp>
      <p:sp>
        <p:nvSpPr>
          <p:cNvPr name="TextBox 27" id="27"/>
          <p:cNvSpPr txBox="true"/>
          <p:nvPr/>
        </p:nvSpPr>
        <p:spPr>
          <a:xfrm rot="0">
            <a:off x="9768972" y="3422413"/>
            <a:ext cx="2515072" cy="455296"/>
          </a:xfrm>
          <a:prstGeom prst="rect">
            <a:avLst/>
          </a:prstGeom>
        </p:spPr>
        <p:txBody>
          <a:bodyPr anchor="t" rtlCol="false" tIns="0" lIns="0" bIns="0" rIns="0">
            <a:spAutoFit/>
          </a:bodyPr>
          <a:lstStyle/>
          <a:p>
            <a:pPr algn="ctr">
              <a:lnSpc>
                <a:spcPts val="3824"/>
              </a:lnSpc>
            </a:pPr>
            <a:r>
              <a:rPr lang="en-US" b="true" sz="2549" spc="-50">
                <a:solidFill>
                  <a:srgbClr val="333333"/>
                </a:solidFill>
                <a:latin typeface="JASO Sans Bold"/>
                <a:ea typeface="JASO Sans Bold"/>
                <a:cs typeface="JASO Sans Bold"/>
                <a:sym typeface="JASO Sans Bold"/>
              </a:rPr>
              <a:t>문제</a:t>
            </a:r>
          </a:p>
        </p:txBody>
      </p:sp>
      <p:sp>
        <p:nvSpPr>
          <p:cNvPr name="TextBox 28" id="28"/>
          <p:cNvSpPr txBox="true"/>
          <p:nvPr/>
        </p:nvSpPr>
        <p:spPr>
          <a:xfrm rot="0">
            <a:off x="13532242" y="3422413"/>
            <a:ext cx="2515072" cy="455296"/>
          </a:xfrm>
          <a:prstGeom prst="rect">
            <a:avLst/>
          </a:prstGeom>
        </p:spPr>
        <p:txBody>
          <a:bodyPr anchor="t" rtlCol="false" tIns="0" lIns="0" bIns="0" rIns="0">
            <a:spAutoFit/>
          </a:bodyPr>
          <a:lstStyle/>
          <a:p>
            <a:pPr algn="ctr">
              <a:lnSpc>
                <a:spcPts val="3824"/>
              </a:lnSpc>
            </a:pPr>
            <a:r>
              <a:rPr lang="en-US" b="true" sz="2549" spc="-50">
                <a:solidFill>
                  <a:srgbClr val="333333"/>
                </a:solidFill>
                <a:latin typeface="JASO Sans Bold"/>
                <a:ea typeface="JASO Sans Bold"/>
                <a:cs typeface="JASO Sans Bold"/>
                <a:sym typeface="JASO Sans Bold"/>
              </a:rPr>
              <a:t>문제</a:t>
            </a:r>
          </a:p>
        </p:txBody>
      </p:sp>
      <p:sp>
        <p:nvSpPr>
          <p:cNvPr name="TextBox 29" id="29"/>
          <p:cNvSpPr txBox="true"/>
          <p:nvPr/>
        </p:nvSpPr>
        <p:spPr>
          <a:xfrm rot="0">
            <a:off x="2238942" y="3703797"/>
            <a:ext cx="2515072" cy="941506"/>
          </a:xfrm>
          <a:prstGeom prst="rect">
            <a:avLst/>
          </a:prstGeom>
        </p:spPr>
        <p:txBody>
          <a:bodyPr anchor="t" rtlCol="false" tIns="0" lIns="0" bIns="0" rIns="0">
            <a:spAutoFit/>
          </a:bodyPr>
          <a:lstStyle/>
          <a:p>
            <a:pPr algn="ctr">
              <a:lnSpc>
                <a:spcPts val="7961"/>
              </a:lnSpc>
            </a:pPr>
            <a:r>
              <a:rPr lang="en-US" b="true" sz="5307" spc="-106">
                <a:solidFill>
                  <a:srgbClr val="416F6C"/>
                </a:solidFill>
                <a:latin typeface="JASO Sans Bold"/>
                <a:ea typeface="JASO Sans Bold"/>
                <a:cs typeface="JASO Sans Bold"/>
                <a:sym typeface="JASO Sans Bold"/>
              </a:rPr>
              <a:t>01</a:t>
            </a:r>
          </a:p>
        </p:txBody>
      </p:sp>
      <p:sp>
        <p:nvSpPr>
          <p:cNvPr name="TextBox 30" id="30"/>
          <p:cNvSpPr txBox="true"/>
          <p:nvPr/>
        </p:nvSpPr>
        <p:spPr>
          <a:xfrm rot="0">
            <a:off x="6003957" y="3703797"/>
            <a:ext cx="2515072" cy="941506"/>
          </a:xfrm>
          <a:prstGeom prst="rect">
            <a:avLst/>
          </a:prstGeom>
        </p:spPr>
        <p:txBody>
          <a:bodyPr anchor="t" rtlCol="false" tIns="0" lIns="0" bIns="0" rIns="0">
            <a:spAutoFit/>
          </a:bodyPr>
          <a:lstStyle/>
          <a:p>
            <a:pPr algn="ctr">
              <a:lnSpc>
                <a:spcPts val="7961"/>
              </a:lnSpc>
            </a:pPr>
            <a:r>
              <a:rPr lang="en-US" b="true" sz="5307" spc="-106">
                <a:solidFill>
                  <a:srgbClr val="416F6C"/>
                </a:solidFill>
                <a:latin typeface="JASO Sans Bold"/>
                <a:ea typeface="JASO Sans Bold"/>
                <a:cs typeface="JASO Sans Bold"/>
                <a:sym typeface="JASO Sans Bold"/>
              </a:rPr>
              <a:t>02</a:t>
            </a:r>
          </a:p>
        </p:txBody>
      </p:sp>
      <p:sp>
        <p:nvSpPr>
          <p:cNvPr name="TextBox 31" id="31"/>
          <p:cNvSpPr txBox="true"/>
          <p:nvPr/>
        </p:nvSpPr>
        <p:spPr>
          <a:xfrm rot="0">
            <a:off x="9768972" y="3703797"/>
            <a:ext cx="2515072" cy="941506"/>
          </a:xfrm>
          <a:prstGeom prst="rect">
            <a:avLst/>
          </a:prstGeom>
        </p:spPr>
        <p:txBody>
          <a:bodyPr anchor="t" rtlCol="false" tIns="0" lIns="0" bIns="0" rIns="0">
            <a:spAutoFit/>
          </a:bodyPr>
          <a:lstStyle/>
          <a:p>
            <a:pPr algn="ctr">
              <a:lnSpc>
                <a:spcPts val="7961"/>
              </a:lnSpc>
            </a:pPr>
            <a:r>
              <a:rPr lang="en-US" b="true" sz="5307" spc="-106">
                <a:solidFill>
                  <a:srgbClr val="416F6C"/>
                </a:solidFill>
                <a:latin typeface="JASO Sans Bold"/>
                <a:ea typeface="JASO Sans Bold"/>
                <a:cs typeface="JASO Sans Bold"/>
                <a:sym typeface="JASO Sans Bold"/>
              </a:rPr>
              <a:t>03</a:t>
            </a:r>
          </a:p>
        </p:txBody>
      </p:sp>
      <p:sp>
        <p:nvSpPr>
          <p:cNvPr name="TextBox 32" id="32"/>
          <p:cNvSpPr txBox="true"/>
          <p:nvPr/>
        </p:nvSpPr>
        <p:spPr>
          <a:xfrm rot="0">
            <a:off x="13532242" y="3703797"/>
            <a:ext cx="2515072" cy="941506"/>
          </a:xfrm>
          <a:prstGeom prst="rect">
            <a:avLst/>
          </a:prstGeom>
        </p:spPr>
        <p:txBody>
          <a:bodyPr anchor="t" rtlCol="false" tIns="0" lIns="0" bIns="0" rIns="0">
            <a:spAutoFit/>
          </a:bodyPr>
          <a:lstStyle/>
          <a:p>
            <a:pPr algn="ctr">
              <a:lnSpc>
                <a:spcPts val="7961"/>
              </a:lnSpc>
            </a:pPr>
            <a:r>
              <a:rPr lang="en-US" b="true" sz="5307" spc="-106">
                <a:solidFill>
                  <a:srgbClr val="416F6C"/>
                </a:solidFill>
                <a:latin typeface="JASO Sans Bold"/>
                <a:ea typeface="JASO Sans Bold"/>
                <a:cs typeface="JASO Sans Bold"/>
                <a:sym typeface="JASO Sans Bold"/>
              </a:rPr>
              <a:t>04</a:t>
            </a:r>
          </a:p>
        </p:txBody>
      </p:sp>
      <p:sp>
        <p:nvSpPr>
          <p:cNvPr name="TextBox 33" id="33"/>
          <p:cNvSpPr txBox="true"/>
          <p:nvPr/>
        </p:nvSpPr>
        <p:spPr>
          <a:xfrm rot="0">
            <a:off x="2208140" y="5013087"/>
            <a:ext cx="2576675" cy="752475"/>
          </a:xfrm>
          <a:prstGeom prst="rect">
            <a:avLst/>
          </a:prstGeom>
        </p:spPr>
        <p:txBody>
          <a:bodyPr anchor="t" rtlCol="false" tIns="0" lIns="0" bIns="0" rIns="0">
            <a:spAutoFit/>
          </a:bodyPr>
          <a:lstStyle/>
          <a:p>
            <a:pPr algn="ctr" marL="0" indent="0" lvl="1">
              <a:lnSpc>
                <a:spcPts val="3000"/>
              </a:lnSpc>
              <a:spcBef>
                <a:spcPct val="0"/>
              </a:spcBef>
            </a:pPr>
            <a:r>
              <a:rPr lang="en-US" sz="2000" spc="-40" strike="noStrike" u="none">
                <a:solidFill>
                  <a:srgbClr val="333333">
                    <a:alpha val="69804"/>
                  </a:srgbClr>
                </a:solidFill>
                <a:latin typeface="JASO Sans"/>
                <a:ea typeface="JASO Sans"/>
                <a:cs typeface="JASO Sans"/>
                <a:sym typeface="JASO Sans"/>
              </a:rPr>
              <a:t>퍼스트파티 신호 미활용으로 타겟 낭비</a:t>
            </a:r>
          </a:p>
        </p:txBody>
      </p:sp>
      <p:sp>
        <p:nvSpPr>
          <p:cNvPr name="TextBox 34" id="34"/>
          <p:cNvSpPr txBox="true"/>
          <p:nvPr/>
        </p:nvSpPr>
        <p:spPr>
          <a:xfrm rot="0">
            <a:off x="4905068" y="7849209"/>
            <a:ext cx="12655104" cy="360045"/>
          </a:xfrm>
          <a:prstGeom prst="rect">
            <a:avLst/>
          </a:prstGeom>
        </p:spPr>
        <p:txBody>
          <a:bodyPr anchor="t" rtlCol="false" tIns="0" lIns="0" bIns="0" rIns="0">
            <a:spAutoFit/>
          </a:bodyPr>
          <a:lstStyle/>
          <a:p>
            <a:pPr algn="l">
              <a:lnSpc>
                <a:spcPts val="3074"/>
              </a:lnSpc>
            </a:pPr>
            <a:r>
              <a:rPr lang="en-US" b="true" sz="2049" spc="-40">
                <a:solidFill>
                  <a:srgbClr val="FAFAFA"/>
                </a:solidFill>
                <a:latin typeface="JASO Sans Bold"/>
                <a:ea typeface="JASO Sans Bold"/>
                <a:cs typeface="JASO Sans Bold"/>
                <a:sym typeface="JASO Sans Bold"/>
              </a:rPr>
              <a:t>퍼스트파티 데이터 수집·활용, 크리에이티브 테스트 체계화, 멀티터치 측정 도입, 확장 시 예산 규칙 설계</a:t>
            </a:r>
          </a:p>
        </p:txBody>
      </p:sp>
      <p:sp>
        <p:nvSpPr>
          <p:cNvPr name="TextBox 35" id="35"/>
          <p:cNvSpPr txBox="true"/>
          <p:nvPr/>
        </p:nvSpPr>
        <p:spPr>
          <a:xfrm rot="0">
            <a:off x="5973155" y="5013087"/>
            <a:ext cx="2576675" cy="752475"/>
          </a:xfrm>
          <a:prstGeom prst="rect">
            <a:avLst/>
          </a:prstGeom>
        </p:spPr>
        <p:txBody>
          <a:bodyPr anchor="t" rtlCol="false" tIns="0" lIns="0" bIns="0" rIns="0">
            <a:spAutoFit/>
          </a:bodyPr>
          <a:lstStyle/>
          <a:p>
            <a:pPr algn="ctr" marL="0" indent="0" lvl="1">
              <a:lnSpc>
                <a:spcPts val="3000"/>
              </a:lnSpc>
              <a:spcBef>
                <a:spcPct val="0"/>
              </a:spcBef>
            </a:pPr>
            <a:r>
              <a:rPr lang="en-US" sz="2000" spc="-40" strike="noStrike" u="none">
                <a:solidFill>
                  <a:srgbClr val="333333">
                    <a:alpha val="69804"/>
                  </a:srgbClr>
                </a:solidFill>
                <a:latin typeface="JASO Sans"/>
                <a:ea typeface="JASO Sans"/>
                <a:cs typeface="JASO Sans"/>
                <a:sym typeface="JASO Sans"/>
              </a:rPr>
              <a:t>CTR 대비 CVR 하락으로 소재 효율 저하</a:t>
            </a:r>
          </a:p>
        </p:txBody>
      </p:sp>
      <p:sp>
        <p:nvSpPr>
          <p:cNvPr name="TextBox 36" id="36"/>
          <p:cNvSpPr txBox="true"/>
          <p:nvPr/>
        </p:nvSpPr>
        <p:spPr>
          <a:xfrm rot="0">
            <a:off x="9738170" y="5013087"/>
            <a:ext cx="2576675" cy="752475"/>
          </a:xfrm>
          <a:prstGeom prst="rect">
            <a:avLst/>
          </a:prstGeom>
        </p:spPr>
        <p:txBody>
          <a:bodyPr anchor="t" rtlCol="false" tIns="0" lIns="0" bIns="0" rIns="0">
            <a:spAutoFit/>
          </a:bodyPr>
          <a:lstStyle/>
          <a:p>
            <a:pPr algn="ctr" marL="0" indent="0" lvl="1">
              <a:lnSpc>
                <a:spcPts val="3000"/>
              </a:lnSpc>
              <a:spcBef>
                <a:spcPct val="0"/>
              </a:spcBef>
            </a:pPr>
            <a:r>
              <a:rPr lang="en-US" sz="2000" spc="-40" strike="noStrike" u="none">
                <a:solidFill>
                  <a:srgbClr val="333333">
                    <a:alpha val="69804"/>
                  </a:srgbClr>
                </a:solidFill>
                <a:latin typeface="JASO Sans"/>
                <a:ea typeface="JASO Sans"/>
                <a:cs typeface="JASO Sans"/>
                <a:sym typeface="JASO Sans"/>
              </a:rPr>
              <a:t>멀티터치 어트리뷰션 미적용으로 전환 불명확</a:t>
            </a:r>
          </a:p>
        </p:txBody>
      </p:sp>
      <p:sp>
        <p:nvSpPr>
          <p:cNvPr name="TextBox 37" id="37"/>
          <p:cNvSpPr txBox="true"/>
          <p:nvPr/>
        </p:nvSpPr>
        <p:spPr>
          <a:xfrm rot="0">
            <a:off x="13501440" y="5013087"/>
            <a:ext cx="2576675" cy="752475"/>
          </a:xfrm>
          <a:prstGeom prst="rect">
            <a:avLst/>
          </a:prstGeom>
        </p:spPr>
        <p:txBody>
          <a:bodyPr anchor="t" rtlCol="false" tIns="0" lIns="0" bIns="0" rIns="0">
            <a:spAutoFit/>
          </a:bodyPr>
          <a:lstStyle/>
          <a:p>
            <a:pPr algn="ctr" marL="0" indent="0" lvl="1">
              <a:lnSpc>
                <a:spcPts val="3000"/>
              </a:lnSpc>
              <a:spcBef>
                <a:spcPct val="0"/>
              </a:spcBef>
            </a:pPr>
            <a:r>
              <a:rPr lang="en-US" sz="2000" spc="-40" strike="noStrike" u="none">
                <a:solidFill>
                  <a:srgbClr val="333333">
                    <a:alpha val="69804"/>
                  </a:srgbClr>
                </a:solidFill>
                <a:latin typeface="JASO Sans"/>
                <a:ea typeface="JASO Sans"/>
                <a:cs typeface="JASO Sans"/>
                <a:sym typeface="JASO Sans"/>
              </a:rPr>
              <a:t>성과 채널 예산 확장 시 CPA 상승</a:t>
            </a:r>
          </a:p>
        </p:txBody>
      </p:sp>
      <p:sp>
        <p:nvSpPr>
          <p:cNvPr name="AutoShape 38" id="38"/>
          <p:cNvSpPr/>
          <p:nvPr/>
        </p:nvSpPr>
        <p:spPr>
          <a:xfrm>
            <a:off x="2026739" y="4813858"/>
            <a:ext cx="2939478" cy="0"/>
          </a:xfrm>
          <a:prstGeom prst="line">
            <a:avLst/>
          </a:prstGeom>
          <a:ln cap="rnd" w="9525">
            <a:solidFill>
              <a:srgbClr val="B3B3B3"/>
            </a:solidFill>
            <a:prstDash val="solid"/>
            <a:headEnd type="none" len="sm" w="sm"/>
            <a:tailEnd type="none" len="sm" w="sm"/>
          </a:ln>
        </p:spPr>
      </p:sp>
      <p:sp>
        <p:nvSpPr>
          <p:cNvPr name="AutoShape 39" id="39"/>
          <p:cNvSpPr/>
          <p:nvPr/>
        </p:nvSpPr>
        <p:spPr>
          <a:xfrm>
            <a:off x="4470243" y="7622168"/>
            <a:ext cx="0" cy="871277"/>
          </a:xfrm>
          <a:prstGeom prst="line">
            <a:avLst/>
          </a:prstGeom>
          <a:ln cap="rnd" w="19050">
            <a:solidFill>
              <a:srgbClr val="F0F1EE">
                <a:alpha val="49804"/>
              </a:srgbClr>
            </a:solidFill>
            <a:prstDash val="solid"/>
            <a:headEnd type="none" len="sm" w="sm"/>
            <a:tailEnd type="none" len="sm" w="sm"/>
          </a:ln>
        </p:spPr>
      </p:sp>
      <p:sp>
        <p:nvSpPr>
          <p:cNvPr name="AutoShape 40" id="40"/>
          <p:cNvSpPr/>
          <p:nvPr/>
        </p:nvSpPr>
        <p:spPr>
          <a:xfrm>
            <a:off x="5791754" y="4813858"/>
            <a:ext cx="2939478" cy="0"/>
          </a:xfrm>
          <a:prstGeom prst="line">
            <a:avLst/>
          </a:prstGeom>
          <a:ln cap="rnd" w="9525">
            <a:solidFill>
              <a:srgbClr val="B3B3B3"/>
            </a:solidFill>
            <a:prstDash val="solid"/>
            <a:headEnd type="none" len="sm" w="sm"/>
            <a:tailEnd type="none" len="sm" w="sm"/>
          </a:ln>
        </p:spPr>
      </p:sp>
      <p:sp>
        <p:nvSpPr>
          <p:cNvPr name="AutoShape 41" id="41"/>
          <p:cNvSpPr/>
          <p:nvPr/>
        </p:nvSpPr>
        <p:spPr>
          <a:xfrm>
            <a:off x="9556769" y="4813858"/>
            <a:ext cx="2939478" cy="0"/>
          </a:xfrm>
          <a:prstGeom prst="line">
            <a:avLst/>
          </a:prstGeom>
          <a:ln cap="rnd" w="9525">
            <a:solidFill>
              <a:srgbClr val="B3B3B3"/>
            </a:solidFill>
            <a:prstDash val="solid"/>
            <a:headEnd type="none" len="sm" w="sm"/>
            <a:tailEnd type="none" len="sm" w="sm"/>
          </a:ln>
        </p:spPr>
      </p:sp>
      <p:sp>
        <p:nvSpPr>
          <p:cNvPr name="AutoShape 42" id="42"/>
          <p:cNvSpPr/>
          <p:nvPr/>
        </p:nvSpPr>
        <p:spPr>
          <a:xfrm>
            <a:off x="13320039" y="4813858"/>
            <a:ext cx="2939478" cy="0"/>
          </a:xfrm>
          <a:prstGeom prst="line">
            <a:avLst/>
          </a:prstGeom>
          <a:ln cap="rnd" w="9525">
            <a:solidFill>
              <a:srgbClr val="B3B3B3"/>
            </a:solidFill>
            <a:prstDash val="solid"/>
            <a:headEnd type="none" len="sm" w="sm"/>
            <a:tailEnd type="none" len="sm" w="sm"/>
          </a:ln>
        </p:spPr>
      </p:sp>
      <p:sp>
        <p:nvSpPr>
          <p:cNvPr name="Freeform 43" id="43"/>
          <p:cNvSpPr/>
          <p:nvPr/>
        </p:nvSpPr>
        <p:spPr>
          <a:xfrm flipH="false" flipV="false" rot="5400000">
            <a:off x="3382771" y="6604985"/>
            <a:ext cx="227412" cy="222296"/>
          </a:xfrm>
          <a:custGeom>
            <a:avLst/>
            <a:gdLst/>
            <a:ahLst/>
            <a:cxnLst/>
            <a:rect r="r" b="b" t="t" l="l"/>
            <a:pathLst>
              <a:path h="222296" w="227412">
                <a:moveTo>
                  <a:pt x="0" y="0"/>
                </a:moveTo>
                <a:lnTo>
                  <a:pt x="227413" y="0"/>
                </a:lnTo>
                <a:lnTo>
                  <a:pt x="227413" y="222296"/>
                </a:lnTo>
                <a:lnTo>
                  <a:pt x="0" y="2222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4" id="44"/>
          <p:cNvSpPr/>
          <p:nvPr/>
        </p:nvSpPr>
        <p:spPr>
          <a:xfrm flipH="false" flipV="false" rot="5400000">
            <a:off x="7147786" y="6604985"/>
            <a:ext cx="227412" cy="222296"/>
          </a:xfrm>
          <a:custGeom>
            <a:avLst/>
            <a:gdLst/>
            <a:ahLst/>
            <a:cxnLst/>
            <a:rect r="r" b="b" t="t" l="l"/>
            <a:pathLst>
              <a:path h="222296" w="227412">
                <a:moveTo>
                  <a:pt x="0" y="0"/>
                </a:moveTo>
                <a:lnTo>
                  <a:pt x="227413" y="0"/>
                </a:lnTo>
                <a:lnTo>
                  <a:pt x="227413" y="222296"/>
                </a:lnTo>
                <a:lnTo>
                  <a:pt x="0" y="2222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5" id="45"/>
          <p:cNvSpPr/>
          <p:nvPr/>
        </p:nvSpPr>
        <p:spPr>
          <a:xfrm flipH="false" flipV="false" rot="5400000">
            <a:off x="10912801" y="6604985"/>
            <a:ext cx="227412" cy="222296"/>
          </a:xfrm>
          <a:custGeom>
            <a:avLst/>
            <a:gdLst/>
            <a:ahLst/>
            <a:cxnLst/>
            <a:rect r="r" b="b" t="t" l="l"/>
            <a:pathLst>
              <a:path h="222296" w="227412">
                <a:moveTo>
                  <a:pt x="0" y="0"/>
                </a:moveTo>
                <a:lnTo>
                  <a:pt x="227413" y="0"/>
                </a:lnTo>
                <a:lnTo>
                  <a:pt x="227413" y="222296"/>
                </a:lnTo>
                <a:lnTo>
                  <a:pt x="0" y="2222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6" id="46"/>
          <p:cNvSpPr/>
          <p:nvPr/>
        </p:nvSpPr>
        <p:spPr>
          <a:xfrm flipH="false" flipV="false" rot="5400000">
            <a:off x="14678397" y="6604985"/>
            <a:ext cx="227412" cy="222296"/>
          </a:xfrm>
          <a:custGeom>
            <a:avLst/>
            <a:gdLst/>
            <a:ahLst/>
            <a:cxnLst/>
            <a:rect r="r" b="b" t="t" l="l"/>
            <a:pathLst>
              <a:path h="222296" w="227412">
                <a:moveTo>
                  <a:pt x="0" y="0"/>
                </a:moveTo>
                <a:lnTo>
                  <a:pt x="227412" y="0"/>
                </a:lnTo>
                <a:lnTo>
                  <a:pt x="227412" y="222296"/>
                </a:lnTo>
                <a:lnTo>
                  <a:pt x="0" y="2222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1416"/>
            <a:chOff x="0" y="0"/>
            <a:chExt cx="3762963" cy="37328"/>
          </a:xfrm>
        </p:grpSpPr>
        <p:sp>
          <p:nvSpPr>
            <p:cNvPr name="Freeform 3" id="3"/>
            <p:cNvSpPr/>
            <p:nvPr/>
          </p:nvSpPr>
          <p:spPr>
            <a:xfrm flipH="false" flipV="false" rot="0">
              <a:off x="0" y="0"/>
              <a:ext cx="3762963" cy="37328"/>
            </a:xfrm>
            <a:custGeom>
              <a:avLst/>
              <a:gdLst/>
              <a:ahLst/>
              <a:cxnLst/>
              <a:rect r="r" b="b" t="t" l="l"/>
              <a:pathLst>
                <a:path h="37328" w="3762963">
                  <a:moveTo>
                    <a:pt x="0" y="0"/>
                  </a:moveTo>
                  <a:lnTo>
                    <a:pt x="3762963" y="0"/>
                  </a:lnTo>
                  <a:lnTo>
                    <a:pt x="3762963" y="37328"/>
                  </a:lnTo>
                  <a:lnTo>
                    <a:pt x="0" y="37328"/>
                  </a:lnTo>
                  <a:close/>
                </a:path>
              </a:pathLst>
            </a:custGeom>
            <a:solidFill>
              <a:srgbClr val="416F6C"/>
            </a:solidFill>
          </p:spPr>
        </p:sp>
        <p:sp>
          <p:nvSpPr>
            <p:cNvPr name="TextBox 4" id="4"/>
            <p:cNvSpPr txBox="true"/>
            <p:nvPr/>
          </p:nvSpPr>
          <p:spPr>
            <a:xfrm>
              <a:off x="0" y="-57150"/>
              <a:ext cx="3762963" cy="94478"/>
            </a:xfrm>
            <a:prstGeom prst="rect">
              <a:avLst/>
            </a:prstGeom>
          </p:spPr>
          <p:txBody>
            <a:bodyPr anchor="ctr" rtlCol="false" tIns="50800" lIns="50800" bIns="50800" rIns="50800"/>
            <a:lstStyle/>
            <a:p>
              <a:pPr algn="ctr">
                <a:lnSpc>
                  <a:spcPts val="2541"/>
                </a:lnSpc>
              </a:pPr>
            </a:p>
          </p:txBody>
        </p:sp>
      </p:grpSp>
      <p:sp>
        <p:nvSpPr>
          <p:cNvPr name="AutoShape 5" id="5"/>
          <p:cNvSpPr/>
          <p:nvPr/>
        </p:nvSpPr>
        <p:spPr>
          <a:xfrm>
            <a:off x="844732" y="2064885"/>
            <a:ext cx="16598535" cy="0"/>
          </a:xfrm>
          <a:prstGeom prst="line">
            <a:avLst/>
          </a:prstGeom>
          <a:ln cap="flat" w="9525">
            <a:solidFill>
              <a:srgbClr val="416F6C"/>
            </a:solidFill>
            <a:prstDash val="solid"/>
            <a:headEnd type="none" len="sm" w="sm"/>
            <a:tailEnd type="none" len="sm" w="sm"/>
          </a:ln>
        </p:spPr>
      </p:sp>
      <p:sp>
        <p:nvSpPr>
          <p:cNvPr name="Freeform 6" id="6"/>
          <p:cNvSpPr/>
          <p:nvPr/>
        </p:nvSpPr>
        <p:spPr>
          <a:xfrm flipH="false" flipV="false" rot="0">
            <a:off x="1028700" y="1059829"/>
            <a:ext cx="362690" cy="362690"/>
          </a:xfrm>
          <a:custGeom>
            <a:avLst/>
            <a:gdLst/>
            <a:ahLst/>
            <a:cxnLst/>
            <a:rect r="r" b="b" t="t" l="l"/>
            <a:pathLst>
              <a:path h="362690" w="362690">
                <a:moveTo>
                  <a:pt x="0" y="0"/>
                </a:moveTo>
                <a:lnTo>
                  <a:pt x="362690" y="0"/>
                </a:lnTo>
                <a:lnTo>
                  <a:pt x="362690" y="362690"/>
                </a:lnTo>
                <a:lnTo>
                  <a:pt x="0" y="362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717296" y="3145973"/>
            <a:ext cx="7297664" cy="3524125"/>
            <a:chOff x="0" y="0"/>
            <a:chExt cx="2936554" cy="1418095"/>
          </a:xfrm>
        </p:grpSpPr>
        <p:sp>
          <p:nvSpPr>
            <p:cNvPr name="Freeform 8" id="8"/>
            <p:cNvSpPr/>
            <p:nvPr/>
          </p:nvSpPr>
          <p:spPr>
            <a:xfrm flipH="false" flipV="false" rot="0">
              <a:off x="0" y="0"/>
              <a:ext cx="2936554" cy="1418095"/>
            </a:xfrm>
            <a:custGeom>
              <a:avLst/>
              <a:gdLst/>
              <a:ahLst/>
              <a:cxnLst/>
              <a:rect r="r" b="b" t="t" l="l"/>
              <a:pathLst>
                <a:path h="1418095" w="2936554">
                  <a:moveTo>
                    <a:pt x="21218" y="0"/>
                  </a:moveTo>
                  <a:lnTo>
                    <a:pt x="2915337" y="0"/>
                  </a:lnTo>
                  <a:cubicBezTo>
                    <a:pt x="2927055" y="0"/>
                    <a:pt x="2936554" y="9499"/>
                    <a:pt x="2936554" y="21218"/>
                  </a:cubicBezTo>
                  <a:lnTo>
                    <a:pt x="2936554" y="1396878"/>
                  </a:lnTo>
                  <a:cubicBezTo>
                    <a:pt x="2936554" y="1402505"/>
                    <a:pt x="2934319" y="1407902"/>
                    <a:pt x="2930340" y="1411881"/>
                  </a:cubicBezTo>
                  <a:cubicBezTo>
                    <a:pt x="2926361" y="1415860"/>
                    <a:pt x="2920964" y="1418095"/>
                    <a:pt x="2915337" y="1418095"/>
                  </a:cubicBezTo>
                  <a:lnTo>
                    <a:pt x="21218" y="1418095"/>
                  </a:lnTo>
                  <a:cubicBezTo>
                    <a:pt x="9499" y="1418095"/>
                    <a:pt x="0" y="1408596"/>
                    <a:pt x="0" y="1396878"/>
                  </a:cubicBezTo>
                  <a:lnTo>
                    <a:pt x="0" y="21218"/>
                  </a:lnTo>
                  <a:cubicBezTo>
                    <a:pt x="0" y="9499"/>
                    <a:pt x="9499" y="0"/>
                    <a:pt x="21218" y="0"/>
                  </a:cubicBezTo>
                  <a:close/>
                </a:path>
              </a:pathLst>
            </a:custGeom>
            <a:blipFill>
              <a:blip r:embed="rId4"/>
              <a:stretch>
                <a:fillRect l="0" t="-19088" r="0" b="-19088"/>
              </a:stretch>
            </a:blipFill>
            <a:ln cap="sq">
              <a:noFill/>
              <a:prstDash val="solid"/>
              <a:miter/>
            </a:ln>
          </p:spPr>
        </p:sp>
      </p:grpSp>
      <p:grpSp>
        <p:nvGrpSpPr>
          <p:cNvPr name="Group 9" id="9"/>
          <p:cNvGrpSpPr/>
          <p:nvPr/>
        </p:nvGrpSpPr>
        <p:grpSpPr>
          <a:xfrm rot="0">
            <a:off x="9273040" y="3145973"/>
            <a:ext cx="7297664" cy="3524125"/>
            <a:chOff x="0" y="0"/>
            <a:chExt cx="2936554" cy="1418095"/>
          </a:xfrm>
        </p:grpSpPr>
        <p:sp>
          <p:nvSpPr>
            <p:cNvPr name="Freeform 10" id="10"/>
            <p:cNvSpPr/>
            <p:nvPr/>
          </p:nvSpPr>
          <p:spPr>
            <a:xfrm flipH="false" flipV="false" rot="0">
              <a:off x="0" y="0"/>
              <a:ext cx="2936554" cy="1418095"/>
            </a:xfrm>
            <a:custGeom>
              <a:avLst/>
              <a:gdLst/>
              <a:ahLst/>
              <a:cxnLst/>
              <a:rect r="r" b="b" t="t" l="l"/>
              <a:pathLst>
                <a:path h="1418095" w="2936554">
                  <a:moveTo>
                    <a:pt x="21218" y="0"/>
                  </a:moveTo>
                  <a:lnTo>
                    <a:pt x="2915337" y="0"/>
                  </a:lnTo>
                  <a:cubicBezTo>
                    <a:pt x="2927055" y="0"/>
                    <a:pt x="2936554" y="9499"/>
                    <a:pt x="2936554" y="21218"/>
                  </a:cubicBezTo>
                  <a:lnTo>
                    <a:pt x="2936554" y="1396878"/>
                  </a:lnTo>
                  <a:cubicBezTo>
                    <a:pt x="2936554" y="1402505"/>
                    <a:pt x="2934319" y="1407902"/>
                    <a:pt x="2930340" y="1411881"/>
                  </a:cubicBezTo>
                  <a:cubicBezTo>
                    <a:pt x="2926361" y="1415860"/>
                    <a:pt x="2920964" y="1418095"/>
                    <a:pt x="2915337" y="1418095"/>
                  </a:cubicBezTo>
                  <a:lnTo>
                    <a:pt x="21218" y="1418095"/>
                  </a:lnTo>
                  <a:cubicBezTo>
                    <a:pt x="9499" y="1418095"/>
                    <a:pt x="0" y="1408596"/>
                    <a:pt x="0" y="1396878"/>
                  </a:cubicBezTo>
                  <a:lnTo>
                    <a:pt x="0" y="21218"/>
                  </a:lnTo>
                  <a:cubicBezTo>
                    <a:pt x="0" y="9499"/>
                    <a:pt x="9499" y="0"/>
                    <a:pt x="21218" y="0"/>
                  </a:cubicBezTo>
                  <a:close/>
                </a:path>
              </a:pathLst>
            </a:custGeom>
            <a:blipFill>
              <a:blip r:embed="rId5"/>
              <a:stretch>
                <a:fillRect l="0" t="-22477" r="0" b="-22477"/>
              </a:stretch>
            </a:blipFill>
            <a:ln cap="sq">
              <a:noFill/>
              <a:prstDash val="solid"/>
              <a:miter/>
            </a:ln>
          </p:spPr>
        </p:sp>
      </p:grpSp>
      <p:sp>
        <p:nvSpPr>
          <p:cNvPr name="TextBox 11" id="11"/>
          <p:cNvSpPr txBox="true"/>
          <p:nvPr/>
        </p:nvSpPr>
        <p:spPr>
          <a:xfrm rot="0">
            <a:off x="1601101" y="917525"/>
            <a:ext cx="9792550" cy="733022"/>
          </a:xfrm>
          <a:prstGeom prst="rect">
            <a:avLst/>
          </a:prstGeom>
        </p:spPr>
        <p:txBody>
          <a:bodyPr anchor="t" rtlCol="false" tIns="0" lIns="0" bIns="0" rIns="0">
            <a:spAutoFit/>
          </a:bodyPr>
          <a:lstStyle/>
          <a:p>
            <a:pPr algn="l" marL="0" indent="0" lvl="0">
              <a:lnSpc>
                <a:spcPts val="5508"/>
              </a:lnSpc>
            </a:pPr>
            <a:r>
              <a:rPr lang="en-US" b="true" sz="5400" spc="-108">
                <a:solidFill>
                  <a:srgbClr val="333333"/>
                </a:solidFill>
                <a:latin typeface="JASO Sans Bold"/>
                <a:ea typeface="JASO Sans Bold"/>
                <a:cs typeface="JASO Sans Bold"/>
                <a:sym typeface="JASO Sans Bold"/>
              </a:rPr>
              <a:t>계획 및 발전방향</a:t>
            </a:r>
          </a:p>
        </p:txBody>
      </p:sp>
      <p:sp>
        <p:nvSpPr>
          <p:cNvPr name="TextBox 12" id="12"/>
          <p:cNvSpPr txBox="true"/>
          <p:nvPr/>
        </p:nvSpPr>
        <p:spPr>
          <a:xfrm rot="0">
            <a:off x="6497376" y="1328115"/>
            <a:ext cx="4543751" cy="228644"/>
          </a:xfrm>
          <a:prstGeom prst="rect">
            <a:avLst/>
          </a:prstGeom>
        </p:spPr>
        <p:txBody>
          <a:bodyPr anchor="t" rtlCol="false" tIns="0" lIns="0" bIns="0" rIns="0">
            <a:spAutoFit/>
          </a:bodyPr>
          <a:lstStyle/>
          <a:p>
            <a:pPr algn="l">
              <a:lnSpc>
                <a:spcPts val="1800"/>
              </a:lnSpc>
            </a:pPr>
            <a:r>
              <a:rPr lang="en-US" sz="1500" spc="-30">
                <a:solidFill>
                  <a:srgbClr val="333333">
                    <a:alpha val="32941"/>
                  </a:srgbClr>
                </a:solidFill>
                <a:latin typeface="JASO Sans"/>
                <a:ea typeface="JASO Sans"/>
                <a:cs typeface="JASO Sans"/>
                <a:sym typeface="JASO Sans"/>
              </a:rPr>
              <a:t>메인타이틀에 대한 세부 설명을 입력해 주세요.</a:t>
            </a:r>
          </a:p>
        </p:txBody>
      </p:sp>
      <p:sp>
        <p:nvSpPr>
          <p:cNvPr name="TextBox 13" id="13"/>
          <p:cNvSpPr txBox="true"/>
          <p:nvPr/>
        </p:nvSpPr>
        <p:spPr>
          <a:xfrm rot="0">
            <a:off x="2541294" y="7038926"/>
            <a:ext cx="5649668" cy="485820"/>
          </a:xfrm>
          <a:prstGeom prst="rect">
            <a:avLst/>
          </a:prstGeom>
        </p:spPr>
        <p:txBody>
          <a:bodyPr anchor="t" rtlCol="false" tIns="0" lIns="0" bIns="0" rIns="0">
            <a:spAutoFit/>
          </a:bodyPr>
          <a:lstStyle/>
          <a:p>
            <a:pPr algn="ctr">
              <a:lnSpc>
                <a:spcPts val="4124"/>
              </a:lnSpc>
            </a:pPr>
            <a:r>
              <a:rPr lang="en-US" b="true" sz="2749" spc="-54">
                <a:solidFill>
                  <a:srgbClr val="333333"/>
                </a:solidFill>
                <a:latin typeface="JASO Sans Bold"/>
                <a:ea typeface="JASO Sans Bold"/>
                <a:cs typeface="JASO Sans Bold"/>
                <a:sym typeface="JASO Sans Bold"/>
              </a:rPr>
              <a:t>디지털 마케팅 전략</a:t>
            </a:r>
          </a:p>
        </p:txBody>
      </p:sp>
      <p:sp>
        <p:nvSpPr>
          <p:cNvPr name="TextBox 14" id="14"/>
          <p:cNvSpPr txBox="true"/>
          <p:nvPr/>
        </p:nvSpPr>
        <p:spPr>
          <a:xfrm rot="0">
            <a:off x="10097038" y="7038926"/>
            <a:ext cx="5649668" cy="485820"/>
          </a:xfrm>
          <a:prstGeom prst="rect">
            <a:avLst/>
          </a:prstGeom>
        </p:spPr>
        <p:txBody>
          <a:bodyPr anchor="t" rtlCol="false" tIns="0" lIns="0" bIns="0" rIns="0">
            <a:spAutoFit/>
          </a:bodyPr>
          <a:lstStyle/>
          <a:p>
            <a:pPr algn="ctr">
              <a:lnSpc>
                <a:spcPts val="4124"/>
              </a:lnSpc>
            </a:pPr>
            <a:r>
              <a:rPr lang="en-US" b="true" sz="2749" spc="-54">
                <a:solidFill>
                  <a:srgbClr val="333333"/>
                </a:solidFill>
                <a:latin typeface="JASO Sans Bold"/>
                <a:ea typeface="JASO Sans Bold"/>
                <a:cs typeface="JASO Sans Bold"/>
                <a:sym typeface="JASO Sans Bold"/>
              </a:rPr>
              <a:t>브랜드 인지도 확장</a:t>
            </a:r>
          </a:p>
        </p:txBody>
      </p:sp>
      <p:sp>
        <p:nvSpPr>
          <p:cNvPr name="TextBox 15" id="15"/>
          <p:cNvSpPr txBox="true"/>
          <p:nvPr/>
        </p:nvSpPr>
        <p:spPr>
          <a:xfrm rot="0">
            <a:off x="2177404" y="7704030"/>
            <a:ext cx="6404890" cy="1133475"/>
          </a:xfrm>
          <a:prstGeom prst="rect">
            <a:avLst/>
          </a:prstGeom>
        </p:spPr>
        <p:txBody>
          <a:bodyPr anchor="t" rtlCol="false" tIns="0" lIns="0" bIns="0" rIns="0">
            <a:spAutoFit/>
          </a:bodyPr>
          <a:lstStyle/>
          <a:p>
            <a:pPr algn="ctr" marL="0" indent="0" lvl="0">
              <a:lnSpc>
                <a:spcPts val="3000"/>
              </a:lnSpc>
              <a:spcBef>
                <a:spcPct val="0"/>
              </a:spcBef>
            </a:pPr>
            <a:r>
              <a:rPr lang="en-US" sz="2000" spc="-40" strike="noStrike" u="none">
                <a:solidFill>
                  <a:srgbClr val="333333">
                    <a:alpha val="69804"/>
                  </a:srgbClr>
                </a:solidFill>
                <a:latin typeface="JASO Sans"/>
                <a:ea typeface="JASO Sans"/>
                <a:cs typeface="JASO Sans"/>
                <a:sym typeface="JASO Sans"/>
              </a:rPr>
              <a:t>소셜 미디어 플랫폼을 활용하여 타겟 고객과의 상호작용을</a:t>
            </a:r>
          </a:p>
          <a:p>
            <a:pPr algn="ctr" marL="0" indent="0" lvl="0">
              <a:lnSpc>
                <a:spcPts val="3000"/>
              </a:lnSpc>
              <a:spcBef>
                <a:spcPct val="0"/>
              </a:spcBef>
            </a:pPr>
            <a:r>
              <a:rPr lang="en-US" sz="2000" spc="-40" strike="noStrike" u="none">
                <a:solidFill>
                  <a:srgbClr val="333333">
                    <a:alpha val="69804"/>
                  </a:srgbClr>
                </a:solidFill>
                <a:latin typeface="JASO Sans"/>
                <a:ea typeface="JASO Sans"/>
                <a:cs typeface="JASO Sans"/>
                <a:sym typeface="JASO Sans"/>
              </a:rPr>
              <a:t>강화합니다. 블로그나 라라나와 같은 콘텐츠 마케팅을 통해</a:t>
            </a:r>
          </a:p>
          <a:p>
            <a:pPr algn="ctr" marL="0" indent="0" lvl="0">
              <a:lnSpc>
                <a:spcPts val="3000"/>
              </a:lnSpc>
              <a:spcBef>
                <a:spcPct val="0"/>
              </a:spcBef>
            </a:pPr>
            <a:r>
              <a:rPr lang="en-US" sz="2000" spc="-40" strike="noStrike" u="none">
                <a:solidFill>
                  <a:srgbClr val="333333">
                    <a:alpha val="69804"/>
                  </a:srgbClr>
                </a:solidFill>
                <a:latin typeface="JASO Sans"/>
                <a:ea typeface="JASO Sans"/>
                <a:cs typeface="JASO Sans"/>
                <a:sym typeface="JASO Sans"/>
              </a:rPr>
              <a:t>고객의 신뢰를 쌓고 브랜드 충성도를 높입니다. </a:t>
            </a:r>
          </a:p>
        </p:txBody>
      </p:sp>
      <p:sp>
        <p:nvSpPr>
          <p:cNvPr name="TextBox 16" id="16"/>
          <p:cNvSpPr txBox="true"/>
          <p:nvPr/>
        </p:nvSpPr>
        <p:spPr>
          <a:xfrm rot="0">
            <a:off x="9746752" y="7704030"/>
            <a:ext cx="6377681" cy="1133475"/>
          </a:xfrm>
          <a:prstGeom prst="rect">
            <a:avLst/>
          </a:prstGeom>
        </p:spPr>
        <p:txBody>
          <a:bodyPr anchor="t" rtlCol="false" tIns="0" lIns="0" bIns="0" rIns="0">
            <a:spAutoFit/>
          </a:bodyPr>
          <a:lstStyle/>
          <a:p>
            <a:pPr algn="ctr" marL="0" indent="0" lvl="0">
              <a:lnSpc>
                <a:spcPts val="3000"/>
              </a:lnSpc>
              <a:spcBef>
                <a:spcPct val="0"/>
              </a:spcBef>
            </a:pPr>
            <a:r>
              <a:rPr lang="en-US" sz="2000" spc="-40" strike="noStrike" u="none">
                <a:solidFill>
                  <a:srgbClr val="333333">
                    <a:alpha val="69804"/>
                  </a:srgbClr>
                </a:solidFill>
                <a:latin typeface="JASO Sans"/>
                <a:ea typeface="JASO Sans"/>
                <a:cs typeface="JASO Sans"/>
                <a:sym typeface="JASO Sans"/>
              </a:rPr>
              <a:t>PR 활동을 통해 미디어 노출을 늘리고, 긍정적인 브랜드 이미지를 구축하는 것이 중요합니다. 고객의 신뢰를 높이고, 브랜드에 대한 인지도를 지속적으로 확장시킬 수 있습니다.</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1416"/>
            <a:chOff x="0" y="0"/>
            <a:chExt cx="3762963" cy="37328"/>
          </a:xfrm>
        </p:grpSpPr>
        <p:sp>
          <p:nvSpPr>
            <p:cNvPr name="Freeform 3" id="3"/>
            <p:cNvSpPr/>
            <p:nvPr/>
          </p:nvSpPr>
          <p:spPr>
            <a:xfrm flipH="false" flipV="false" rot="0">
              <a:off x="0" y="0"/>
              <a:ext cx="3762963" cy="37328"/>
            </a:xfrm>
            <a:custGeom>
              <a:avLst/>
              <a:gdLst/>
              <a:ahLst/>
              <a:cxnLst/>
              <a:rect r="r" b="b" t="t" l="l"/>
              <a:pathLst>
                <a:path h="37328" w="3762963">
                  <a:moveTo>
                    <a:pt x="0" y="0"/>
                  </a:moveTo>
                  <a:lnTo>
                    <a:pt x="3762963" y="0"/>
                  </a:lnTo>
                  <a:lnTo>
                    <a:pt x="3762963" y="37328"/>
                  </a:lnTo>
                  <a:lnTo>
                    <a:pt x="0" y="37328"/>
                  </a:lnTo>
                  <a:close/>
                </a:path>
              </a:pathLst>
            </a:custGeom>
            <a:solidFill>
              <a:srgbClr val="416F6C"/>
            </a:solidFill>
          </p:spPr>
        </p:sp>
        <p:sp>
          <p:nvSpPr>
            <p:cNvPr name="TextBox 4" id="4"/>
            <p:cNvSpPr txBox="true"/>
            <p:nvPr/>
          </p:nvSpPr>
          <p:spPr>
            <a:xfrm>
              <a:off x="0" y="-57150"/>
              <a:ext cx="3762963" cy="94478"/>
            </a:xfrm>
            <a:prstGeom prst="rect">
              <a:avLst/>
            </a:prstGeom>
          </p:spPr>
          <p:txBody>
            <a:bodyPr anchor="ctr" rtlCol="false" tIns="50800" lIns="50800" bIns="50800" rIns="50800"/>
            <a:lstStyle/>
            <a:p>
              <a:pPr algn="ctr">
                <a:lnSpc>
                  <a:spcPts val="2541"/>
                </a:lnSpc>
              </a:pPr>
            </a:p>
          </p:txBody>
        </p:sp>
      </p:grpSp>
      <p:sp>
        <p:nvSpPr>
          <p:cNvPr name="AutoShape 5" id="5"/>
          <p:cNvSpPr/>
          <p:nvPr/>
        </p:nvSpPr>
        <p:spPr>
          <a:xfrm>
            <a:off x="844732" y="2064885"/>
            <a:ext cx="16598535" cy="0"/>
          </a:xfrm>
          <a:prstGeom prst="line">
            <a:avLst/>
          </a:prstGeom>
          <a:ln cap="flat" w="9525">
            <a:solidFill>
              <a:srgbClr val="416F6C"/>
            </a:solidFill>
            <a:prstDash val="solid"/>
            <a:headEnd type="none" len="sm" w="sm"/>
            <a:tailEnd type="none" len="sm" w="sm"/>
          </a:ln>
        </p:spPr>
      </p:sp>
      <p:sp>
        <p:nvSpPr>
          <p:cNvPr name="Freeform 6" id="6"/>
          <p:cNvSpPr/>
          <p:nvPr/>
        </p:nvSpPr>
        <p:spPr>
          <a:xfrm flipH="false" flipV="false" rot="0">
            <a:off x="1028700" y="1059829"/>
            <a:ext cx="362690" cy="362690"/>
          </a:xfrm>
          <a:custGeom>
            <a:avLst/>
            <a:gdLst/>
            <a:ahLst/>
            <a:cxnLst/>
            <a:rect r="r" b="b" t="t" l="l"/>
            <a:pathLst>
              <a:path h="362690" w="362690">
                <a:moveTo>
                  <a:pt x="0" y="0"/>
                </a:moveTo>
                <a:lnTo>
                  <a:pt x="362690" y="0"/>
                </a:lnTo>
                <a:lnTo>
                  <a:pt x="362690" y="362690"/>
                </a:lnTo>
                <a:lnTo>
                  <a:pt x="0" y="362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601101" y="917525"/>
            <a:ext cx="9792550" cy="733022"/>
          </a:xfrm>
          <a:prstGeom prst="rect">
            <a:avLst/>
          </a:prstGeom>
        </p:spPr>
        <p:txBody>
          <a:bodyPr anchor="t" rtlCol="false" tIns="0" lIns="0" bIns="0" rIns="0">
            <a:spAutoFit/>
          </a:bodyPr>
          <a:lstStyle/>
          <a:p>
            <a:pPr algn="l" marL="0" indent="0" lvl="0">
              <a:lnSpc>
                <a:spcPts val="5508"/>
              </a:lnSpc>
            </a:pPr>
            <a:r>
              <a:rPr lang="en-US" b="true" sz="5400" spc="-108">
                <a:solidFill>
                  <a:srgbClr val="333333"/>
                </a:solidFill>
                <a:latin typeface="JASO Sans Bold"/>
                <a:ea typeface="JASO Sans Bold"/>
                <a:cs typeface="JASO Sans Bold"/>
                <a:sym typeface="JASO Sans Bold"/>
              </a:rPr>
              <a:t>묻고 답하기</a:t>
            </a:r>
          </a:p>
        </p:txBody>
      </p:sp>
      <p:sp>
        <p:nvSpPr>
          <p:cNvPr name="TextBox 8" id="8"/>
          <p:cNvSpPr txBox="true"/>
          <p:nvPr/>
        </p:nvSpPr>
        <p:spPr>
          <a:xfrm rot="0">
            <a:off x="5037588" y="1328115"/>
            <a:ext cx="4543751" cy="228644"/>
          </a:xfrm>
          <a:prstGeom prst="rect">
            <a:avLst/>
          </a:prstGeom>
        </p:spPr>
        <p:txBody>
          <a:bodyPr anchor="t" rtlCol="false" tIns="0" lIns="0" bIns="0" rIns="0">
            <a:spAutoFit/>
          </a:bodyPr>
          <a:lstStyle/>
          <a:p>
            <a:pPr algn="l">
              <a:lnSpc>
                <a:spcPts val="1800"/>
              </a:lnSpc>
            </a:pPr>
            <a:r>
              <a:rPr lang="en-US" sz="1500" spc="-30">
                <a:solidFill>
                  <a:srgbClr val="333333">
                    <a:alpha val="32941"/>
                  </a:srgbClr>
                </a:solidFill>
                <a:latin typeface="JASO Sans"/>
                <a:ea typeface="JASO Sans"/>
                <a:cs typeface="JASO Sans"/>
                <a:sym typeface="JASO Sans"/>
              </a:rPr>
              <a:t>메인타이틀에 대한 세부 설명을 입력해 주세요.</a:t>
            </a:r>
          </a:p>
        </p:txBody>
      </p:sp>
      <p:sp>
        <p:nvSpPr>
          <p:cNvPr name="TextBox 9" id="9"/>
          <p:cNvSpPr txBox="true"/>
          <p:nvPr/>
        </p:nvSpPr>
        <p:spPr>
          <a:xfrm rot="0">
            <a:off x="8794469" y="4434935"/>
            <a:ext cx="8464831" cy="1826526"/>
          </a:xfrm>
          <a:prstGeom prst="rect">
            <a:avLst/>
          </a:prstGeom>
        </p:spPr>
        <p:txBody>
          <a:bodyPr anchor="t" rtlCol="false" tIns="0" lIns="0" bIns="0" rIns="0">
            <a:spAutoFit/>
          </a:bodyPr>
          <a:lstStyle/>
          <a:p>
            <a:pPr algn="l" marL="0" indent="0" lvl="0">
              <a:lnSpc>
                <a:spcPts val="4868"/>
              </a:lnSpc>
            </a:pPr>
            <a:r>
              <a:rPr lang="en-US" sz="3990" spc="-79" strike="noStrike" u="none">
                <a:solidFill>
                  <a:srgbClr val="333333"/>
                </a:solidFill>
                <a:latin typeface="JASO Sans"/>
                <a:ea typeface="JASO Sans"/>
                <a:cs typeface="JASO Sans"/>
                <a:sym typeface="JASO Sans"/>
              </a:rPr>
              <a:t>프로젝트에 대해</a:t>
            </a:r>
          </a:p>
          <a:p>
            <a:pPr algn="l" marL="0" indent="0" lvl="0">
              <a:lnSpc>
                <a:spcPts val="4868"/>
              </a:lnSpc>
            </a:pPr>
            <a:r>
              <a:rPr lang="en-US" sz="3990" spc="-79" strike="noStrike" u="none">
                <a:solidFill>
                  <a:srgbClr val="333333"/>
                </a:solidFill>
                <a:latin typeface="JASO Sans"/>
                <a:ea typeface="JASO Sans"/>
                <a:cs typeface="JASO Sans"/>
                <a:sym typeface="JASO Sans"/>
              </a:rPr>
              <a:t>궁금하신 점이 있으신가요?</a:t>
            </a:r>
          </a:p>
          <a:p>
            <a:pPr algn="l" marL="0" indent="0" lvl="0">
              <a:lnSpc>
                <a:spcPts val="4868"/>
              </a:lnSpc>
            </a:pPr>
            <a:r>
              <a:rPr lang="en-US" b="true" sz="3990" spc="-79" strike="noStrike" u="none">
                <a:solidFill>
                  <a:srgbClr val="333333"/>
                </a:solidFill>
                <a:latin typeface="JASO Sans Bold"/>
                <a:ea typeface="JASO Sans Bold"/>
                <a:cs typeface="JASO Sans Bold"/>
                <a:sym typeface="JASO Sans Bold"/>
              </a:rPr>
              <a:t>자유롭게 질문해주세요.</a:t>
            </a:r>
          </a:p>
        </p:txBody>
      </p:sp>
      <p:sp>
        <p:nvSpPr>
          <p:cNvPr name="TextBox 10" id="10"/>
          <p:cNvSpPr txBox="true"/>
          <p:nvPr/>
        </p:nvSpPr>
        <p:spPr>
          <a:xfrm rot="0">
            <a:off x="8794469" y="6468819"/>
            <a:ext cx="6518168" cy="402285"/>
          </a:xfrm>
          <a:prstGeom prst="rect">
            <a:avLst/>
          </a:prstGeom>
        </p:spPr>
        <p:txBody>
          <a:bodyPr anchor="t" rtlCol="false" tIns="0" lIns="0" bIns="0" rIns="0">
            <a:spAutoFit/>
          </a:bodyPr>
          <a:lstStyle/>
          <a:p>
            <a:pPr algn="l">
              <a:lnSpc>
                <a:spcPts val="1041"/>
              </a:lnSpc>
            </a:pPr>
            <a:r>
              <a:rPr lang="en-US" sz="819" spc="13" b="true">
                <a:solidFill>
                  <a:srgbClr val="222222">
                    <a:alpha val="16863"/>
                  </a:srgbClr>
                </a:solidFill>
                <a:latin typeface="Poppins Medium"/>
                <a:ea typeface="Poppins Medium"/>
                <a:cs typeface="Poppins Medium"/>
                <a:sym typeface="Poppins Medium"/>
              </a:rPr>
              <a:t>Lorem ipsum dolor sit amet, consectetur adipiscing elit. Nullam vulputate, purus ut tempus fermentum,</a:t>
            </a:r>
          </a:p>
          <a:p>
            <a:pPr algn="l">
              <a:lnSpc>
                <a:spcPts val="1041"/>
              </a:lnSpc>
            </a:pPr>
            <a:r>
              <a:rPr lang="en-US" sz="819" spc="13" b="true">
                <a:solidFill>
                  <a:srgbClr val="222222">
                    <a:alpha val="16863"/>
                  </a:srgbClr>
                </a:solidFill>
                <a:latin typeface="Poppins Medium"/>
                <a:ea typeface="Poppins Medium"/>
                <a:cs typeface="Poppins Medium"/>
                <a:sym typeface="Poppins Medium"/>
              </a:rPr>
              <a:t> elit.consequat pretium. Nam vulputate nulla ac lacus ornare vulputate. Morbi ornare faucibus eros s</a:t>
            </a:r>
          </a:p>
          <a:p>
            <a:pPr algn="l">
              <a:lnSpc>
                <a:spcPts val="1041"/>
              </a:lnSpc>
            </a:pPr>
            <a:r>
              <a:rPr lang="en-US" sz="819" spc="13" b="true">
                <a:solidFill>
                  <a:srgbClr val="222222">
                    <a:alpha val="16863"/>
                  </a:srgbClr>
                </a:solidFill>
                <a:latin typeface="Poppins Medium"/>
                <a:ea typeface="Poppins Medium"/>
                <a:cs typeface="Poppins Medium"/>
                <a:sym typeface="Poppins Medium"/>
              </a:rPr>
              <a:t> Curabitur cursus molestie. Quisque nec ipsum purus. Duis et mi eros. </a:t>
            </a:r>
          </a:p>
        </p:txBody>
      </p:sp>
      <p:sp>
        <p:nvSpPr>
          <p:cNvPr name="Freeform 11" id="11"/>
          <p:cNvSpPr/>
          <p:nvPr/>
        </p:nvSpPr>
        <p:spPr>
          <a:xfrm flipH="false" flipV="false" rot="0">
            <a:off x="3352088" y="3946073"/>
            <a:ext cx="2483693" cy="2483693"/>
          </a:xfrm>
          <a:custGeom>
            <a:avLst/>
            <a:gdLst/>
            <a:ahLst/>
            <a:cxnLst/>
            <a:rect r="r" b="b" t="t" l="l"/>
            <a:pathLst>
              <a:path h="2483693" w="2483693">
                <a:moveTo>
                  <a:pt x="0" y="0"/>
                </a:moveTo>
                <a:lnTo>
                  <a:pt x="2483692" y="0"/>
                </a:lnTo>
                <a:lnTo>
                  <a:pt x="2483692" y="2483692"/>
                </a:lnTo>
                <a:lnTo>
                  <a:pt x="0" y="24836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2" id="12"/>
          <p:cNvSpPr/>
          <p:nvPr/>
        </p:nvSpPr>
        <p:spPr>
          <a:xfrm flipH="false" flipV="false" rot="0">
            <a:off x="5437863" y="5140992"/>
            <a:ext cx="2483693" cy="2483693"/>
          </a:xfrm>
          <a:custGeom>
            <a:avLst/>
            <a:gdLst/>
            <a:ahLst/>
            <a:cxnLst/>
            <a:rect r="r" b="b" t="t" l="l"/>
            <a:pathLst>
              <a:path h="2483693" w="2483693">
                <a:moveTo>
                  <a:pt x="0" y="0"/>
                </a:moveTo>
                <a:lnTo>
                  <a:pt x="2483693" y="0"/>
                </a:lnTo>
                <a:lnTo>
                  <a:pt x="2483693" y="2483693"/>
                </a:lnTo>
                <a:lnTo>
                  <a:pt x="0" y="24836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13" id="13"/>
          <p:cNvSpPr txBox="true"/>
          <p:nvPr/>
        </p:nvSpPr>
        <p:spPr>
          <a:xfrm rot="-18144">
            <a:off x="3889222" y="4617237"/>
            <a:ext cx="1409726" cy="1209249"/>
          </a:xfrm>
          <a:prstGeom prst="rect">
            <a:avLst/>
          </a:prstGeom>
        </p:spPr>
        <p:txBody>
          <a:bodyPr anchor="t" rtlCol="false" tIns="0" lIns="0" bIns="0" rIns="0">
            <a:spAutoFit/>
          </a:bodyPr>
          <a:lstStyle/>
          <a:p>
            <a:pPr algn="ctr" marL="0" indent="0" lvl="0">
              <a:lnSpc>
                <a:spcPts val="8510"/>
              </a:lnSpc>
            </a:pPr>
            <a:r>
              <a:rPr lang="en-US" b="true" sz="8343" spc="-258">
                <a:solidFill>
                  <a:srgbClr val="F5F5F5"/>
                </a:solidFill>
                <a:latin typeface="Poppins Semi-Bold"/>
                <a:ea typeface="Poppins Semi-Bold"/>
                <a:cs typeface="Poppins Semi-Bold"/>
                <a:sym typeface="Poppins Semi-Bold"/>
              </a:rPr>
              <a:t>Q</a:t>
            </a:r>
          </a:p>
        </p:txBody>
      </p:sp>
      <p:sp>
        <p:nvSpPr>
          <p:cNvPr name="TextBox 14" id="14"/>
          <p:cNvSpPr txBox="true"/>
          <p:nvPr/>
        </p:nvSpPr>
        <p:spPr>
          <a:xfrm rot="-18144">
            <a:off x="5974997" y="5844132"/>
            <a:ext cx="1409726" cy="1209249"/>
          </a:xfrm>
          <a:prstGeom prst="rect">
            <a:avLst/>
          </a:prstGeom>
        </p:spPr>
        <p:txBody>
          <a:bodyPr anchor="t" rtlCol="false" tIns="0" lIns="0" bIns="0" rIns="0">
            <a:spAutoFit/>
          </a:bodyPr>
          <a:lstStyle/>
          <a:p>
            <a:pPr algn="ctr" marL="0" indent="0" lvl="0">
              <a:lnSpc>
                <a:spcPts val="8510"/>
              </a:lnSpc>
            </a:pPr>
            <a:r>
              <a:rPr lang="en-US" b="true" sz="8343" spc="-258">
                <a:solidFill>
                  <a:srgbClr val="F5F5F5"/>
                </a:solidFill>
                <a:latin typeface="Poppins Semi-Bold"/>
                <a:ea typeface="Poppins Semi-Bold"/>
                <a:cs typeface="Poppins Semi-Bold"/>
                <a:sym typeface="Poppins Semi-Bold"/>
              </a:rPr>
              <a:t>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1416"/>
            <a:chOff x="0" y="0"/>
            <a:chExt cx="3762963" cy="37328"/>
          </a:xfrm>
        </p:grpSpPr>
        <p:sp>
          <p:nvSpPr>
            <p:cNvPr name="Freeform 3" id="3"/>
            <p:cNvSpPr/>
            <p:nvPr/>
          </p:nvSpPr>
          <p:spPr>
            <a:xfrm flipH="false" flipV="false" rot="0">
              <a:off x="0" y="0"/>
              <a:ext cx="3762963" cy="37328"/>
            </a:xfrm>
            <a:custGeom>
              <a:avLst/>
              <a:gdLst/>
              <a:ahLst/>
              <a:cxnLst/>
              <a:rect r="r" b="b" t="t" l="l"/>
              <a:pathLst>
                <a:path h="37328" w="3762963">
                  <a:moveTo>
                    <a:pt x="0" y="0"/>
                  </a:moveTo>
                  <a:lnTo>
                    <a:pt x="3762963" y="0"/>
                  </a:lnTo>
                  <a:lnTo>
                    <a:pt x="3762963" y="37328"/>
                  </a:lnTo>
                  <a:lnTo>
                    <a:pt x="0" y="37328"/>
                  </a:lnTo>
                  <a:close/>
                </a:path>
              </a:pathLst>
            </a:custGeom>
            <a:solidFill>
              <a:srgbClr val="416F6C"/>
            </a:solidFill>
          </p:spPr>
        </p:sp>
        <p:sp>
          <p:nvSpPr>
            <p:cNvPr name="TextBox 4" id="4"/>
            <p:cNvSpPr txBox="true"/>
            <p:nvPr/>
          </p:nvSpPr>
          <p:spPr>
            <a:xfrm>
              <a:off x="0" y="-57150"/>
              <a:ext cx="3762963" cy="94478"/>
            </a:xfrm>
            <a:prstGeom prst="rect">
              <a:avLst/>
            </a:prstGeom>
          </p:spPr>
          <p:txBody>
            <a:bodyPr anchor="ctr" rtlCol="false" tIns="50800" lIns="50800" bIns="50800" rIns="50800"/>
            <a:lstStyle/>
            <a:p>
              <a:pPr algn="ctr">
                <a:lnSpc>
                  <a:spcPts val="2541"/>
                </a:lnSpc>
              </a:pPr>
            </a:p>
          </p:txBody>
        </p:sp>
      </p:grpSp>
      <p:grpSp>
        <p:nvGrpSpPr>
          <p:cNvPr name="Group 5" id="5"/>
          <p:cNvGrpSpPr/>
          <p:nvPr/>
        </p:nvGrpSpPr>
        <p:grpSpPr>
          <a:xfrm rot="0">
            <a:off x="11666542" y="2601694"/>
            <a:ext cx="3416340" cy="3748537"/>
            <a:chOff x="0" y="0"/>
            <a:chExt cx="4555120" cy="4998050"/>
          </a:xfrm>
        </p:grpSpPr>
        <p:sp>
          <p:nvSpPr>
            <p:cNvPr name="Freeform 6" id="6"/>
            <p:cNvSpPr/>
            <p:nvPr/>
          </p:nvSpPr>
          <p:spPr>
            <a:xfrm flipH="false" flipV="false" rot="0">
              <a:off x="266489" y="0"/>
              <a:ext cx="4288631" cy="4998050"/>
            </a:xfrm>
            <a:custGeom>
              <a:avLst/>
              <a:gdLst/>
              <a:ahLst/>
              <a:cxnLst/>
              <a:rect r="r" b="b" t="t" l="l"/>
              <a:pathLst>
                <a:path h="4998050" w="4288631">
                  <a:moveTo>
                    <a:pt x="0" y="0"/>
                  </a:moveTo>
                  <a:lnTo>
                    <a:pt x="4288631" y="0"/>
                  </a:lnTo>
                  <a:lnTo>
                    <a:pt x="4288631" y="4998050"/>
                  </a:lnTo>
                  <a:lnTo>
                    <a:pt x="0" y="4998050"/>
                  </a:lnTo>
                  <a:lnTo>
                    <a:pt x="0" y="0"/>
                  </a:lnTo>
                  <a:close/>
                </a:path>
              </a:pathLst>
            </a:custGeom>
            <a:blipFill>
              <a:blip r:embed="rId2">
                <a:extLst>
                  <a:ext uri="{96DAC541-7B7A-43D3-8B79-37D633B846F1}">
                    <asvg:svgBlip xmlns:asvg="http://schemas.microsoft.com/office/drawing/2016/SVG/main" r:embed="rId3"/>
                  </a:ext>
                </a:extLst>
              </a:blip>
              <a:stretch>
                <a:fillRect l="0" t="0" r="-16967" b="0"/>
              </a:stretch>
            </a:blipFill>
          </p:spPr>
        </p:sp>
        <p:grpSp>
          <p:nvGrpSpPr>
            <p:cNvPr name="Group 7" id="7"/>
            <p:cNvGrpSpPr/>
            <p:nvPr/>
          </p:nvGrpSpPr>
          <p:grpSpPr>
            <a:xfrm rot="0">
              <a:off x="0" y="0"/>
              <a:ext cx="1072359" cy="3010627"/>
              <a:chOff x="0" y="0"/>
              <a:chExt cx="331205" cy="929850"/>
            </a:xfrm>
          </p:grpSpPr>
          <p:sp>
            <p:nvSpPr>
              <p:cNvPr name="Freeform 8" id="8"/>
              <p:cNvSpPr/>
              <p:nvPr/>
            </p:nvSpPr>
            <p:spPr>
              <a:xfrm flipH="false" flipV="false" rot="0">
                <a:off x="0" y="0"/>
                <a:ext cx="331205" cy="929850"/>
              </a:xfrm>
              <a:custGeom>
                <a:avLst/>
                <a:gdLst/>
                <a:ahLst/>
                <a:cxnLst/>
                <a:rect r="r" b="b" t="t" l="l"/>
                <a:pathLst>
                  <a:path h="929850" w="331205">
                    <a:moveTo>
                      <a:pt x="165602" y="0"/>
                    </a:moveTo>
                    <a:lnTo>
                      <a:pt x="165602" y="0"/>
                    </a:lnTo>
                    <a:cubicBezTo>
                      <a:pt x="257062" y="0"/>
                      <a:pt x="331205" y="74143"/>
                      <a:pt x="331205" y="165602"/>
                    </a:cubicBezTo>
                    <a:lnTo>
                      <a:pt x="331205" y="764247"/>
                    </a:lnTo>
                    <a:cubicBezTo>
                      <a:pt x="331205" y="808168"/>
                      <a:pt x="313757" y="850289"/>
                      <a:pt x="282701" y="881346"/>
                    </a:cubicBezTo>
                    <a:cubicBezTo>
                      <a:pt x="251644" y="912402"/>
                      <a:pt x="209523" y="929850"/>
                      <a:pt x="165602" y="929850"/>
                    </a:cubicBezTo>
                    <a:lnTo>
                      <a:pt x="165602" y="929850"/>
                    </a:lnTo>
                    <a:cubicBezTo>
                      <a:pt x="74143" y="929850"/>
                      <a:pt x="0" y="855707"/>
                      <a:pt x="0" y="764247"/>
                    </a:cubicBezTo>
                    <a:lnTo>
                      <a:pt x="0" y="165602"/>
                    </a:lnTo>
                    <a:cubicBezTo>
                      <a:pt x="0" y="121682"/>
                      <a:pt x="17447" y="79560"/>
                      <a:pt x="48504" y="48504"/>
                    </a:cubicBezTo>
                    <a:cubicBezTo>
                      <a:pt x="79560" y="17447"/>
                      <a:pt x="121682" y="0"/>
                      <a:pt x="165602" y="0"/>
                    </a:cubicBezTo>
                    <a:close/>
                  </a:path>
                </a:pathLst>
              </a:custGeom>
              <a:solidFill>
                <a:srgbClr val="FAFAFA"/>
              </a:solidFill>
            </p:spPr>
          </p:sp>
          <p:sp>
            <p:nvSpPr>
              <p:cNvPr name="TextBox 9" id="9"/>
              <p:cNvSpPr txBox="true"/>
              <p:nvPr/>
            </p:nvSpPr>
            <p:spPr>
              <a:xfrm>
                <a:off x="0" y="-57150"/>
                <a:ext cx="331205" cy="987000"/>
              </a:xfrm>
              <a:prstGeom prst="rect">
                <a:avLst/>
              </a:prstGeom>
            </p:spPr>
            <p:txBody>
              <a:bodyPr anchor="ctr" rtlCol="false" tIns="50800" lIns="50800" bIns="50800" rIns="50800"/>
              <a:lstStyle/>
              <a:p>
                <a:pPr algn="ctr">
                  <a:lnSpc>
                    <a:spcPts val="2541"/>
                  </a:lnSpc>
                </a:pPr>
              </a:p>
            </p:txBody>
          </p:sp>
        </p:grpSp>
        <p:grpSp>
          <p:nvGrpSpPr>
            <p:cNvPr name="Group 10" id="10"/>
            <p:cNvGrpSpPr/>
            <p:nvPr/>
          </p:nvGrpSpPr>
          <p:grpSpPr>
            <a:xfrm rot="0">
              <a:off x="2237726" y="4232518"/>
              <a:ext cx="1072359" cy="765532"/>
              <a:chOff x="0" y="0"/>
              <a:chExt cx="331205" cy="236439"/>
            </a:xfrm>
          </p:grpSpPr>
          <p:sp>
            <p:nvSpPr>
              <p:cNvPr name="Freeform 11" id="11"/>
              <p:cNvSpPr/>
              <p:nvPr/>
            </p:nvSpPr>
            <p:spPr>
              <a:xfrm flipH="false" flipV="false" rot="0">
                <a:off x="0" y="0"/>
                <a:ext cx="331205" cy="236439"/>
              </a:xfrm>
              <a:custGeom>
                <a:avLst/>
                <a:gdLst/>
                <a:ahLst/>
                <a:cxnLst/>
                <a:rect r="r" b="b" t="t" l="l"/>
                <a:pathLst>
                  <a:path h="236439" w="331205">
                    <a:moveTo>
                      <a:pt x="118220" y="0"/>
                    </a:moveTo>
                    <a:lnTo>
                      <a:pt x="212985" y="0"/>
                    </a:lnTo>
                    <a:cubicBezTo>
                      <a:pt x="244339" y="0"/>
                      <a:pt x="274408" y="12455"/>
                      <a:pt x="296579" y="34626"/>
                    </a:cubicBezTo>
                    <a:cubicBezTo>
                      <a:pt x="318749" y="56796"/>
                      <a:pt x="331205" y="86866"/>
                      <a:pt x="331205" y="118220"/>
                    </a:cubicBezTo>
                    <a:lnTo>
                      <a:pt x="331205" y="118220"/>
                    </a:lnTo>
                    <a:cubicBezTo>
                      <a:pt x="331205" y="149573"/>
                      <a:pt x="318749" y="179643"/>
                      <a:pt x="296579" y="201813"/>
                    </a:cubicBezTo>
                    <a:cubicBezTo>
                      <a:pt x="274408" y="223984"/>
                      <a:pt x="244339" y="236439"/>
                      <a:pt x="212985" y="236439"/>
                    </a:cubicBezTo>
                    <a:lnTo>
                      <a:pt x="118220" y="236439"/>
                    </a:lnTo>
                    <a:cubicBezTo>
                      <a:pt x="86866" y="236439"/>
                      <a:pt x="56796" y="223984"/>
                      <a:pt x="34626" y="201813"/>
                    </a:cubicBezTo>
                    <a:cubicBezTo>
                      <a:pt x="12455" y="179643"/>
                      <a:pt x="0" y="149573"/>
                      <a:pt x="0" y="118220"/>
                    </a:cubicBezTo>
                    <a:lnTo>
                      <a:pt x="0" y="118220"/>
                    </a:lnTo>
                    <a:cubicBezTo>
                      <a:pt x="0" y="86866"/>
                      <a:pt x="12455" y="56796"/>
                      <a:pt x="34626" y="34626"/>
                    </a:cubicBezTo>
                    <a:cubicBezTo>
                      <a:pt x="56796" y="12455"/>
                      <a:pt x="86866" y="0"/>
                      <a:pt x="118220" y="0"/>
                    </a:cubicBezTo>
                    <a:close/>
                  </a:path>
                </a:pathLst>
              </a:custGeom>
              <a:solidFill>
                <a:srgbClr val="FAFAFA"/>
              </a:solidFill>
            </p:spPr>
          </p:sp>
          <p:sp>
            <p:nvSpPr>
              <p:cNvPr name="TextBox 12" id="12"/>
              <p:cNvSpPr txBox="true"/>
              <p:nvPr/>
            </p:nvSpPr>
            <p:spPr>
              <a:xfrm>
                <a:off x="0" y="-57150"/>
                <a:ext cx="331205" cy="293589"/>
              </a:xfrm>
              <a:prstGeom prst="rect">
                <a:avLst/>
              </a:prstGeom>
            </p:spPr>
            <p:txBody>
              <a:bodyPr anchor="ctr" rtlCol="false" tIns="50800" lIns="50800" bIns="50800" rIns="50800"/>
              <a:lstStyle/>
              <a:p>
                <a:pPr algn="ctr">
                  <a:lnSpc>
                    <a:spcPts val="2541"/>
                  </a:lnSpc>
                </a:pPr>
              </a:p>
            </p:txBody>
          </p:sp>
        </p:grpSp>
      </p:grpSp>
      <p:grpSp>
        <p:nvGrpSpPr>
          <p:cNvPr name="Group 13" id="13"/>
          <p:cNvGrpSpPr/>
          <p:nvPr/>
        </p:nvGrpSpPr>
        <p:grpSpPr>
          <a:xfrm rot="0">
            <a:off x="12125320" y="2959578"/>
            <a:ext cx="410893" cy="41089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6200" cap="sq">
              <a:solidFill>
                <a:srgbClr val="000000">
                  <a:alpha val="21961"/>
                </a:srgbClr>
              </a:solidFill>
              <a:prstDash val="solid"/>
              <a:miter/>
            </a:ln>
          </p:spPr>
        </p:sp>
        <p:sp>
          <p:nvSpPr>
            <p:cNvPr name="TextBox 15" id="15"/>
            <p:cNvSpPr txBox="true"/>
            <p:nvPr/>
          </p:nvSpPr>
          <p:spPr>
            <a:xfrm>
              <a:off x="76200" y="19050"/>
              <a:ext cx="660400" cy="717550"/>
            </a:xfrm>
            <a:prstGeom prst="rect">
              <a:avLst/>
            </a:prstGeom>
          </p:spPr>
          <p:txBody>
            <a:bodyPr anchor="ctr" rtlCol="false" tIns="50800" lIns="50800" bIns="50800" rIns="50800"/>
            <a:lstStyle/>
            <a:p>
              <a:pPr algn="ctr" marL="0" indent="0" lvl="0">
                <a:lnSpc>
                  <a:spcPts val="2541"/>
                </a:lnSpc>
                <a:spcBef>
                  <a:spcPct val="0"/>
                </a:spcBef>
              </a:pPr>
            </a:p>
          </p:txBody>
        </p:sp>
      </p:grpSp>
      <p:grpSp>
        <p:nvGrpSpPr>
          <p:cNvPr name="Group 16" id="16"/>
          <p:cNvGrpSpPr/>
          <p:nvPr/>
        </p:nvGrpSpPr>
        <p:grpSpPr>
          <a:xfrm rot="0">
            <a:off x="15288328" y="5400726"/>
            <a:ext cx="410893" cy="410893"/>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6200" cap="sq">
              <a:solidFill>
                <a:srgbClr val="000000">
                  <a:alpha val="21961"/>
                </a:srgbClr>
              </a:solidFill>
              <a:prstDash val="solid"/>
              <a:miter/>
            </a:ln>
          </p:spPr>
        </p:sp>
        <p:sp>
          <p:nvSpPr>
            <p:cNvPr name="TextBox 18" id="18"/>
            <p:cNvSpPr txBox="true"/>
            <p:nvPr/>
          </p:nvSpPr>
          <p:spPr>
            <a:xfrm>
              <a:off x="76200" y="19050"/>
              <a:ext cx="660400" cy="717550"/>
            </a:xfrm>
            <a:prstGeom prst="rect">
              <a:avLst/>
            </a:prstGeom>
          </p:spPr>
          <p:txBody>
            <a:bodyPr anchor="ctr" rtlCol="false" tIns="50800" lIns="50800" bIns="50800" rIns="50800"/>
            <a:lstStyle/>
            <a:p>
              <a:pPr algn="ctr">
                <a:lnSpc>
                  <a:spcPts val="2541"/>
                </a:lnSpc>
              </a:pPr>
            </a:p>
          </p:txBody>
        </p:sp>
      </p:grpSp>
      <p:sp>
        <p:nvSpPr>
          <p:cNvPr name="Freeform 19" id="19"/>
          <p:cNvSpPr/>
          <p:nvPr/>
        </p:nvSpPr>
        <p:spPr>
          <a:xfrm flipH="false" flipV="false" rot="0">
            <a:off x="15288328" y="2959578"/>
            <a:ext cx="410893" cy="410893"/>
          </a:xfrm>
          <a:custGeom>
            <a:avLst/>
            <a:gdLst/>
            <a:ahLst/>
            <a:cxnLst/>
            <a:rect r="r" b="b" t="t" l="l"/>
            <a:pathLst>
              <a:path h="410893" w="410893">
                <a:moveTo>
                  <a:pt x="0" y="0"/>
                </a:moveTo>
                <a:lnTo>
                  <a:pt x="410892" y="0"/>
                </a:lnTo>
                <a:lnTo>
                  <a:pt x="410892" y="410892"/>
                </a:lnTo>
                <a:lnTo>
                  <a:pt x="0" y="4108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14458402" y="5939339"/>
            <a:ext cx="410893" cy="410893"/>
          </a:xfrm>
          <a:custGeom>
            <a:avLst/>
            <a:gdLst/>
            <a:ahLst/>
            <a:cxnLst/>
            <a:rect r="r" b="b" t="t" l="l"/>
            <a:pathLst>
              <a:path h="410893" w="410893">
                <a:moveTo>
                  <a:pt x="0" y="0"/>
                </a:moveTo>
                <a:lnTo>
                  <a:pt x="410893" y="0"/>
                </a:lnTo>
                <a:lnTo>
                  <a:pt x="410893" y="410893"/>
                </a:lnTo>
                <a:lnTo>
                  <a:pt x="0" y="4108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1461095" y="4330118"/>
            <a:ext cx="410893" cy="410893"/>
          </a:xfrm>
          <a:custGeom>
            <a:avLst/>
            <a:gdLst/>
            <a:ahLst/>
            <a:cxnLst/>
            <a:rect r="r" b="b" t="t" l="l"/>
            <a:pathLst>
              <a:path h="410893" w="410893">
                <a:moveTo>
                  <a:pt x="0" y="0"/>
                </a:moveTo>
                <a:lnTo>
                  <a:pt x="410893" y="0"/>
                </a:lnTo>
                <a:lnTo>
                  <a:pt x="410893" y="410892"/>
                </a:lnTo>
                <a:lnTo>
                  <a:pt x="0" y="4108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2607656" y="2580742"/>
            <a:ext cx="7832871" cy="1364402"/>
          </a:xfrm>
          <a:prstGeom prst="rect">
            <a:avLst/>
          </a:prstGeom>
        </p:spPr>
        <p:txBody>
          <a:bodyPr anchor="t" rtlCol="false" tIns="0" lIns="0" bIns="0" rIns="0">
            <a:spAutoFit/>
          </a:bodyPr>
          <a:lstStyle/>
          <a:p>
            <a:pPr algn="l" marL="0" indent="0" lvl="0">
              <a:lnSpc>
                <a:spcPts val="10314"/>
              </a:lnSpc>
            </a:pPr>
            <a:r>
              <a:rPr lang="en-US" b="true" sz="10112" spc="-202">
                <a:solidFill>
                  <a:srgbClr val="333333"/>
                </a:solidFill>
                <a:latin typeface="JASO Sans Bold"/>
                <a:ea typeface="JASO Sans Bold"/>
                <a:cs typeface="JASO Sans Bold"/>
                <a:sym typeface="JASO Sans Bold"/>
              </a:rPr>
              <a:t>경청해주셔서</a:t>
            </a:r>
          </a:p>
        </p:txBody>
      </p:sp>
      <p:sp>
        <p:nvSpPr>
          <p:cNvPr name="TextBox 23" id="23"/>
          <p:cNvSpPr txBox="true"/>
          <p:nvPr/>
        </p:nvSpPr>
        <p:spPr>
          <a:xfrm rot="0">
            <a:off x="2607656" y="3979603"/>
            <a:ext cx="8553655" cy="1364402"/>
          </a:xfrm>
          <a:prstGeom prst="rect">
            <a:avLst/>
          </a:prstGeom>
        </p:spPr>
        <p:txBody>
          <a:bodyPr anchor="t" rtlCol="false" tIns="0" lIns="0" bIns="0" rIns="0">
            <a:spAutoFit/>
          </a:bodyPr>
          <a:lstStyle/>
          <a:p>
            <a:pPr algn="l" marL="0" indent="0" lvl="0">
              <a:lnSpc>
                <a:spcPts val="10314"/>
              </a:lnSpc>
            </a:pPr>
            <a:r>
              <a:rPr lang="en-US" b="true" sz="10112" spc="-202">
                <a:solidFill>
                  <a:srgbClr val="416F6C"/>
                </a:solidFill>
                <a:latin typeface="JASO Sans Bold"/>
                <a:ea typeface="JASO Sans Bold"/>
                <a:cs typeface="JASO Sans Bold"/>
                <a:sym typeface="JASO Sans Bold"/>
              </a:rPr>
              <a:t>감사합니다.</a:t>
            </a:r>
          </a:p>
        </p:txBody>
      </p:sp>
      <p:sp>
        <p:nvSpPr>
          <p:cNvPr name="TextBox 24" id="24"/>
          <p:cNvSpPr txBox="true"/>
          <p:nvPr/>
        </p:nvSpPr>
        <p:spPr>
          <a:xfrm rot="0">
            <a:off x="2607656" y="6050026"/>
            <a:ext cx="7957893" cy="300206"/>
          </a:xfrm>
          <a:prstGeom prst="rect">
            <a:avLst/>
          </a:prstGeom>
        </p:spPr>
        <p:txBody>
          <a:bodyPr anchor="t" rtlCol="false" tIns="0" lIns="0" bIns="0" rIns="0">
            <a:spAutoFit/>
          </a:bodyPr>
          <a:lstStyle/>
          <a:p>
            <a:pPr algn="l">
              <a:lnSpc>
                <a:spcPts val="2541"/>
              </a:lnSpc>
            </a:pPr>
            <a:r>
              <a:rPr lang="en-US" sz="1650" spc="-16">
                <a:solidFill>
                  <a:srgbClr val="333333">
                    <a:alpha val="45882"/>
                  </a:srgbClr>
                </a:solidFill>
                <a:latin typeface="JASO Sans"/>
                <a:ea typeface="JASO Sans"/>
                <a:cs typeface="JASO Sans"/>
                <a:sym typeface="JASO Sans"/>
              </a:rPr>
              <a:t>본</a:t>
            </a:r>
            <a:r>
              <a:rPr lang="en-US" sz="1650" spc="-16">
                <a:solidFill>
                  <a:srgbClr val="333333">
                    <a:alpha val="45882"/>
                  </a:srgbClr>
                </a:solidFill>
                <a:latin typeface="JASO Sans"/>
                <a:ea typeface="JASO Sans"/>
                <a:cs typeface="JASO Sans"/>
                <a:sym typeface="JASO Sans"/>
              </a:rPr>
              <a:t> 프로젝트에 문의하실 점이 있으시면 언제든 연락 부탁드립니다. </a:t>
            </a:r>
          </a:p>
        </p:txBody>
      </p:sp>
      <p:sp>
        <p:nvSpPr>
          <p:cNvPr name="TextBox 25" id="25"/>
          <p:cNvSpPr txBox="true"/>
          <p:nvPr/>
        </p:nvSpPr>
        <p:spPr>
          <a:xfrm rot="0">
            <a:off x="2607656" y="5548757"/>
            <a:ext cx="7287980" cy="377444"/>
          </a:xfrm>
          <a:prstGeom prst="rect">
            <a:avLst/>
          </a:prstGeom>
        </p:spPr>
        <p:txBody>
          <a:bodyPr anchor="t" rtlCol="false" tIns="0" lIns="0" bIns="0" rIns="0">
            <a:spAutoFit/>
          </a:bodyPr>
          <a:lstStyle/>
          <a:p>
            <a:pPr algn="l">
              <a:lnSpc>
                <a:spcPts val="3012"/>
              </a:lnSpc>
            </a:pPr>
            <a:r>
              <a:rPr lang="en-US" b="true" sz="2299" spc="-94">
                <a:solidFill>
                  <a:srgbClr val="333333">
                    <a:alpha val="93725"/>
                  </a:srgbClr>
                </a:solidFill>
                <a:latin typeface="JASO Sans Bold"/>
                <a:ea typeface="JASO Sans Bold"/>
                <a:cs typeface="JASO Sans Bold"/>
                <a:sym typeface="JASO Sans Bold"/>
              </a:rPr>
              <a:t>쉽게 따라 할 수 있는 다양한 레이아웃 가이드</a:t>
            </a:r>
          </a:p>
        </p:txBody>
      </p:sp>
      <p:sp>
        <p:nvSpPr>
          <p:cNvPr name="Freeform 26" id="26"/>
          <p:cNvSpPr/>
          <p:nvPr/>
        </p:nvSpPr>
        <p:spPr>
          <a:xfrm flipH="false" flipV="false" rot="-10800000">
            <a:off x="1186691" y="8788472"/>
            <a:ext cx="501641" cy="137723"/>
          </a:xfrm>
          <a:custGeom>
            <a:avLst/>
            <a:gdLst/>
            <a:ahLst/>
            <a:cxnLst/>
            <a:rect r="r" b="b" t="t" l="l"/>
            <a:pathLst>
              <a:path h="137723" w="501641">
                <a:moveTo>
                  <a:pt x="0" y="0"/>
                </a:moveTo>
                <a:lnTo>
                  <a:pt x="501641" y="0"/>
                </a:lnTo>
                <a:lnTo>
                  <a:pt x="501641" y="137724"/>
                </a:lnTo>
                <a:lnTo>
                  <a:pt x="0" y="1377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822526" y="8740045"/>
            <a:ext cx="5905755" cy="293575"/>
          </a:xfrm>
          <a:prstGeom prst="rect">
            <a:avLst/>
          </a:prstGeom>
        </p:spPr>
        <p:txBody>
          <a:bodyPr anchor="t" rtlCol="false" tIns="0" lIns="0" bIns="0" rIns="0">
            <a:spAutoFit/>
          </a:bodyPr>
          <a:lstStyle/>
          <a:p>
            <a:pPr algn="l">
              <a:lnSpc>
                <a:spcPts val="1989"/>
              </a:lnSpc>
            </a:pPr>
            <a:r>
              <a:rPr lang="en-US" sz="2397" b="true">
                <a:solidFill>
                  <a:srgbClr val="333333"/>
                </a:solidFill>
                <a:latin typeface="Poppins Bold"/>
                <a:ea typeface="Poppins Bold"/>
                <a:cs typeface="Poppins Bold"/>
                <a:sym typeface="Poppins Bold"/>
              </a:rPr>
              <a:t>Growth Roadmap</a:t>
            </a:r>
          </a:p>
        </p:txBody>
      </p:sp>
      <p:sp>
        <p:nvSpPr>
          <p:cNvPr name="TextBox 28" id="28"/>
          <p:cNvSpPr txBox="true"/>
          <p:nvPr/>
        </p:nvSpPr>
        <p:spPr>
          <a:xfrm rot="0">
            <a:off x="1186691" y="9165860"/>
            <a:ext cx="6443831" cy="336822"/>
          </a:xfrm>
          <a:prstGeom prst="rect">
            <a:avLst/>
          </a:prstGeom>
        </p:spPr>
        <p:txBody>
          <a:bodyPr anchor="t" rtlCol="false" tIns="0" lIns="0" bIns="0" rIns="0">
            <a:spAutoFit/>
          </a:bodyPr>
          <a:lstStyle/>
          <a:p>
            <a:pPr algn="l">
              <a:lnSpc>
                <a:spcPts val="1382"/>
              </a:lnSpc>
            </a:pPr>
            <a:r>
              <a:rPr lang="en-US" b="true" sz="987" spc="16">
                <a:solidFill>
                  <a:srgbClr val="333333">
                    <a:alpha val="30980"/>
                  </a:srgbClr>
                </a:solidFill>
                <a:latin typeface="Poppins Medium"/>
                <a:ea typeface="Poppins Medium"/>
                <a:cs typeface="Poppins Medium"/>
                <a:sym typeface="Poppins Medium"/>
              </a:rPr>
              <a:t>This report focuses on defining growth directions for ongoing projects and outlining actionable strategies to drive sustainable expansion in the coming phase.</a:t>
            </a:r>
          </a:p>
        </p:txBody>
      </p:sp>
      <p:sp>
        <p:nvSpPr>
          <p:cNvPr name="AutoShape 29" id="29"/>
          <p:cNvSpPr/>
          <p:nvPr/>
        </p:nvSpPr>
        <p:spPr>
          <a:xfrm>
            <a:off x="1177166" y="8332762"/>
            <a:ext cx="15933668" cy="0"/>
          </a:xfrm>
          <a:prstGeom prst="line">
            <a:avLst/>
          </a:prstGeom>
          <a:ln cap="flat" w="9525">
            <a:solidFill>
              <a:srgbClr val="416F6C"/>
            </a:solidFill>
            <a:prstDash val="solid"/>
            <a:headEnd type="none" len="sm" w="sm"/>
            <a:tailEnd type="none" len="sm" w="sm"/>
          </a:ln>
        </p:spPr>
      </p:sp>
      <p:sp>
        <p:nvSpPr>
          <p:cNvPr name="AutoShape 30" id="30"/>
          <p:cNvSpPr/>
          <p:nvPr/>
        </p:nvSpPr>
        <p:spPr>
          <a:xfrm flipV="true">
            <a:off x="13618289" y="8332762"/>
            <a:ext cx="0" cy="1151621"/>
          </a:xfrm>
          <a:prstGeom prst="line">
            <a:avLst/>
          </a:prstGeom>
          <a:ln cap="flat" w="9525">
            <a:solidFill>
              <a:srgbClr val="416F6C"/>
            </a:solidFill>
            <a:prstDash val="solid"/>
            <a:headEnd type="none" len="sm" w="sm"/>
            <a:tailEnd type="none" len="sm" w="sm"/>
          </a:ln>
        </p:spPr>
      </p:sp>
      <p:sp>
        <p:nvSpPr>
          <p:cNvPr name="TextBox 31" id="31"/>
          <p:cNvSpPr txBox="true"/>
          <p:nvPr/>
        </p:nvSpPr>
        <p:spPr>
          <a:xfrm rot="0">
            <a:off x="15067508" y="8896667"/>
            <a:ext cx="2043327" cy="244885"/>
          </a:xfrm>
          <a:prstGeom prst="rect">
            <a:avLst/>
          </a:prstGeom>
        </p:spPr>
        <p:txBody>
          <a:bodyPr anchor="t" rtlCol="false" tIns="0" lIns="0" bIns="0" rIns="0">
            <a:spAutoFit/>
          </a:bodyPr>
          <a:lstStyle/>
          <a:p>
            <a:pPr algn="r">
              <a:lnSpc>
                <a:spcPts val="2047"/>
              </a:lnSpc>
            </a:pPr>
            <a:r>
              <a:rPr lang="en-US" sz="1563" spc="-31">
                <a:solidFill>
                  <a:srgbClr val="333333"/>
                </a:solidFill>
                <a:latin typeface="JASO Sans"/>
                <a:ea typeface="JASO Sans"/>
                <a:cs typeface="JASO Sans"/>
                <a:sym typeface="JASO Sans"/>
              </a:rPr>
              <a:t>라라나 마케팅 1팀 이수진</a:t>
            </a:r>
          </a:p>
        </p:txBody>
      </p:sp>
      <p:sp>
        <p:nvSpPr>
          <p:cNvPr name="TextBox 32" id="32"/>
          <p:cNvSpPr txBox="true"/>
          <p:nvPr/>
        </p:nvSpPr>
        <p:spPr>
          <a:xfrm rot="0">
            <a:off x="14750595" y="9283542"/>
            <a:ext cx="2360239" cy="180086"/>
          </a:xfrm>
          <a:prstGeom prst="rect">
            <a:avLst/>
          </a:prstGeom>
        </p:spPr>
        <p:txBody>
          <a:bodyPr anchor="t" rtlCol="false" tIns="0" lIns="0" bIns="0" rIns="0">
            <a:spAutoFit/>
          </a:bodyPr>
          <a:lstStyle/>
          <a:p>
            <a:pPr algn="r">
              <a:lnSpc>
                <a:spcPts val="1162"/>
              </a:lnSpc>
            </a:pPr>
            <a:r>
              <a:rPr lang="en-US" sz="1400" spc="23">
                <a:solidFill>
                  <a:srgbClr val="416F6C"/>
                </a:solidFill>
                <a:latin typeface="Poppins"/>
                <a:ea typeface="Poppins"/>
                <a:cs typeface="Poppins"/>
                <a:sym typeface="Poppins"/>
              </a:rPr>
              <a:t>www.reallygreatsite.com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DAHCfrf1I-k</dc:identifier>
  <dcterms:modified xsi:type="dcterms:W3CDTF">2011-08-01T06:04:30Z</dcterms:modified>
  <cp:revision>1</cp:revision>
  <dc:title>파란색과 회색 심플한 웹 기획자 포트폴리오 이력서 자기소개 프레젠테이션</dc:title>
</cp:coreProperties>
</file>